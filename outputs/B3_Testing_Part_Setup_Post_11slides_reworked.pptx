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emf" ContentType="image/x-em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56f0b79fcb42ad" /><Relationship Type="http://schemas.openxmlformats.org/officeDocument/2006/relationships/extended-properties" Target="/docProps/app.xml" Id="Rc12d95e798dd4092" /><Relationship Type="http://schemas.openxmlformats.org/officeDocument/2006/relationships/officeDocument" Target="/ppt/presentation.xml" Id="Rd9e5380ff60d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0101d55e44404c"/>
  </p:sldMasterIdLst>
  <p:notesMasterIdLst>
    <p:notesMasterId xmlns:r="http://schemas.openxmlformats.org/officeDocument/2006/relationships" r:id="Rd9108e23aee14fe8"/>
  </p:notesMasterIdLst>
  <p:sldIdLst>
    <p:sldId xmlns:r="http://schemas.openxmlformats.org/officeDocument/2006/relationships" id="256" r:id="R2653f824956a49fd"/>
    <p:sldId xmlns:r="http://schemas.openxmlformats.org/officeDocument/2006/relationships" id="257" r:id="R26f93a83e20d4b0d"/>
    <p:sldId xmlns:r="http://schemas.openxmlformats.org/officeDocument/2006/relationships" id="258" r:id="R5a0f4cc9faa64f58"/>
    <p:sldId xmlns:r="http://schemas.openxmlformats.org/officeDocument/2006/relationships" id="259" r:id="R666de617684740f5"/>
    <p:sldId xmlns:r="http://schemas.openxmlformats.org/officeDocument/2006/relationships" id="260" r:id="Ree8fd9985cf34e8c"/>
    <p:sldId xmlns:r="http://schemas.openxmlformats.org/officeDocument/2006/relationships" id="261" r:id="Re903684a1b114669"/>
    <p:sldId xmlns:r="http://schemas.openxmlformats.org/officeDocument/2006/relationships" id="262" r:id="Rae72826b7b024490"/>
    <p:sldId xmlns:r="http://schemas.openxmlformats.org/officeDocument/2006/relationships" id="263" r:id="Rb6d0dd795d8b4268"/>
    <p:sldId xmlns:r="http://schemas.openxmlformats.org/officeDocument/2006/relationships" id="264" r:id="R35205c2f423b4359"/>
    <p:sldId xmlns:r="http://schemas.openxmlformats.org/officeDocument/2006/relationships" id="265" r:id="R7724ddc62f78432f"/>
    <p:sldId xmlns:r="http://schemas.openxmlformats.org/officeDocument/2006/relationships" id="266" r:id="Rdf24fcff8d8746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54c329b11d4c50" /><Relationship Type="http://schemas.openxmlformats.org/officeDocument/2006/relationships/slideMaster" Target="/ppt/slideMasters/slideMaster1.xml" Id="R040101d55e44404c" /><Relationship Type="http://schemas.openxmlformats.org/officeDocument/2006/relationships/notesMaster" Target="/ppt/notesMasters/notesMaster1.xml" Id="Rd9108e23aee14fe8" /><Relationship Type="http://schemas.openxmlformats.org/officeDocument/2006/relationships/presProps" Target="/ppt/presProps.xml" Id="R87a4722ada294023" /><Relationship Type="http://schemas.openxmlformats.org/officeDocument/2006/relationships/tableStyles" Target="/ppt/tableStyles.xml" Id="R92234be29b324512" /><Relationship Type="http://schemas.openxmlformats.org/officeDocument/2006/relationships/slide" Target="/ppt/slides/slide1.xml" Id="R2653f824956a49fd" /><Relationship Type="http://schemas.openxmlformats.org/officeDocument/2006/relationships/slide" Target="/ppt/slides/slide2.xml" Id="R26f93a83e20d4b0d" /><Relationship Type="http://schemas.openxmlformats.org/officeDocument/2006/relationships/slide" Target="/ppt/slides/slide3.xml" Id="R5a0f4cc9faa64f58" /><Relationship Type="http://schemas.openxmlformats.org/officeDocument/2006/relationships/slide" Target="/ppt/slides/slide4.xml" Id="R666de617684740f5" /><Relationship Type="http://schemas.openxmlformats.org/officeDocument/2006/relationships/slide" Target="/ppt/slides/slide5.xml" Id="Ree8fd9985cf34e8c" /><Relationship Type="http://schemas.openxmlformats.org/officeDocument/2006/relationships/slide" Target="/ppt/slides/slide6.xml" Id="Re903684a1b114669" /><Relationship Type="http://schemas.openxmlformats.org/officeDocument/2006/relationships/slide" Target="/ppt/slides/slide7.xml" Id="Rae72826b7b024490" /><Relationship Type="http://schemas.openxmlformats.org/officeDocument/2006/relationships/slide" Target="/ppt/slides/slide8.xml" Id="Rb6d0dd795d8b4268" /><Relationship Type="http://schemas.openxmlformats.org/officeDocument/2006/relationships/slide" Target="/ppt/slides/slide9.xml" Id="R35205c2f423b4359" /><Relationship Type="http://schemas.openxmlformats.org/officeDocument/2006/relationships/slide" Target="/ppt/slides/slide10.xml" Id="R7724ddc62f78432f" /><Relationship Type="http://schemas.openxmlformats.org/officeDocument/2006/relationships/slide" Target="/ppt/slides/slide11.xml" Id="Rdf24fcff8d8746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6a9b52ced946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511e3dfd404d4b" /><Relationship Type="http://schemas.openxmlformats.org/officeDocument/2006/relationships/notesMaster" Target="/ppt/notesMasters/notesMaster1.xml" Id="R77b130bdf1b046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705bfcb5e9402e" /><Relationship Type="http://schemas.openxmlformats.org/officeDocument/2006/relationships/notesMaster" Target="/ppt/notesMasters/notesMaster1.xml" Id="Ra6eee21c673f45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7c29cf403848a5" /><Relationship Type="http://schemas.openxmlformats.org/officeDocument/2006/relationships/notesMaster" Target="/ppt/notesMasters/notesMaster1.xml" Id="Rc4563e92847842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c2ea3675fd45df" /><Relationship Type="http://schemas.openxmlformats.org/officeDocument/2006/relationships/notesMaster" Target="/ppt/notesMasters/notesMaster1.xml" Id="R0067578a327745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abf25ad09b48ff" /><Relationship Type="http://schemas.openxmlformats.org/officeDocument/2006/relationships/notesMaster" Target="/ppt/notesMasters/notesMaster1.xml" Id="R77353d1f74c34c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8ead63207846ee" /><Relationship Type="http://schemas.openxmlformats.org/officeDocument/2006/relationships/notesMaster" Target="/ppt/notesMasters/notesMaster1.xml" Id="R5071b3ef91804a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1bf49734224fb8" /><Relationship Type="http://schemas.openxmlformats.org/officeDocument/2006/relationships/notesMaster" Target="/ppt/notesMasters/notesMaster1.xml" Id="Rc7ad97a9972d4e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3bbad7962d4c13" /><Relationship Type="http://schemas.openxmlformats.org/officeDocument/2006/relationships/notesMaster" Target="/ppt/notesMasters/notesMaster1.xml" Id="R0eb971558b9844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44887e4b9549e3" /><Relationship Type="http://schemas.openxmlformats.org/officeDocument/2006/relationships/notesMaster" Target="/ppt/notesMasters/notesMaster1.xml" Id="Rf283d64169bf44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c20af78e9c487b" /><Relationship Type="http://schemas.openxmlformats.org/officeDocument/2006/relationships/notesMaster" Target="/ppt/notesMasters/notesMaster1.xml" Id="Rf0366093bac64e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15b43371b04524" /><Relationship Type="http://schemas.openxmlformats.org/officeDocument/2006/relationships/notesMaster" Target="/ppt/notesMasters/notesMaster1.xml" Id="R5ff6b065dd4a43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ad600359c490a" /><Relationship Type="http://schemas.openxmlformats.org/officeDocument/2006/relationships/image" Target="/ppt/media/image.jpeg" Id="R81834407c42041ec" /><Relationship Type="http://schemas.openxmlformats.org/officeDocument/2006/relationships/image" Target="/ppt/media/image.emf" Id="R6b6a0a532c3441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1a2edab464a73" /><Relationship Type="http://schemas.openxmlformats.org/officeDocument/2006/relationships/image" Target="/ppt/media/image.emf" Id="Rafd91f0184324323" /><Relationship Type="http://schemas.openxmlformats.org/officeDocument/2006/relationships/image" Target="/ppt/media/image.png" Id="Rdd028863cfa14e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152562de44794" /><Relationship Type="http://schemas.openxmlformats.org/officeDocument/2006/relationships/image" Target="/ppt/media/image.jpeg" Id="R56e53c166179433e" /><Relationship Type="http://schemas.openxmlformats.org/officeDocument/2006/relationships/image" Target="/ppt/media/image.emf" Id="Rab8b7f727139459a" /><Relationship Type="http://schemas.openxmlformats.org/officeDocument/2006/relationships/image" Target="/ppt/media/image.png" Id="R266b47bc15654c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ea99009ff4293" /><Relationship Type="http://schemas.openxmlformats.org/officeDocument/2006/relationships/image" Target="/ppt/media/image.png" Id="R47fa5e8fec984362" /><Relationship Type="http://schemas.openxmlformats.org/officeDocument/2006/relationships/image" Target="/ppt/media/image.emf" Id="R0aa636bbbb1b4c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bbc1181bc45d7" /><Relationship Type="http://schemas.openxmlformats.org/officeDocument/2006/relationships/image" Target="/ppt/media/image2.png" Id="R7c04601fed97456f" /><Relationship Type="http://schemas.openxmlformats.org/officeDocument/2006/relationships/image" Target="/ppt/media/image.png" Id="R11f1b99edb594555" /><Relationship Type="http://schemas.openxmlformats.org/officeDocument/2006/relationships/image" Target="/ppt/media/image.emf" Id="R636be396ff174a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f031b71534a5a" /><Relationship Type="http://schemas.openxmlformats.org/officeDocument/2006/relationships/image" Target="/ppt/media/image2.png" Id="R107d84d89db945e0" /><Relationship Type="http://schemas.openxmlformats.org/officeDocument/2006/relationships/image" Target="/ppt/media/image.png" Id="R06b1910cd46d496e" /><Relationship Type="http://schemas.openxmlformats.org/officeDocument/2006/relationships/image" Target="/ppt/media/image.emf" Id="R35b5d613112f43c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2f6a2d1484d0a" /><Relationship Type="http://schemas.openxmlformats.org/officeDocument/2006/relationships/image" Target="/ppt/media/image2.png" Id="Rab8d90ae5ef84f08" /><Relationship Type="http://schemas.openxmlformats.org/officeDocument/2006/relationships/image" Target="/ppt/media/image.png" Id="R96f011bcfb2b4da7" /><Relationship Type="http://schemas.openxmlformats.org/officeDocument/2006/relationships/image" Target="/ppt/media/image.emf" Id="Ree112a8a81444f5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b07aa33014e0c" /><Relationship Type="http://schemas.openxmlformats.org/officeDocument/2006/relationships/image" Target="/ppt/media/image2.png" Id="R8794e8a14bb24b00" /><Relationship Type="http://schemas.openxmlformats.org/officeDocument/2006/relationships/image" Target="/ppt/media/image.png" Id="Rf0a6e22ce50a4014" /><Relationship Type="http://schemas.openxmlformats.org/officeDocument/2006/relationships/image" Target="/ppt/media/image.emf" Id="Rfd5102b29ab544b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6b44a223d426e" /><Relationship Type="http://schemas.openxmlformats.org/officeDocument/2006/relationships/image" Target="/ppt/media/image3.png" Id="R9468d28d5ec8487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37b25005a4cae" /></Relationships>
</file>

<file path=ppt/slideLayouts/slideLayout1.xml><?xml version="1.0" encoding="utf-8"?>
<p:sldLayout xmlns:p="http://schemas.openxmlformats.org/presentationml/2006/main" preserve="1" userDrawn="1">
  <p:cSld name="开头/结尾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834407c42041ec">
            <a:alphaModFix amt="20000"/>
          </a:blip>
          <a:srcRect xmlns:a="http://schemas.openxmlformats.org/drawingml/2006/main" l="0" t="1377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2232294" cy="6857998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8617A37-4F45-4FAE-BA55-ED7959D0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" y="150608"/>
            <a:ext cx="12192000" cy="68579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xmlns:a="http://schemas.openxmlformats.org/drawingml/2006/main" w="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: 形状 7">
            <a:extLst xmlns:a="http://schemas.openxmlformats.org/drawingml/2006/main">
              <a:ext uri="{FF2B5EF4-FFF2-40B4-BE49-F238E27FC236}">
                <a16:creationId xmlns:a16="http://schemas.microsoft.com/office/drawing/2014/main" id="{27FFFFF5-DE4B-4C5B-85DF-B5DD15ED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595" y="1"/>
            <a:ext cx="12203590" cy="3777915"/>
          </a:xfrm>
          <a:custGeom xmlns:a="http://schemas.openxmlformats.org/drawingml/2006/main">
            <a:rect l="l" t="t" r="r" b="b"/>
            <a:pathLst>
              <a:path w="12192000" h="3820891">
                <a:moveTo>
                  <a:pt x="0" y="0"/>
                </a:moveTo>
                <a:lnTo>
                  <a:pt x="12192000" y="0"/>
                </a:lnTo>
                <a:lnTo>
                  <a:pt x="12192000" y="2822842"/>
                </a:lnTo>
                <a:lnTo>
                  <a:pt x="11920340" y="2925857"/>
                </a:lnTo>
                <a:cubicBezTo>
                  <a:pt x="10382026" y="3481957"/>
                  <a:pt x="8338529" y="3820891"/>
                  <a:pt x="6096000" y="3820891"/>
                </a:cubicBezTo>
                <a:cubicBezTo>
                  <a:pt x="3853472" y="3820891"/>
                  <a:pt x="1809974" y="3481957"/>
                  <a:pt x="271660" y="2925857"/>
                </a:cubicBezTo>
                <a:lnTo>
                  <a:pt x="0" y="2822842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8000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" name="Picture 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6a0a532c34419f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xmlns:a="http://schemas.openxmlformats.org/drawingml/2006/main" l="0" t="0" r="0" b="27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82466" y="1491745"/>
            <a:ext cx="4615467" cy="1392396"/>
          </a:xfrm>
          <a:prstGeom xmlns:a="http://schemas.openxmlformats.org/drawingml/2006/main" prst="rect">
            <a:avLst/>
          </a:prstGeom>
        </p:spPr>
      </p:pic>
      <p:sp>
        <p:nvSpPr>
          <p:cNvPr id="16" name="内容占位符 15">
            <a:extLst xmlns:a="http://schemas.openxmlformats.org/drawingml/2006/main">
              <a:ext uri="{FF2B5EF4-FFF2-40B4-BE49-F238E27FC236}">
                <a16:creationId xmlns:a16="http://schemas.microsoft.com/office/drawing/2014/main" id="{88D1C032-FDE1-4592-B363-1192FFE17AF5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1339750" y="4460684"/>
            <a:ext cx="9552791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 i="0" spc="140">
                <a:solidFill>
                  <a:srgbClr val="4571C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这里是你的论文标题</a:t>
            </a:r>
          </a:p>
        </p:txBody>
      </p:sp>
      <p:sp>
        <p:nvSpPr>
          <p:cNvPr id="17" name="内容占位符 15">
            <a:extLst xmlns:a="http://schemas.openxmlformats.org/drawingml/2006/main">
              <a:ext uri="{FF2B5EF4-FFF2-40B4-BE49-F238E27FC236}">
                <a16:creationId xmlns:a16="http://schemas.microsoft.com/office/drawing/2014/main" id="{DEAEBEBC-CAD2-4247-9307-73CD0571833E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854123" y="5190094"/>
            <a:ext cx="10483750" cy="3128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1800" b="1">
                <a:solidFill>
                  <a:srgbClr val="3F70C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Here is the</a:t>
            </a:r>
            <a:r>
              <a:t> </a:t>
            </a:r>
            <a:r>
              <a:t>English name of your thesis</a:t>
            </a:r>
            <a:r>
              <a:t> 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3EB641A0-E699-4B17-B865-3A75F56A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-6692"/>
            <a:ext cx="12218637" cy="944537"/>
          </a:xfrm>
          <a:custGeom xmlns:a="http://schemas.openxmlformats.org/drawingml/2006/main"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Picture 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d91f0184324323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xmlns:a="http://schemas.openxmlformats.org/drawingml/2006/main" l="0" t="0" r="0" b="27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9933" y="101739"/>
            <a:ext cx="2412066" cy="727673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44C8443-F4F7-467A-889B-DA9A815B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5969"/>
            <a:ext cx="12191999" cy="42202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图片 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028863cfa14ee9">
            <a:alphaModFix amt="70000"/>
            <a:biLevel thresh="25000"/>
          </a:blip>
          <a:srcRect xmlns:a="http://schemas.openxmlformats.org/drawingml/2006/main" l="14490" t="16343" r="14599" b="10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04432" y="6383584"/>
            <a:ext cx="512911" cy="52799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小标题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e53c166179433e">
            <a:alphaModFix amt="8000"/>
          </a:blip>
          <a:srcRect xmlns:a="http://schemas.openxmlformats.org/drawingml/2006/main" l="0" t="1377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6693"/>
            <a:ext cx="12192001" cy="6823516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AC9846E0-6F15-4618-9B5E-79C63057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-6692"/>
            <a:ext cx="12218637" cy="944537"/>
          </a:xfrm>
          <a:custGeom xmlns:a="http://schemas.openxmlformats.org/drawingml/2006/main"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8b7f727139459a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xmlns:a="http://schemas.openxmlformats.org/drawingml/2006/main" l="0" t="0" r="0" b="27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9933" y="101739"/>
            <a:ext cx="2412066" cy="727673"/>
          </a:xfrm>
          <a:prstGeom xmlns:a="http://schemas.openxmlformats.org/drawingml/2006/main" prst="rect">
            <a:avLst/>
          </a:prstGeom>
        </p:spPr>
      </p:pic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4369FB0-7330-44A2-BE45-432F08FB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5969"/>
            <a:ext cx="12191999" cy="42202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C2AC85B-DCED-40FE-A83C-43DB1FF0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2" y="6530593"/>
            <a:ext cx="3856892" cy="286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计算机科学与技术学院</a:t>
            </a:r>
          </a:p>
        </p:txBody>
      </p:sp>
      <p:pic>
        <p:nvPicPr>
          <p:cNvPr id="24" name="图片 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6b47bc15654c48">
            <a:alphaModFix amt="70000"/>
            <a:biLevel thresh="25000"/>
          </a:blip>
          <a:srcRect xmlns:a="http://schemas.openxmlformats.org/drawingml/2006/main" l="14490" t="16343" r="14599" b="10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04432" y="6383584"/>
            <a:ext cx="512911" cy="527997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60">
            <a:extLst xmlns:a="http://schemas.openxmlformats.org/drawingml/2006/main">
              <a:ext uri="{FF2B5EF4-FFF2-40B4-BE49-F238E27FC236}">
                <a16:creationId xmlns:a16="http://schemas.microsoft.com/office/drawing/2014/main" id="{FA03149E-A665-4C7C-A919-6AC2D36E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183" y="1862466"/>
            <a:ext cx="0" cy="3053779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内容占位符 15">
            <a:extLst xmlns:a="http://schemas.openxmlformats.org/drawingml/2006/main">
              <a:ext uri="{FF2B5EF4-FFF2-40B4-BE49-F238E27FC236}">
                <a16:creationId xmlns:a16="http://schemas.microsoft.com/office/drawing/2014/main" id="{A9837417-77E9-42CE-A16B-1E2E42E7649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5647764" y="2125856"/>
            <a:ext cx="4668814" cy="799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5400" b="1" i="0" spc="140">
                <a:solidFill>
                  <a:srgbClr val="4571C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小标题小标题</a:t>
            </a:r>
          </a:p>
        </p:txBody>
      </p:sp>
      <p:sp>
        <p:nvSpPr>
          <p:cNvPr id="35" name="内容占位符 15">
            <a:extLst xmlns:a="http://schemas.openxmlformats.org/drawingml/2006/main">
              <a:ext uri="{FF2B5EF4-FFF2-40B4-BE49-F238E27FC236}">
                <a16:creationId xmlns:a16="http://schemas.microsoft.com/office/drawing/2014/main" id="{9124C5B2-81AB-449E-8C89-FE9EA8B42EC7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5647763" y="3438083"/>
            <a:ext cx="4937651" cy="1905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05130" indent="-405130" algn="l">
              <a:buChar char="ü"/>
              <a:defRPr sz="2800" b="1" i="0" spc="140">
                <a:solidFill>
                  <a:srgbClr val="4571C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第一个小小标题</a:t>
            </a:r>
          </a:p>
          <a:p xmlns:a="http://schemas.openxmlformats.org/drawingml/2006/main">
            <a:pPr>
              <a:buNone/>
            </a:pPr>
            <a:r>
              <a:t>第二个小小标题</a:t>
            </a:r>
          </a:p>
          <a:p xmlns:a="http://schemas.openxmlformats.org/drawingml/2006/main">
            <a:pPr>
              <a:buNone/>
            </a:pPr>
            <a:r>
              <a:t>第三个小小标题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研究背景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60DC63D-7BDB-411D-986B-25B9A8C3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5969"/>
            <a:ext cx="12191999" cy="42202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754E08A-FA66-498D-92F2-3608C0DB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2" y="6530593"/>
            <a:ext cx="3856892" cy="286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计算机科学与技术学院</a:t>
            </a: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fa5e8fec984362">
            <a:alphaModFix amt="70000"/>
            <a:biLevel thresh="25000"/>
          </a:blip>
          <a:srcRect xmlns:a="http://schemas.openxmlformats.org/drawingml/2006/main" l="14490" t="16343" r="14599" b="10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04432" y="6383584"/>
            <a:ext cx="512911" cy="527997"/>
          </a:xfrm>
          <a:prstGeom xmlns:a="http://schemas.openxmlformats.org/drawingml/2006/main" prst="rect">
            <a:avLst/>
          </a:prstGeom>
        </p:spPr>
      </p:pic>
      <p:pic>
        <p:nvPicPr>
          <p:cNvPr id="24" name="Picture 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a636bbbb1b4ce3">
            <a:alphaModFix amt="13000"/>
            <a:duotone>
              <a:schemeClr val="accent3">
                <a:shade val="45000"/>
                <a:satMod val="135000"/>
              </a:schemeClr>
              <a:prstClr val="white"/>
            </a:duotone>
            <a:lum bright="40000" contrast="-40000"/>
          </a:blip>
          <a:srcRect xmlns:a="http://schemas.openxmlformats.org/drawingml/2006/main" l="7855" t="10763" r="81917" b="39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9814" y="277078"/>
            <a:ext cx="2972185" cy="6029347"/>
          </a:xfrm>
          <a:prstGeom xmlns:a="http://schemas.openxmlformats.org/drawingml/2006/main" prst="rect">
            <a:avLst/>
          </a:prstGeom>
        </p:spPr>
      </p:pic>
      <p:sp>
        <p:nvSpPr>
          <p:cNvPr id="29" name="文本占位符 24">
            <a:extLst xmlns:a="http://schemas.openxmlformats.org/drawingml/2006/main">
              <a:ext uri="{FF2B5EF4-FFF2-40B4-BE49-F238E27FC236}">
                <a16:creationId xmlns:a16="http://schemas.microsoft.com/office/drawing/2014/main" id="{E040FF7D-4E30-41B5-9D8B-8A4AD403E8C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78185" y="225909"/>
            <a:ext cx="4133801" cy="5830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1" i="0">
                <a:solidFill>
                  <a:srgbClr val="4372C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algn="l">
              <a:spcBef>
                <a:spcPts val="0"/>
              </a:spcBef>
              <a:spcAft>
                <a:spcPts val="0"/>
              </a:spcAft>
              <a:buNone/>
            </a:pPr>
            <a:r>
              <a:t>同济大学软件学院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多视点三维重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379FCF6-BF7E-456D-B293-BE47515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073" y="0"/>
            <a:ext cx="198104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-11035" y="1353710"/>
          <a:ext xmlns:a="http://schemas.openxmlformats.org/drawingml/2006/main" cx="1970006" cy="4408763"/>
        </p:xfrm>
        <a:graphic xmlns:a="http://schemas.openxmlformats.org/drawingml/2006/main"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70006"/>
              </a:tblGrid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研究背景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多视点三维重建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无监督</a:t>
                      </a: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深度学习构建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901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实验与成果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总结与展望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7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4601fed9745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362" y="151120"/>
            <a:ext cx="1054249" cy="1058183"/>
          </a:xfrm>
          <a:prstGeom xmlns:a="http://schemas.openxmlformats.org/drawingml/2006/main" prst="rect">
            <a:avLst/>
          </a:prstGeom>
        </p:spPr>
      </p:pic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B618E92-DB16-43BB-AA9F-DDB3BAE6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5969"/>
            <a:ext cx="12191999" cy="42202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701FA26-6EF0-49CA-81BA-95DCDA4F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2" y="6530593"/>
            <a:ext cx="3856892" cy="286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这里可以</a:t>
            </a: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是</a:t>
            </a: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你的论文标题</a:t>
            </a: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f1b99edb594555">
            <a:alphaModFix amt="70000"/>
            <a:biLevel thresh="25000"/>
          </a:blip>
          <a:srcRect xmlns:a="http://schemas.openxmlformats.org/drawingml/2006/main" l="14490" t="16343" r="14599" b="10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04432" y="6383584"/>
            <a:ext cx="512911" cy="527997"/>
          </a:xfrm>
          <a:prstGeom xmlns:a="http://schemas.openxmlformats.org/drawingml/2006/main" prst="rect">
            <a:avLst/>
          </a:prstGeom>
        </p:spPr>
      </p:pic>
      <p:sp>
        <p:nvSpPr>
          <p:cNvPr id="25" name="等腰三角形 9">
            <a:extLst xmlns:a="http://schemas.openxmlformats.org/drawingml/2006/main">
              <a:ext uri="{FF2B5EF4-FFF2-40B4-BE49-F238E27FC236}">
                <a16:creationId xmlns:a16="http://schemas.microsoft.com/office/drawing/2014/main" id="{641164E2-E1B8-496C-9AE0-00527A89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13599" y="2611430"/>
            <a:ext cx="144016" cy="144016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6" name="Picture 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6be396ff174af3">
            <a:alphaModFix amt="13000"/>
            <a:duotone>
              <a:schemeClr val="accent3">
                <a:shade val="45000"/>
                <a:satMod val="135000"/>
              </a:schemeClr>
              <a:prstClr val="white"/>
            </a:duotone>
            <a:lum bright="40000" contrast="-40000"/>
          </a:blip>
          <a:srcRect xmlns:a="http://schemas.openxmlformats.org/drawingml/2006/main" l="7855" t="10763" r="81917" b="39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9814" y="277078"/>
            <a:ext cx="2972185" cy="6029347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CE9EDA3-ECF5-4B2E-B874-AE62CD89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790" y="6519075"/>
            <a:ext cx="1981044" cy="286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本科毕业设计 张喆</a:t>
            </a:r>
          </a:p>
        </p:txBody>
      </p:sp>
      <p:sp>
        <p:nvSpPr>
          <p:cNvPr id="3" name="五边形 2">
            <a:extLst xmlns:a="http://schemas.openxmlformats.org/drawingml/2006/main">
              <a:ext uri="{FF2B5EF4-FFF2-40B4-BE49-F238E27FC236}">
                <a16:creationId xmlns:a16="http://schemas.microsoft.com/office/drawing/2014/main" id="{C384D34D-5F54-4BED-B588-880B222D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416673" y="5802370"/>
            <a:ext cx="775326" cy="504056"/>
          </a:xfrm>
          <a:prstGeom xmlns:a="http://schemas.openxmlformats.org/drawingml/2006/main" prst="homePlate">
            <a:avLst/>
          </a:prstGeom>
          <a:gradFill xmlns:a="http://schemas.openxmlformats.org/drawingml/2006/main" rotWithShape="1">
            <a:gsLst>
              <a:gs pos="0">
                <a:srgbClr val="33599E"/>
              </a:gs>
              <a:gs pos="99000">
                <a:srgbClr val="2E5697"/>
              </a:gs>
            </a:gsLst>
            <a:lin ang="0" scaled="1"/>
            <a:tileRect/>
          </a:gradFill>
          <a:ln xmlns:a="http://schemas.openxmlformats.org/drawingml/2006/main" w="25400" cmpd="sng">
            <a:noFill/>
            <a:prstDash val="soli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占位符 24">
            <a:extLst xmlns:a="http://schemas.openxmlformats.org/drawingml/2006/main">
              <a:ext uri="{FF2B5EF4-FFF2-40B4-BE49-F238E27FC236}">
                <a16:creationId xmlns:a16="http://schemas.microsoft.com/office/drawing/2014/main" id="{BB251472-0962-4D12-8761-54F8AA464BA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215044" y="388681"/>
            <a:ext cx="4133801" cy="5830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1" i="0">
                <a:solidFill>
                  <a:srgbClr val="4372C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algn="l">
              <a:spcBef>
                <a:spcPts val="0"/>
              </a:spcBef>
              <a:spcAft>
                <a:spcPts val="0"/>
              </a:spcAft>
              <a:buNone/>
            </a:pPr>
            <a:r>
              <a:t>同济大学软件学院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无监督深度学习构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8DE8B19-D2B7-49E9-94C1-9D79504F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073" y="0"/>
            <a:ext cx="198104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-11035" y="1353710"/>
          <a:ext xmlns:a="http://schemas.openxmlformats.org/drawingml/2006/main" cx="1970006" cy="4408763"/>
        </p:xfrm>
        <a:graphic xmlns:a="http://schemas.openxmlformats.org/drawingml/2006/main"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70006"/>
              </a:tblGrid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研究背景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多视点三维重建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无监督</a:t>
                      </a: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深度学习构建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901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实验与成果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总结与展望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7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d84d89db945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362" y="151120"/>
            <a:ext cx="1054249" cy="1058183"/>
          </a:xfrm>
          <a:prstGeom xmlns:a="http://schemas.openxmlformats.org/drawingml/2006/main" prst="rect">
            <a:avLst/>
          </a:prstGeom>
        </p:spPr>
      </p:pic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4C3A5F0-CC6E-443C-A2C0-FF7F2EBA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5969"/>
            <a:ext cx="12191999" cy="42202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6994648-4349-4161-BA42-34F99986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2" y="6530593"/>
            <a:ext cx="3856892" cy="286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这里可以是你的论文标题</a:t>
            </a: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b1910cd46d496e">
            <a:alphaModFix amt="70000"/>
            <a:biLevel thresh="25000"/>
          </a:blip>
          <a:srcRect xmlns:a="http://schemas.openxmlformats.org/drawingml/2006/main" l="14490" t="16343" r="14599" b="10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04432" y="6383584"/>
            <a:ext cx="512911" cy="527997"/>
          </a:xfrm>
          <a:prstGeom xmlns:a="http://schemas.openxmlformats.org/drawingml/2006/main" prst="rect">
            <a:avLst/>
          </a:prstGeom>
        </p:spPr>
      </p:pic>
      <p:sp>
        <p:nvSpPr>
          <p:cNvPr id="25" name="等腰三角形 9">
            <a:extLst xmlns:a="http://schemas.openxmlformats.org/drawingml/2006/main">
              <a:ext uri="{FF2B5EF4-FFF2-40B4-BE49-F238E27FC236}">
                <a16:creationId xmlns:a16="http://schemas.microsoft.com/office/drawing/2014/main" id="{F6FED200-C907-4A86-9F2F-B715163E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13599" y="3482801"/>
            <a:ext cx="144016" cy="144016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6" name="Picture 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b5d613112f43cf">
            <a:alphaModFix amt="13000"/>
            <a:duotone>
              <a:schemeClr val="accent3">
                <a:shade val="45000"/>
                <a:satMod val="135000"/>
              </a:schemeClr>
              <a:prstClr val="white"/>
            </a:duotone>
            <a:lum bright="40000" contrast="-40000"/>
          </a:blip>
          <a:srcRect xmlns:a="http://schemas.openxmlformats.org/drawingml/2006/main" l="7855" t="10763" r="81917" b="39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9814" y="277078"/>
            <a:ext cx="2972185" cy="6029347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960CA22-E276-4638-849C-3D7DCEF4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790" y="6519075"/>
            <a:ext cx="1981044" cy="286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本科毕业设计 张喆</a:t>
            </a:r>
          </a:p>
        </p:txBody>
      </p:sp>
      <p:sp>
        <p:nvSpPr>
          <p:cNvPr id="3" name="五边形 2">
            <a:extLst xmlns:a="http://schemas.openxmlformats.org/drawingml/2006/main">
              <a:ext uri="{FF2B5EF4-FFF2-40B4-BE49-F238E27FC236}">
                <a16:creationId xmlns:a16="http://schemas.microsoft.com/office/drawing/2014/main" id="{7161B7E8-E583-432F-BB7C-E74D3F32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416673" y="5802370"/>
            <a:ext cx="775326" cy="504056"/>
          </a:xfrm>
          <a:prstGeom xmlns:a="http://schemas.openxmlformats.org/drawingml/2006/main" prst="homePlate">
            <a:avLst/>
          </a:prstGeom>
          <a:gradFill xmlns:a="http://schemas.openxmlformats.org/drawingml/2006/main" rotWithShape="1">
            <a:gsLst>
              <a:gs pos="0">
                <a:srgbClr val="33599E"/>
              </a:gs>
              <a:gs pos="99000">
                <a:srgbClr val="2E5697"/>
              </a:gs>
            </a:gsLst>
            <a:lin ang="0" scaled="1"/>
            <a:tileRect/>
          </a:gradFill>
          <a:ln xmlns:a="http://schemas.openxmlformats.org/drawingml/2006/main" w="25400" cmpd="sng">
            <a:noFill/>
            <a:prstDash val="soli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占位符 24">
            <a:extLst xmlns:a="http://schemas.openxmlformats.org/drawingml/2006/main">
              <a:ext uri="{FF2B5EF4-FFF2-40B4-BE49-F238E27FC236}">
                <a16:creationId xmlns:a16="http://schemas.microsoft.com/office/drawing/2014/main" id="{6D2C0D89-F0A5-44DE-ACE6-7E76250305A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215044" y="388681"/>
            <a:ext cx="4133801" cy="5830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1" i="0">
                <a:solidFill>
                  <a:srgbClr val="4372C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algn="l">
              <a:spcBef>
                <a:spcPts val="0"/>
              </a:spcBef>
              <a:spcAft>
                <a:spcPts val="0"/>
              </a:spcAft>
              <a:buNone/>
            </a:pPr>
            <a:r>
              <a:t>同济大学软件学院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实验与成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089E5B5-D232-4DAC-904B-5CE706AA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073" y="0"/>
            <a:ext cx="198104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-11035" y="1353710"/>
          <a:ext xmlns:a="http://schemas.openxmlformats.org/drawingml/2006/main" cx="1970006" cy="4408763"/>
        </p:xfrm>
        <a:graphic xmlns:a="http://schemas.openxmlformats.org/drawingml/2006/main"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70006"/>
              </a:tblGrid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研究背景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多视点三维重建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无监督</a:t>
                      </a: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深度学习构建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901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实验与成果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总结与展望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7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d90ae5ef84f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362" y="151120"/>
            <a:ext cx="1054249" cy="1058183"/>
          </a:xfrm>
          <a:prstGeom xmlns:a="http://schemas.openxmlformats.org/drawingml/2006/main" prst="rect">
            <a:avLst/>
          </a:prstGeom>
        </p:spPr>
      </p:pic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1EAFA70-DA8F-4A81-B056-35F9F23F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5969"/>
            <a:ext cx="12191999" cy="42202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B69D5C4-C1DD-46D1-B817-668CFCB5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2" y="6530593"/>
            <a:ext cx="3856892" cy="286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这里可以</a:t>
            </a: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是</a:t>
            </a: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你的论文标题</a:t>
            </a: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f011bcfb2b4da7">
            <a:alphaModFix amt="70000"/>
            <a:biLevel thresh="25000"/>
          </a:blip>
          <a:srcRect xmlns:a="http://schemas.openxmlformats.org/drawingml/2006/main" l="14490" t="16343" r="14599" b="10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04432" y="6383584"/>
            <a:ext cx="512911" cy="527997"/>
          </a:xfrm>
          <a:prstGeom xmlns:a="http://schemas.openxmlformats.org/drawingml/2006/main" prst="rect">
            <a:avLst/>
          </a:prstGeom>
        </p:spPr>
      </p:pic>
      <p:sp>
        <p:nvSpPr>
          <p:cNvPr id="25" name="等腰三角形 9">
            <a:extLst xmlns:a="http://schemas.openxmlformats.org/drawingml/2006/main">
              <a:ext uri="{FF2B5EF4-FFF2-40B4-BE49-F238E27FC236}">
                <a16:creationId xmlns:a16="http://schemas.microsoft.com/office/drawing/2014/main" id="{DD5375FA-2191-4590-9B9B-A5142458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13599" y="4364930"/>
            <a:ext cx="144016" cy="144016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6" name="Picture 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112a8a81444f51">
            <a:alphaModFix amt="13000"/>
            <a:duotone>
              <a:schemeClr val="accent3">
                <a:shade val="45000"/>
                <a:satMod val="135000"/>
              </a:schemeClr>
              <a:prstClr val="white"/>
            </a:duotone>
            <a:lum bright="40000" contrast="-40000"/>
          </a:blip>
          <a:srcRect xmlns:a="http://schemas.openxmlformats.org/drawingml/2006/main" l="7855" t="10763" r="81917" b="39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9814" y="277078"/>
            <a:ext cx="2972185" cy="6029347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E4842E6-B572-4CF0-B9B9-C81FB93A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790" y="6519075"/>
            <a:ext cx="1981044" cy="286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本科毕业设计 张喆</a:t>
            </a:r>
          </a:p>
        </p:txBody>
      </p:sp>
      <p:sp>
        <p:nvSpPr>
          <p:cNvPr id="3" name="五边形 2">
            <a:extLst xmlns:a="http://schemas.openxmlformats.org/drawingml/2006/main">
              <a:ext uri="{FF2B5EF4-FFF2-40B4-BE49-F238E27FC236}">
                <a16:creationId xmlns:a16="http://schemas.microsoft.com/office/drawing/2014/main" id="{248CD3B6-4B94-40B4-BFD8-594C31AB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416673" y="5802370"/>
            <a:ext cx="775326" cy="504056"/>
          </a:xfrm>
          <a:prstGeom xmlns:a="http://schemas.openxmlformats.org/drawingml/2006/main" prst="homePlate">
            <a:avLst/>
          </a:prstGeom>
          <a:gradFill xmlns:a="http://schemas.openxmlformats.org/drawingml/2006/main" rotWithShape="1">
            <a:gsLst>
              <a:gs pos="0">
                <a:srgbClr val="33599E"/>
              </a:gs>
              <a:gs pos="99000">
                <a:srgbClr val="2E5697"/>
              </a:gs>
            </a:gsLst>
            <a:lin ang="0" scaled="1"/>
            <a:tileRect/>
          </a:gradFill>
          <a:ln xmlns:a="http://schemas.openxmlformats.org/drawingml/2006/main" w="25400" cmpd="sng">
            <a:noFill/>
            <a:prstDash val="soli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占位符 24">
            <a:extLst xmlns:a="http://schemas.openxmlformats.org/drawingml/2006/main">
              <a:ext uri="{FF2B5EF4-FFF2-40B4-BE49-F238E27FC236}">
                <a16:creationId xmlns:a16="http://schemas.microsoft.com/office/drawing/2014/main" id="{EF4E8D7E-D654-4EFF-8B39-6F681EE610E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215044" y="388681"/>
            <a:ext cx="4133801" cy="5830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1" i="0">
                <a:solidFill>
                  <a:srgbClr val="4372C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algn="l">
              <a:spcBef>
                <a:spcPts val="0"/>
              </a:spcBef>
              <a:spcAft>
                <a:spcPts val="0"/>
              </a:spcAft>
              <a:buNone/>
            </a:pPr>
            <a:r>
              <a:t>同济大学软件学院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工作总结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ECC8A6-30D2-4D02-BDA2-37CCA93A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073" y="0"/>
            <a:ext cx="198104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-11035" y="1353710"/>
          <a:ext xmlns:a="http://schemas.openxmlformats.org/drawingml/2006/main" cx="1970006" cy="4408763"/>
        </p:xfrm>
        <a:graphic xmlns:a="http://schemas.openxmlformats.org/drawingml/2006/main"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70006"/>
              </a:tblGrid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研究背景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多视点三维重建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无监督</a:t>
                      </a: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深度学习构建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901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实验与成果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6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工作总结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7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4e8a14bb24b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362" y="151120"/>
            <a:ext cx="1054249" cy="1058183"/>
          </a:xfrm>
          <a:prstGeom xmlns:a="http://schemas.openxmlformats.org/drawingml/2006/main" prst="rect">
            <a:avLst/>
          </a:prstGeom>
        </p:spPr>
      </p:pic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676D7F7-97FA-4F18-94A1-6141D096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5969"/>
            <a:ext cx="12191999" cy="42202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0BB401E-7A35-46AF-933F-00F0F7B5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2" y="6530593"/>
            <a:ext cx="3856892" cy="286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这里可以</a:t>
            </a: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是</a:t>
            </a: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你的论文标题</a:t>
            </a: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a6e22ce50a4014">
            <a:alphaModFix amt="70000"/>
            <a:biLevel thresh="25000"/>
          </a:blip>
          <a:srcRect xmlns:a="http://schemas.openxmlformats.org/drawingml/2006/main" l="14490" t="16343" r="14599" b="10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04432" y="6383584"/>
            <a:ext cx="512911" cy="527997"/>
          </a:xfrm>
          <a:prstGeom xmlns:a="http://schemas.openxmlformats.org/drawingml/2006/main" prst="rect">
            <a:avLst/>
          </a:prstGeom>
        </p:spPr>
      </p:pic>
      <p:sp>
        <p:nvSpPr>
          <p:cNvPr id="25" name="等腰三角形 9">
            <a:extLst xmlns:a="http://schemas.openxmlformats.org/drawingml/2006/main">
              <a:ext uri="{FF2B5EF4-FFF2-40B4-BE49-F238E27FC236}">
                <a16:creationId xmlns:a16="http://schemas.microsoft.com/office/drawing/2014/main" id="{B08DA167-DF8E-4A87-9AB5-8471B29D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13599" y="5253260"/>
            <a:ext cx="144016" cy="144016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6" name="Picture 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5102b29ab544be">
            <a:alphaModFix amt="13000"/>
            <a:duotone>
              <a:schemeClr val="accent3">
                <a:shade val="45000"/>
                <a:satMod val="135000"/>
              </a:schemeClr>
              <a:prstClr val="white"/>
            </a:duotone>
            <a:lum bright="40000" contrast="-40000"/>
          </a:blip>
          <a:srcRect xmlns:a="http://schemas.openxmlformats.org/drawingml/2006/main" l="7855" t="10763" r="81917" b="39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9814" y="277078"/>
            <a:ext cx="2972185" cy="6029347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1EBC33E-ABFC-4B81-AE6E-761714F8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790" y="6519075"/>
            <a:ext cx="1981044" cy="286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400" b="0" i="0" spc="130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</a:rPr>
              <a:t>本科毕业设计 张喆</a:t>
            </a:r>
          </a:p>
        </p:txBody>
      </p:sp>
      <p:sp>
        <p:nvSpPr>
          <p:cNvPr id="3" name="五边形 2">
            <a:extLst xmlns:a="http://schemas.openxmlformats.org/drawingml/2006/main">
              <a:ext uri="{FF2B5EF4-FFF2-40B4-BE49-F238E27FC236}">
                <a16:creationId xmlns:a16="http://schemas.microsoft.com/office/drawing/2014/main" id="{451273AA-F1B1-4FF0-AB60-7B20C8C3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416673" y="5802370"/>
            <a:ext cx="775326" cy="504056"/>
          </a:xfrm>
          <a:prstGeom xmlns:a="http://schemas.openxmlformats.org/drawingml/2006/main" prst="homePlate">
            <a:avLst/>
          </a:prstGeom>
          <a:gradFill xmlns:a="http://schemas.openxmlformats.org/drawingml/2006/main" rotWithShape="1">
            <a:gsLst>
              <a:gs pos="0">
                <a:srgbClr val="33599E"/>
              </a:gs>
              <a:gs pos="99000">
                <a:srgbClr val="2E5697"/>
              </a:gs>
            </a:gsLst>
            <a:lin ang="0" scaled="1"/>
            <a:tileRect/>
          </a:gradFill>
          <a:ln xmlns:a="http://schemas.openxmlformats.org/drawingml/2006/main" w="25400" cmpd="sng">
            <a:noFill/>
            <a:prstDash val="soli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占位符 24">
            <a:extLst xmlns:a="http://schemas.openxmlformats.org/drawingml/2006/main">
              <a:ext uri="{FF2B5EF4-FFF2-40B4-BE49-F238E27FC236}">
                <a16:creationId xmlns:a16="http://schemas.microsoft.com/office/drawing/2014/main" id="{623D32AF-BDD8-4E9E-9F04-C93D857F815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215044" y="388681"/>
            <a:ext cx="4133801" cy="5830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1" i="0">
                <a:solidFill>
                  <a:srgbClr val="4372C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algn="l">
              <a:spcBef>
                <a:spcPts val="0"/>
              </a:spcBef>
              <a:spcAft>
                <a:spcPts val="0"/>
              </a:spcAft>
              <a:buNone/>
            </a:pPr>
            <a:r>
              <a:t>同济大学软件学院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关于模板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8d28d5ec84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86" y="21712"/>
            <a:ext cx="864499" cy="789325"/>
          </a:xfrm>
          <a:prstGeom xmlns:a="http://schemas.openxmlformats.org/drawingml/2006/main" prst="rect">
            <a:avLst/>
          </a:prstGeom>
        </p:spPr>
      </p:pic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E9817AE3-0887-42C4-8F41-6714FDC41C8A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927185" y="214048"/>
            <a:ext cx="1807873" cy="4046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spc="110">
                <a:solidFill>
                  <a:srgbClr val="005BAC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 spc="110">
                <a:ln>
                  <a:noFill/>
                </a:ln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资源和示例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86deed0b534c80" /><Relationship Type="http://schemas.openxmlformats.org/officeDocument/2006/relationships/slideLayout" Target="/ppt/slideLayouts/slideLayout1.xml" Id="R062d46f034694ef4" /><Relationship Type="http://schemas.openxmlformats.org/officeDocument/2006/relationships/slideLayout" Target="/ppt/slideLayouts/slideLayout2.xml" Id="R65ad0e18844a404f" /><Relationship Type="http://schemas.openxmlformats.org/officeDocument/2006/relationships/slideLayout" Target="/ppt/slideLayouts/slideLayout3.xml" Id="Rcd5e77dbfdc643bf" /><Relationship Type="http://schemas.openxmlformats.org/officeDocument/2006/relationships/slideLayout" Target="/ppt/slideLayouts/slideLayout4.xml" Id="R53e4e43af45c4fcb" /><Relationship Type="http://schemas.openxmlformats.org/officeDocument/2006/relationships/slideLayout" Target="/ppt/slideLayouts/slideLayout5.xml" Id="R4d0c9294a9154f89" /><Relationship Type="http://schemas.openxmlformats.org/officeDocument/2006/relationships/slideLayout" Target="/ppt/slideLayouts/slideLayout6.xml" Id="R85a62e58a0ee4ca3" /><Relationship Type="http://schemas.openxmlformats.org/officeDocument/2006/relationships/slideLayout" Target="/ppt/slideLayouts/slideLayout7.xml" Id="Rc66437943f4341e5" /><Relationship Type="http://schemas.openxmlformats.org/officeDocument/2006/relationships/slideLayout" Target="/ppt/slideLayouts/slideLayout8.xml" Id="R8e962a4fca3644ae" /><Relationship Type="http://schemas.openxmlformats.org/officeDocument/2006/relationships/slideLayout" Target="/ppt/slideLayouts/slideLayout9.xml" Id="R040af3eceea84bcf" /><Relationship Type="http://schemas.openxmlformats.org/officeDocument/2006/relationships/slideLayout" Target="/ppt/slideLayouts/slideLayout10.xml" Id="R20a6c43805ae4d0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2d46f034694ef4"/>
    <p:sldLayoutId xmlns:r="http://schemas.openxmlformats.org/officeDocument/2006/relationships" id="2147483650" r:id="R65ad0e18844a404f"/>
    <p:sldLayoutId xmlns:r="http://schemas.openxmlformats.org/officeDocument/2006/relationships" id="2147483651" r:id="Rcd5e77dbfdc643bf"/>
    <p:sldLayoutId xmlns:r="http://schemas.openxmlformats.org/officeDocument/2006/relationships" id="2147483652" r:id="R53e4e43af45c4fcb"/>
    <p:sldLayoutId xmlns:r="http://schemas.openxmlformats.org/officeDocument/2006/relationships" id="2147483653" r:id="R4d0c9294a9154f89"/>
    <p:sldLayoutId xmlns:r="http://schemas.openxmlformats.org/officeDocument/2006/relationships" id="2147483654" r:id="R85a62e58a0ee4ca3"/>
    <p:sldLayoutId xmlns:r="http://schemas.openxmlformats.org/officeDocument/2006/relationships" id="2147483655" r:id="Rc66437943f4341e5"/>
    <p:sldLayoutId xmlns:r="http://schemas.openxmlformats.org/officeDocument/2006/relationships" id="2147483656" r:id="R8e962a4fca3644ae"/>
    <p:sldLayoutId xmlns:r="http://schemas.openxmlformats.org/officeDocument/2006/relationships" id="2147483657" r:id="R040af3eceea84bcf"/>
    <p:sldLayoutId xmlns:r="http://schemas.openxmlformats.org/officeDocument/2006/relationships" id="2147483658" r:id="R20a6c43805ae4d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00bd3df04440e" /><Relationship Type="http://schemas.openxmlformats.org/officeDocument/2006/relationships/notesSlide" Target="/ppt/notesSlides/notesSlide1.xml" Id="Ra53fc7097e5b42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839e8335f34a10" /><Relationship Type="http://schemas.openxmlformats.org/officeDocument/2006/relationships/notesSlide" Target="/ppt/notesSlides/notesSlide2.xml" Id="Rd6453559228f41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17ac81eb8a74536" /><Relationship Type="http://schemas.openxmlformats.org/officeDocument/2006/relationships/notesSlide" Target="/ppt/notesSlides/notesSlide3.xml" Id="R70005c4f40a64b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7b8baaa075949e8" /><Relationship Type="http://schemas.openxmlformats.org/officeDocument/2006/relationships/notesSlide" Target="/ppt/notesSlides/notesSlide4.xml" Id="R82910cea18124b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562a92415ce48af" /><Relationship Type="http://schemas.openxmlformats.org/officeDocument/2006/relationships/notesSlide" Target="/ppt/notesSlides/notesSlide5.xml" Id="R1934fb81be8a43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2b04af140d34ec6" /><Relationship Type="http://schemas.openxmlformats.org/officeDocument/2006/relationships/notesSlide" Target="/ppt/notesSlides/notesSlide6.xml" Id="R07c6afcb4b1848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fbacc95e2914fa4" /><Relationship Type="http://schemas.openxmlformats.org/officeDocument/2006/relationships/notesSlide" Target="/ppt/notesSlides/notesSlide7.xml" Id="R1a78d3f09c5348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b526e2f61f4c411c" /><Relationship Type="http://schemas.openxmlformats.org/officeDocument/2006/relationships/notesSlide" Target="/ppt/notesSlides/notesSlide8.xml" Id="R0caaece524e146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1d49f3552034d12" /><Relationship Type="http://schemas.openxmlformats.org/officeDocument/2006/relationships/notesSlide" Target="/ppt/notesSlides/notesSlide9.xml" Id="R44d131928a2047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57fe6c2c2884b13" /><Relationship Type="http://schemas.openxmlformats.org/officeDocument/2006/relationships/notesSlide" Target="/ppt/notesSlides/notesSlide10.xml" Id="Rc39a6c60ad3144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b417f980f684378" /><Relationship Type="http://schemas.openxmlformats.org/officeDocument/2006/relationships/notesSlide" Target="/ppt/notesSlides/notesSlide11.xml" Id="Rddfcb5e2a33e47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621E9BD5-F8C0-4875-9055-BB9D1C7380C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364017" y="4028608"/>
            <a:ext cx="11463953" cy="180670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Component Testing for FlaskBlog</a:t>
            </a:r>
          </a:p>
          <a:p xmlns:a="http://schemas.openxmlformats.org/drawingml/2006/main">
            <a:pPr>
              <a:lnSpc>
                <a:spcPct val="15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Setup and Post Workflows</a:t>
            </a:r>
          </a:p>
          <a:p xmlns:a="http://schemas.openxmlformats.org/drawingml/2006/main">
            <a:pPr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Assignment B3 | Software Testing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5617F90-51A1-4E9D-8945-153BC4A0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681" y="6221314"/>
            <a:ext cx="4324637" cy="3830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spcBef>
                <a:spcPts val="1000"/>
              </a:spcBef>
              <a:buNone/>
              <a:defRPr sz="1125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333333"/>
                </a:solidFill>
                <a:latin typeface="Arial"/>
                <a:ea typeface="Arial"/>
                <a:cs typeface="Arial"/>
              </a:rPr>
              <a:t>Testing Part | 8 body slides</a:t>
            </a:r>
          </a:p>
        </p:txBody>
      </p:sp>
    </p:spTree>
    <p:extLst>
      <p:ext uri="{BB962C8B-B14F-4D97-AF65-F5344CB8AC3E}">
        <p14:creationId xmlns:p14="http://schemas.microsoft.com/office/powerpoint/2010/main" val="8294262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41958E13-6CC0-417A-ACCB-CD82FD50BEB1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5361288" y="1483684"/>
            <a:ext cx="6520125" cy="39829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914400" indent="-914400">
              <a:lnSpc>
                <a:spcPct val="150000"/>
              </a:lnSpc>
              <a:buAutoNum type="circleNumDbPlain"/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Scope and risk link</a:t>
            </a:r>
          </a:p>
          <a:p xmlns:a="http://schemas.openxmlformats.org/drawingml/2006/main">
            <a:pPr marL="914400" indent="-914400">
              <a:lnSpc>
                <a:spcPct val="150000"/>
              </a:lnSpc>
              <a:buAutoNum type="circleNumDbPlain"/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Setup: black-box design</a:t>
            </a:r>
          </a:p>
          <a:p xmlns:a="http://schemas.openxmlformats.org/drawingml/2006/main">
            <a:pPr marL="914400" indent="-914400">
              <a:lnSpc>
                <a:spcPct val="150000"/>
              </a:lnSpc>
              <a:buAutoNum type="circleNumDbPlain"/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Setup: execution and defect</a:t>
            </a:r>
          </a:p>
          <a:p xmlns:a="http://schemas.openxmlformats.org/drawingml/2006/main">
            <a:pPr marL="914400" indent="-914400">
              <a:lnSpc>
                <a:spcPct val="150000"/>
              </a:lnSpc>
              <a:buAutoNum type="circleNumDbPlain"/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Post: white-box design</a:t>
            </a:r>
          </a:p>
          <a:p xmlns:a="http://schemas.openxmlformats.org/drawingml/2006/main">
            <a:pPr marL="914400" indent="-914400">
              <a:lnSpc>
                <a:spcPct val="150000"/>
              </a:lnSpc>
              <a:buAutoNum type="circleNumDbPlain"/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5. Post: execution and defect summary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4E49F7D-1F62-4347-ADBC-0A521837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92" y="2921167"/>
            <a:ext cx="3718849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9812532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31BF3E13-6341-4922-B59C-0AE745BC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" y="1125220"/>
            <a:ext cx="11866880" cy="1647190"/>
          </a:xfrm>
          <a:prstGeom xmlns:a="http://schemas.openxmlformats.org/drawingml/2006/main" prst="roundRect">
            <a:avLst>
              <a:gd name="adj" fmla="val 2034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</a:p>
        </p:txBody>
      </p:sp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5FB28224-0DAA-40D9-8C0D-02B60E1E22E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46890" y="257139"/>
            <a:ext cx="4133801" cy="5830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Testing Scope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19885FA6-13AD-435B-BC98-8B1C9C73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986" y="1701074"/>
            <a:ext cx="7506418" cy="1345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Selected according to high-priority product risks: signup validation, login/session behavior, post creation, and post/comment route reliability.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5B755048-4E29-4AE2-9F73-C7BD343D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73" y="1772942"/>
            <a:ext cx="1905367" cy="638701"/>
          </a:xfrm>
          <a:prstGeom xmlns:a="http://schemas.openxmlformats.org/drawingml/2006/main" prst="roundRect">
            <a:avLst>
              <a:gd name="adj" fmla="val 9331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User authentication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Signup / Login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5F7713FC-BBDA-4FEC-8D45-514587C6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375" y="1772942"/>
            <a:ext cx="1905367" cy="638701"/>
          </a:xfrm>
          <a:prstGeom xmlns:a="http://schemas.openxmlformats.org/drawingml/2006/main" prst="roundRect">
            <a:avLst>
              <a:gd name="adj" fmla="val 9331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Post Component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Create / View / Comment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A2D0048-7712-4D2D-A0E0-1A8175E4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" y="1116330"/>
            <a:ext cx="6472555" cy="490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Detailed component testing covers two major modules: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F55C6B36-B5F9-48D6-8C0E-1862B478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35" y="3429000"/>
            <a:ext cx="11835765" cy="2466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level:</a:t>
            </a: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 route-level component testing using Flask test_client, isolated SQLite test databases, and patched route dependencies where needed.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checked:</a:t>
            </a: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 HTTP status codes and redirect locations, returned page responses from patched template-rendering branches, SQLite database side effects, Flask session state, and defect evidence from unexpected test errors.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Detailed testing scope: </a:t>
            </a: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section covers the selected authentication components, especially signup and login, and blog post components, especially create post and post view/comment handling.</a:t>
            </a:r>
          </a:p>
        </p:txBody>
      </p:sp>
    </p:spTree>
    <p:extLst>
      <p:ext uri="{BB962C8B-B14F-4D97-AF65-F5344CB8AC3E}">
        <p14:creationId xmlns:p14="http://schemas.microsoft.com/office/powerpoint/2010/main" val="10284717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6C65FE7-9899-47A4-9C15-2306A910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TEST FRAMEWORK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CE6590-1437-44AD-990C-BF3C9AEB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Route-level component tests with Flask test_client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A3D5E34-4320-4E68-9B2A-5CC30D73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D7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4D72996-035E-4D12-9119-04829B6A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23CA3398-7528-4321-8611-B5606E93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32861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F2E5A0C-4331-45FA-BFE2-1721DF4F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4D96FAB-99BA-4E57-BC13-34D71E85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test_client does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B740897-210D-4463-B081-1C3FC26E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It creates an in-process HTTP request context. The route is called through Flask routing, but no real browser, server process, or network socket is needed.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68B498DB-5934-47CA-9E4B-B78E9FBA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2861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16B6C7E-466B-4356-AC16-EB622449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183A59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07C6ED0-1C12-423D-8B17-F4FA4F60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Isolation strategy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AC92E8A-630E-4213-A044-08B8C16E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Each test builds a small Flask app, registers selected Blueprints, patches database paths and helper functions, and uses temporary SQLite files.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9DBBB3CB-8983-4690-BDF2-5D55A066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3286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2C96206-4095-47CB-BB88-6A65FAC9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11430">
            <a:solidFill>
              <a:srgbClr val="F2A541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465CCA-AC9C-46C1-A109-7F8C05A3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Assertions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A5B8CAA-76E5-412F-888A-A81C0D1F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Status codes, redirect locations, selected response text, database rows, session values, and unexpected test errors.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6EA9DDD8-8801-4296-B261-FD98BD60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1381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 case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payload + session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BB96BD10-6CC2-416C-A2CA-46D04111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1381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Flask app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+ test_client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A8F90A4E-D29B-4972-B84F-421B75C7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1381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selected route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Blueprint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25786BF2-91DC-4A97-ADDA-58D76363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1381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isolated SQLite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+ patched deps</a:t>
            </a:r>
          </a:p>
        </p:txBody>
      </p:sp>
      <p:sp>
        <p:nvSpPr>
          <p:cNvPr id="22" name="直接连接符 21">
            <a:extLst xmlns:a="http://schemas.openxmlformats.org/drawingml/2006/main">
              <a:ext uri="{FF2B5EF4-FFF2-40B4-BE49-F238E27FC236}">
                <a16:creationId xmlns:a16="http://schemas.microsoft.com/office/drawing/2014/main" id="{90E641E7-8D95-4856-B128-CCB38D1B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241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7CBE43FA-5EAC-49EB-9ADD-EF509F08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241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F45D6912-93E2-4BF3-BF56-0E709890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241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7DD80CC0-8E84-4C3D-9D26-40AD6712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6955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CB4E4CB7-D292-47D9-BF5D-92B5B966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909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5E1"/>
          </a:solidFill>
          <a:ln xmlns:a="http://schemas.openxmlformats.org/drawingml/2006/main" w="11430">
            <a:solidFill>
              <a:srgbClr val="F2A54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assertions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response / DB / session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C2E6638-D0CE-43BA-A75E-51A49AF6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E997EEB-BF3A-479C-9CEC-A93E324E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Loaded modules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D2A3A7B-F991-40EC-8E2F-9C067D03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006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Signup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27A7BA0-17B0-4F89-ABD2-23FD206A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006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routes.signup, SignUpForm, settings, users DB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146B384-5995-4146-8AEE-DD706D25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24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41D7B65-9067-4289-A39E-00A0D125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244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routes.login, LoginForm, users DB, Flask session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168DAF0-49C4-4C75-9A94-C21483F1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48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CreatePost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06A3B8A-0E6B-4A3F-81F3-D2557B34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48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routes.createPost, CreatePostForm, posts DB, URL-ID helper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DC7C6D2A-4C91-40C8-8444-AD1281EE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721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53E8EB6-282E-43A0-AF2A-8B442A28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721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9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routes.post, CommentForm, Delete, posts/comments/analytics DB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FF506ECF-ECD1-4117-9FC8-08B6D06C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C42BF6-3211-48AF-B6CD-5DB9FFDA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"/>
            <a:ext cx="2971800" cy="6029325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0A69A7-9C03-40C3-B195-DE7177F6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85750"/>
            <a:ext cx="59055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8EF578-4119-4300-989A-26C9EFD1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123950"/>
            <a:ext cx="1186815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34C206-CA73-4287-8D45-3E0649AA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9375"/>
            <a:ext cx="12192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442002-8866-4433-93E9-D4E285EF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534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FFFFF"/>
                </a:solidFill>
                <a:latin typeface="Aptos"/>
                <a:ea typeface="Aptos"/>
                <a:cs typeface="Aptos"/>
              </a:rPr>
              <a:t>Tongji University Software College</a:t>
            </a:r>
          </a:p>
        </p:txBody>
      </p:sp>
    </p:spTree>
    <p:extLst>
      <p:ext uri="{BB962C8B-B14F-4D97-AF65-F5344CB8AC3E}">
        <p14:creationId xmlns:p14="http://schemas.microsoft.com/office/powerpoint/2010/main" val="15762634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060BE29-874D-430B-9E77-44BC72A4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SIGNUP COMPONENT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F0759DE-45F5-4E4F-9D1E-4E6E9BF8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Black-box design: equivalence classes + boundary values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34B4FF0-EA50-43B8-8109-F60D0E1E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D7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8EB508A-1230-496D-8AF1-7A8952D8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50DF56DF-6FCA-429E-B390-6698799D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183A59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9B8CE6B-A66E-4694-82AB-8196BA95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D5403B4-989E-4152-B194-CB7EC8C2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signup test cases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581D7B1F-0880-49EF-BEE9-252A4506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240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2489253-50ED-4DBB-B337-81175CDA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95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7D670B9-897B-40EF-B4DD-29CBE5E4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526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equivalence representatives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7140DF4-EB97-4AF7-B7AB-A63292F1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11430">
            <a:solidFill>
              <a:srgbClr val="F2A541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3B4B4D1-4AE7-40BD-896E-080BADE7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44CAA62-A3AB-459A-B100-C4747063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526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 boundary representatives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A89AA96-86F2-4C78-A01C-CB3D0F64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Single-fault assumption: one invalid condition is changed from a valid baseline while the other fields stay valid.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1B9275F-7379-41C9-9A99-02453297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6705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D797ED1-6317-45E8-9173-56654288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67050"/>
            <a:ext cx="3381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 classes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5978B6F-5F75-4060-8B2F-1FC633AC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67050"/>
            <a:ext cx="581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Invalid classes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1A5986B-DF28-4528-A4F4-E004B83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956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Username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C67004C-34D3-4283-A0F9-5005EEF9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95675"/>
            <a:ext cx="3381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ASCII, length 4-25, unique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99E63CA-3708-4B30-A590-FF97EBAC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495675"/>
            <a:ext cx="581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empty; &lt;4; &gt;25; non-ASCII; duplicate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6BCB06B-1CD9-4B22-AB32-C7C193B9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9B9AC7A-9A3B-4F90-839B-68539705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24300"/>
            <a:ext cx="3381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 format, length 6-50, unique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D23FE12-6F3A-4EB9-87EC-752E3DBB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924300"/>
            <a:ext cx="581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empty; bad format; &lt;6; &gt;50; duplicate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ADC5EF1-A4E5-42A7-9152-175AAD42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529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D94C215-D809-403D-9B35-370C5DD3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52925"/>
            <a:ext cx="3381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length &gt;= 8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89D742F-61FA-4206-9447-B7EEB6A3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352925"/>
            <a:ext cx="581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empty; length &lt; 8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DC0FEE7C-B332-4345-8775-50CCE72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03F53EC-ADF1-4638-BC7E-220BF0E7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81550"/>
            <a:ext cx="3381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same as password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FD9F57F-8659-4171-BC5F-18F4645D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81550"/>
            <a:ext cx="581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different from password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CF61704-6636-403C-B6AC-F809D789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67050"/>
            <a:ext cx="106203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16E5318-F986-4334-A5C6-15764A63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Field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2B6A5FA-56DC-470A-A16E-1B8E88F1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67350"/>
            <a:ext cx="8524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Boundary values used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1CC9F3E9-60C4-48A1-8AF6-C3DF1F1D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Username length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31311F0-E5C3-4E02-97B5-DE1776B3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72150"/>
            <a:ext cx="8524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3, 4, 5, 20, 24, 25, 26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9A5A2F0-C83F-40BE-B8B2-65CFD39C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769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Email length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0AF07A3-ED73-46EA-833B-C7419800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76950"/>
            <a:ext cx="8524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5, 6, 7, 28, 49, 50, 51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54D9A27-AC74-4D22-88A9-C868C02C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Password length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1C5AF43-3FC4-45B9-BE02-29A59A41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381750"/>
            <a:ext cx="8524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7, 8, 9, 15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F567E855-D531-4C09-9686-13DC35C9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10620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519D3F-0340-4304-B44B-8E66907A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"/>
            <a:ext cx="2971800" cy="6029325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FFAB10-CBCC-41DA-9C59-EDAE91BC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85750"/>
            <a:ext cx="59055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3A146C-3CCA-4EB2-876C-FA31944E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123950"/>
            <a:ext cx="1186815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06865F-F5D8-4A9E-BB81-8C71701B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9375"/>
            <a:ext cx="12192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0AF6F7-892F-4C5F-96C2-BBAA1C17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534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FFFFF"/>
                </a:solidFill>
                <a:latin typeface="Aptos"/>
                <a:ea typeface="Aptos"/>
                <a:cs typeface="Aptos"/>
              </a:rPr>
              <a:t>Tongji University Software College</a:t>
            </a:r>
          </a:p>
        </p:txBody>
      </p:sp>
    </p:spTree>
    <p:extLst>
      <p:ext uri="{BB962C8B-B14F-4D97-AF65-F5344CB8AC3E}">
        <p14:creationId xmlns:p14="http://schemas.microsoft.com/office/powerpoint/2010/main" val="1568618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222AE42-237D-4A9E-833A-E59584C3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SIGNUP EXECUTION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72AA7C5-057D-4304-AE2A-78FF6E25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Representative cases and observed results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FCD6D7F-728A-4A24-8FCF-1D354700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D7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B679AB9-067F-4F78-97C9-225C5723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CC7659B9-857A-44B9-9F1D-E58B4F6E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4948E0-23B2-4BD9-B542-28BEFEA5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D011B32-91E4-4052-AC21-26650BCC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1096E973-4260-47A1-B4C6-363F32CD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0495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C0392B"/>
          </a:solidFill>
          <a:ln xmlns:a="http://schemas.openxmlformats.org/drawingml/2006/main" w="11430">
            <a:solidFill>
              <a:srgbClr val="C0392B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3303F39-D641-4368-809F-BB9B51EF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7640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A49D253-9EB0-4712-A75A-E304AEDA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33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failed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3396E9D7-B27C-414A-99E0-055A1EDB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50495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5D6D7E"/>
          </a:solidFill>
          <a:ln xmlns:a="http://schemas.openxmlformats.org/drawingml/2006/main" w="11430">
            <a:solidFill>
              <a:srgbClr val="5D6D7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9E528E-3608-4C78-98D4-622B1441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E20569B-D7A4-4BDB-A4C4-10E7BD5A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33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errors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129EE65-49E4-4319-A3A7-FDD92459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90700"/>
            <a:ext cx="268033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 rate: 70.8%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5553FE-6C94-417C-A597-348B91E6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Signup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279B0FEA-E278-465A-B709-ABB8037A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19350"/>
            <a:ext cx="4381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FF5"/>
          </a:solidFill>
          <a:ln xmlns:a="http://schemas.openxmlformats.org/drawingml/2006/main" w="11430">
            <a:solidFill>
              <a:srgbClr val="EAEFF5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17DA35B-8000-48DE-B329-8D557C63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19350"/>
            <a:ext cx="31035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EC68BCF-C368-4388-8A9C-2935C236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563" y="2419350"/>
            <a:ext cx="12779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1430">
            <a:solidFill>
              <a:srgbClr val="C0392B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6F8ECF4-66C0-4924-A510-45F71206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098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17/24 passed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DCD75B2-2BEB-4E95-8AFE-EE106BF6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0B84078-6BF7-4969-9547-F6A35BC5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147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Focus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ADCDC18-9677-44D6-AA5B-4409B4C1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147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B8E470C-64D5-407F-968B-2364F624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147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Actual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3BEA3E0-FA4E-4984-951D-8E5E7159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BB-01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3C4A82C-19EA-4080-B8F9-A726EFC0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 representative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1BBD305-EAB0-432F-AC0B-A730FEF5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147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insert user + redirect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D1BFFE6-A135-4914-B401-3CACA537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E82CD02-380D-4B50-9932-17A2A6E9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148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BB-03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5EE2AE2-00A8-4BF9-BDD8-7AA426E0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username length 3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4B10CE6-49A1-4292-86B7-F9867901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148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reject + no insert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A832417-350D-492B-90E0-539743E7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148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inserted user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6FFC9C-EB17-4ACF-875A-C90E2AB0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BB-08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ADE60A9-4088-4EC6-8111-34F7EF8A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invalid email format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EFAEFA31-D602-472D-83E2-6515EEC3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148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reject + no insert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FC83F44-EEBB-4570-8E77-007F0F1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148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inserted user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FB2EEAB-DC09-4B46-8BE4-DE84845D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BB-12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BB6DAE2-7B76-407F-BB75-F0384FA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149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empty password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A182BCEC-CC4C-4C6F-99F8-99C1BBE7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reject + no insert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F7CAAAB-B062-4F97-B5B6-A9AC7576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49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inserted user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AE5339D-3E89-46D8-99C8-CF517102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BB-23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EE892BD-DC74-4BA4-A54E-850619BD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14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password length 8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C5D4DD0-2230-4DEB-B333-A96F1AB2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14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insert user + redirect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94DD080-C4E3-4637-9D1E-FD327320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3149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C794253-79B9-4A86-BEA0-D463E9F7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7620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4C32E167-63F3-406D-9571-8010A210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14700"/>
            <a:ext cx="27813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368B7BBF-B72A-40EC-88A5-772D389B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147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CA192F6-02C5-41CD-B709-CA0528E8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861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 asserted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2423065F-729F-4358-8162-30C549D6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2400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response.status_code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user count in isolated users DB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redirect after accepted signup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failed assertions as defect evidence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B309D2-0C0B-4EBD-95D0-5BF98E35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"/>
            <a:ext cx="2971800" cy="6029325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328514-9F7D-48EA-A993-D7201A53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85750"/>
            <a:ext cx="59055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1FA38D-2347-4C86-8857-B42DB3B0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123950"/>
            <a:ext cx="1186815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E29388-1374-4640-8D64-8970B4B4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9375"/>
            <a:ext cx="12192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5EAC53-EFD9-4E76-AB3B-1680CD8D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534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FFFFF"/>
                </a:solidFill>
                <a:latin typeface="Aptos"/>
                <a:ea typeface="Aptos"/>
                <a:cs typeface="Aptos"/>
              </a:rPr>
              <a:t>Tongji University Software College</a:t>
            </a:r>
          </a:p>
        </p:txBody>
      </p:sp>
    </p:spTree>
    <p:extLst>
      <p:ext uri="{BB962C8B-B14F-4D97-AF65-F5344CB8AC3E}">
        <p14:creationId xmlns:p14="http://schemas.microsoft.com/office/powerpoint/2010/main" val="4313523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8EAEA12-EF61-4A4B-8607-93949348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SIGNUP DEFECT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2E1206-6973-418B-B535-1FBB31FD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Invalid input was inserted into the users database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A990A8C-82ED-438B-BECC-2BD375AB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D7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F34054F-1457-49D2-8CE8-667EEB94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591AF7E2-4F90-467F-96DE-664F065E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FDED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039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392B"/>
                </a:solidFill>
                <a:latin typeface="Aptos"/>
                <a:ea typeface="Aptos"/>
                <a:cs typeface="Aptos"/>
              </a:rPr>
              <a:t>D-BB-01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24B4C1F-254B-4749-B5D3-6D998240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478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Signup backend does not enforce WTForms validation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700A00F-9D3B-4659-9586-6A0F70ED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Invalid input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short username / bad email / empty password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2641528A-5BA6-419F-906A-5DA49590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3365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Route creates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SignUpForm(request.form)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FED4B12C-ECAC-410C-8478-990FED18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5E1"/>
          </a:solidFill>
          <a:ln xmlns:a="http://schemas.openxmlformats.org/drawingml/2006/main" w="11430">
            <a:solidFill>
              <a:srgbClr val="F2A54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form.validate()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 called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7713FCD6-C2AC-4416-9F77-90D723B5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INSERT executes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 count becomes 1</a:t>
            </a:r>
          </a:p>
        </p:txBody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B2A3ACCB-3A21-4D2F-A7A6-68351AC8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A45BCCAF-5273-48A9-9725-8293DC54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7FA78C76-4902-49D4-A38D-41B463DE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241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C1536BAD-C447-4E77-8392-FCFDC65B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3143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2D7DADA-96FD-4909-AE59-2CEC7317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1430">
            <a:solidFill>
              <a:srgbClr val="C0392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100E826-FF56-44DF-8DE5-88B9F596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Observed evidence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C5B4BC1-0B23-4EE0-ACB2-5F9CB7D1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Seven negative signup cases expected no insertion, but DB assertions found one inserted user. Examples: BB-03, BB-04, BB-08, BB-09, BB-10, BB-12, BB-13.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FA16C879-110E-4305-8A95-CCF5E9A8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143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61624B5-F924-457F-8398-C2BE083D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11430">
            <a:solidFill>
              <a:srgbClr val="F2A541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CC0429F-85F8-4AA2-9300-6457A33C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624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Root cause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AB19EFC-A939-4C89-8B0A-34D44789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0535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WTForms validation rules exist in SignUpForm.py, but route-level processing does not consistently apply them before database insertion.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71B367E9-EF83-427C-8201-F8EEC1AD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3143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BC285F2-442F-4786-98EE-F82BBC57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A7BF5F-0C97-4097-B340-497069A4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624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B5B988F-FF74-4A75-ACA1-60A7F3DE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Call form.validate_on_submit()/form.validate() before inserting. Return the signup page and keep the users table unchanged when validation fails.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B11D9C-DF5A-4F59-9710-D6F1833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"/>
            <a:ext cx="2971800" cy="6029325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C7A88D-00E5-400A-A2FB-BC26B34F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85750"/>
            <a:ext cx="59055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254EE8-7F31-489F-B2E2-E2A11262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123950"/>
            <a:ext cx="1186815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C7F045-52A8-4825-81FB-B399BF6C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9375"/>
            <a:ext cx="12192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690C51-6642-4733-BA7E-234453F9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534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FFFFF"/>
                </a:solidFill>
                <a:latin typeface="Aptos"/>
                <a:ea typeface="Aptos"/>
                <a:cs typeface="Aptos"/>
              </a:rPr>
              <a:t>Tongji University Software College</a:t>
            </a:r>
          </a:p>
        </p:txBody>
      </p:sp>
    </p:spTree>
    <p:extLst>
      <p:ext uri="{BB962C8B-B14F-4D97-AF65-F5344CB8AC3E}">
        <p14:creationId xmlns:p14="http://schemas.microsoft.com/office/powerpoint/2010/main" val="10992286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2F5AD15-80D8-4831-ABCA-C8A45B97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POST COMPONENT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BE51225-0ACB-4267-AEBD-0DD62268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White-box design from post.py decision flow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6BD6F93-A241-4B63-A32D-32D544DF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D7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2F4E18E-0945-4C2D-8BCA-00FCC589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3E3D381-6E70-4CF4-A0C4-ADC707B1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The route is tested by feasible path coverage, because several decisions return immediately and cannot be combined into one request.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1423931C-EC09-4F16-A7C1-CD20331E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GET/POST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/post/&lt;urlID&gt;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BD07F582-8288-4670-BD0F-EEAAD73C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907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query posts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by urlID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28BF433C-538B-409E-8C8E-A3672D0B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43125"/>
            <a:ext cx="1333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exists?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B1A2A1F3-6DCD-413A-9921-A0E6A04C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1333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not-found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8DBF6E9-9DD4-4A61-805A-EA630473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slug correct?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72343436-CDE9-4308-B15B-C205B86F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83A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redirect to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canonical slug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8B2EE7B8-2C84-4562-BD2B-BF98B6A3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load post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+ views++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5FDE033E-F7DA-4DA7-8AB8-E59AE9E5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request method?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7BBB0DA9-4746-4066-BE92-E1A2DAB8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6250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5E1"/>
          </a:solidFill>
          <a:ln xmlns:a="http://schemas.openxmlformats.org/drawingml/2006/main" w="11430">
            <a:solidFill>
              <a:srgbClr val="F2A54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action: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delete / comment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5431B619-2D56-4196-9D26-756CA021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62500"/>
            <a:ext cx="1762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GET path: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comments + analytics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B175C8DF-412B-460F-9DD4-435DE3A7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76900"/>
            <a:ext cx="171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render post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or redirect</a:t>
            </a:r>
          </a:p>
        </p:txBody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4281BA8B-7E5D-4CA0-B6C7-4785DE3F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955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61D6F35F-23C7-4B57-A32E-90DB74C5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955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ABC248EA-93C2-4215-8788-9D3F6E04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955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EF7EEFFE-90D3-4EB7-B54F-4583F678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47975"/>
            <a:ext cx="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22" name="直接连接符 21">
            <a:extLst xmlns:a="http://schemas.openxmlformats.org/drawingml/2006/main">
              <a:ext uri="{FF2B5EF4-FFF2-40B4-BE49-F238E27FC236}">
                <a16:creationId xmlns:a16="http://schemas.microsoft.com/office/drawing/2014/main" id="{E906E79F-5F04-4DC1-AF8E-00442E10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801332EA-20B9-4135-B3FA-4BABDF3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A59"/>
            </a:solidFill>
            <a:prstDash val="solid"/>
          </a:ln>
        </p:spPr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5319AA27-C64A-405D-A4B1-A31DF86E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8003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13CBC7EF-B006-4B97-A9BC-4AFD6D01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943350"/>
            <a:ext cx="1095375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A541"/>
            </a:solidFill>
            <a:prstDash val="solid"/>
          </a:ln>
        </p:spPr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9AC4C2BE-D16B-4D55-AFC5-A4E78A84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43350"/>
            <a:ext cx="15240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8B57"/>
            </a:solidFill>
            <a:prstDash val="solid"/>
          </a:ln>
        </p:spPr>
      </p:sp>
      <p:sp>
        <p:nvSpPr>
          <p:cNvPr id="27" name="直接连接符 26">
            <a:extLst xmlns:a="http://schemas.openxmlformats.org/drawingml/2006/main">
              <a:ext uri="{FF2B5EF4-FFF2-40B4-BE49-F238E27FC236}">
                <a16:creationId xmlns:a16="http://schemas.microsoft.com/office/drawing/2014/main" id="{73AC473D-92D8-4879-95BC-CEC31E4A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29250"/>
            <a:ext cx="82867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4057B75-3E04-4E16-A12C-1B3CB3F0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29250"/>
            <a:ext cx="35052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78D24F48-0E51-49F7-A20B-95596E59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243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FDED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039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392B"/>
                </a:solidFill>
                <a:latin typeface="Aptos"/>
                <a:ea typeface="Aptos"/>
                <a:cs typeface="Aptos"/>
              </a:rPr>
              <a:t>WB-Post-01</a:t>
            </a: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629CC77C-2D4D-4373-9821-CE7FDAC8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EEF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83A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3A59"/>
                </a:solidFill>
                <a:latin typeface="Aptos"/>
                <a:ea typeface="Aptos"/>
                <a:cs typeface="Aptos"/>
              </a:rPr>
              <a:t>WB-Post-02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43163E90-FA40-49FE-811A-FCD533F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EA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WB-Post-03-10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64E405-DDB1-4959-A8EE-73B3E23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"/>
            <a:ext cx="2971800" cy="6029325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9E33DC-F32B-43A0-B502-58C933FC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85750"/>
            <a:ext cx="59055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64D619-D054-4F00-902E-523EA5FF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123950"/>
            <a:ext cx="1186815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BB3B51-20C4-4CB1-823D-36C431F1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9375"/>
            <a:ext cx="12192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D7FDB3-E810-49BA-9CEF-F1378E3C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534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FFFFF"/>
                </a:solidFill>
                <a:latin typeface="Aptos"/>
                <a:ea typeface="Aptos"/>
                <a:cs typeface="Aptos"/>
              </a:rPr>
              <a:t>Tongji University Software College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1E58F1-674C-46DD-A56F-8103BE0C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11049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C90540-B8C3-4020-9C58-7D2E8C7F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104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17D0A1-3762-4B7E-A0F3-BEB8FF90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GET/POST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/post/&lt;urlID&gt;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39E34A-4CF4-4C78-B8E7-D78079DE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907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query posts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by urlID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F30579-7B42-41C1-A464-D93C3E96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43125"/>
            <a:ext cx="1333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exists?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5F155C-0E19-4930-8221-3CFA8449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slug correct?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E6B954-70FE-4403-AB55-17F8B27C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load post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+ views++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79A3EF-A421-446A-998F-72E55D8E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955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BA2E63-0B2D-44DF-9607-C2D9ABD1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955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127A55-C0EE-4CFD-A3A3-F3B798D1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955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43D5F0-B255-4817-9FA3-A3F555D8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F15DD1-162A-4A17-9858-7A36383D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47975"/>
            <a:ext cx="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7DC8BF-B55D-4B5F-B341-70DBFEFC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1333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not-found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4A9912-6C0D-4262-A6F6-01BAECA1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243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039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392B"/>
                </a:solidFill>
                <a:latin typeface="Aptos"/>
                <a:ea typeface="Aptos"/>
                <a:cs typeface="Aptos"/>
              </a:rPr>
              <a:t>WB-Post-01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F5D0AD-5236-4F67-9066-5415E019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A5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6B0072-AE9C-4E5E-8CB5-A36F7703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83A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redirect to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canonical slug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F18523-00CC-43C9-ACE4-E95AFC71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3A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3A59"/>
                </a:solidFill>
                <a:latin typeface="Aptos"/>
                <a:ea typeface="Aptos"/>
                <a:cs typeface="Aptos"/>
              </a:rPr>
              <a:t>WB-Post-02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C60E76-BC5A-43A3-88C2-FCE41152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8003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DB8C27-F194-4CAD-91E3-06C4CAF4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request method?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77EA04-9489-4CDB-BDD9-23BE9A6E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6250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5E1"/>
          </a:solidFill>
          <a:ln xmlns:a="http://schemas.openxmlformats.org/drawingml/2006/main" w="11430">
            <a:solidFill>
              <a:srgbClr val="F2A54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action: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delete / comment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938783-B535-467F-9814-E2A97E05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62500"/>
            <a:ext cx="1762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GET path: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comments + analytics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D75E88-DFF0-4057-8063-0156CDBC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WB-Post-03-10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7D9776-E7E3-4346-A6FC-A25EFB4E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76900"/>
            <a:ext cx="171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render post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or redirect</a:t>
            </a:r>
          </a:p>
        </p:txBody>
      </p:sp>
    </p:spTree>
    <p:extLst>
      <p:ext uri="{BB962C8B-B14F-4D97-AF65-F5344CB8AC3E}">
        <p14:creationId xmlns:p14="http://schemas.microsoft.com/office/powerpoint/2010/main" val="6971913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FC964F0-C1BF-4491-BBBB-4FE7C921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POST EXECUTION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D80D3B0-53E2-4B11-88A5-1E96B218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Representative white-box cases and test outcomes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08C8411-ED32-4225-A5F9-717D5387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D7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44CEBCC-84C8-4105-9CD0-4C6A3B14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E4096C43-31B2-4B49-B835-C0FBEAD9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183A59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620DCB-D85B-45BE-9CDB-DB14F0A3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70CF6AA-A656-4B86-9BD1-9D3F4402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 test cases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2F0D49FD-12D3-4BC8-BDD1-7D334A04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0495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8B1AEC1-B25C-42DA-A610-163A66EC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7640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CA1E2DD-5784-41B2-A357-8B60FDF6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33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EC2E0B3E-AF01-456A-BE67-810AA863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50495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11430">
            <a:solidFill>
              <a:srgbClr val="F2A541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78361FF-5A07-4CAD-A906-BCDAEDD5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93D110B-C2E5-4FD1-A9B6-6733D4C9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33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errors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5CF4B65-E9C2-4F83-8CE2-6A1DB419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90700"/>
            <a:ext cx="278193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 rate: 80.0%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06CF404-09BA-4FCF-A7CD-A4D31092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9420662-DCA7-4331-BDD3-0B2048B6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19350"/>
            <a:ext cx="4381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FF5"/>
          </a:solidFill>
          <a:ln xmlns:a="http://schemas.openxmlformats.org/drawingml/2006/main" w="11430">
            <a:solidFill>
              <a:srgbClr val="EAEFF5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68317BC-0E1A-4CFA-A450-37608F5A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19350"/>
            <a:ext cx="350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226FA4E-290A-4C83-8698-71246018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193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11430">
            <a:solidFill>
              <a:srgbClr val="F2A541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1988C25-3EDC-47A2-B81A-E28C5443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098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8/10 passed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0735099-A01C-44D4-A8AE-F1BE97F2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3C41B30-9C84-4579-9578-BDC9AB08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956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Covered path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B65FB72-6EA2-42F0-B0E3-E5520387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3952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evidence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5F1E99F-78C6-481B-8163-46FE5DB5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956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AB4F7FE-2BD0-4987-8743-1F279771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WB-Post-01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E2D6C4F-149A-4D27-9F36-2B671371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195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missing post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295471-8AE2-4866-81A1-B87E137B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3952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notFound branch returns safely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0299C15-5BFF-4C1B-AEC6-B3963DCD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195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error: TypeError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4B14853-5DDE-4D2B-A5C5-B2F780F5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WB-Post-02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DD3C700-97C1-43DE-BF26-9161DB1B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missing/wrong slug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4D50F36-C78E-4F63-9958-67FDCE5A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3952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302 to canonical URL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49855E2-330B-4649-97A6-9A40D6D7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433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F3C3CDE-FE0F-4367-BF28-F4E73CDF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WB-Post-03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90BCFE9-BED4-4907-907E-F44AE4C6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 GET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EC9C4F1-ED02-4D26-97D4-E6949213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67200"/>
            <a:ext cx="3952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page + views increment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FAA8BCF-0C2C-4910-8539-B4A2B520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672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1371E5FE-2561-4C21-A81D-BCFC8A2E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WB-Post-06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628BEF1-FFD7-4232-91D5-E9D18BAD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logged-in comment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EE315400-BE2E-4554-AC1D-97B3392C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91050"/>
            <a:ext cx="3952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comment row inserted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61002C6-5698-4644-B46E-DCACE924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5910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7DF6678-8C39-41E6-AD7D-47123CF5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WB-Post-07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756B264-45D3-4818-874D-D4BEA67F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149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anonymous comment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EA83442-10C3-4163-8239-D67F85D6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14900"/>
            <a:ext cx="3952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safe rejection; no insert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E90F19E-1471-417A-8572-C7D496B5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149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error: KeyError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07C311C3-133A-45EB-95AE-1441A2F9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WB-Post-08/09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C97E2E03-8FF4-4BE8-AA7D-D4E1927E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387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analytics success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954C4F9B-5FF2-484D-A9A2-080A4C1F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38750"/>
            <a:ext cx="3952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analytics row inserted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93AE586-AE53-4041-8359-1BF791A8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387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93435743-A680-480E-90A9-5F368E53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WB-Post-10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4DF41BA-D3EE-416F-B0EB-0F99DED1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626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analytics failure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EAB27EDD-66DD-4C24-BDCA-52116CDB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62600"/>
            <a:ext cx="3952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page still returns; no row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04471C83-4614-4CC8-841D-F9387408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5626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F7812F46-B24C-465F-82BD-F0744EBB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1062037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054B01-D1C6-4F03-ACF0-B9E79665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"/>
            <a:ext cx="2971800" cy="6029325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8C2A9A-86F6-4284-8DCF-43386DC0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85750"/>
            <a:ext cx="59055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0E3D87-E091-4077-9925-687423F3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123950"/>
            <a:ext cx="1186815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152C37-B301-4186-A8E3-77D19DAA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9375"/>
            <a:ext cx="12192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886B4A-7A58-4332-9C65-03050583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534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FFFFF"/>
                </a:solidFill>
                <a:latin typeface="Aptos"/>
                <a:ea typeface="Aptos"/>
                <a:cs typeface="Aptos"/>
              </a:rPr>
              <a:t>Tongji University Software College</a:t>
            </a:r>
          </a:p>
        </p:txBody>
      </p:sp>
    </p:spTree>
    <p:extLst>
      <p:ext uri="{BB962C8B-B14F-4D97-AF65-F5344CB8AC3E}">
        <p14:creationId xmlns:p14="http://schemas.microsoft.com/office/powerpoint/2010/main" val="904614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59097A-0E8A-4461-BF3A-EF9C3D32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POST DEFECTS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403C570-96A1-45D4-BFF8-6A6F1B20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Unsafe optional data is used before guard checks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36ED81-D154-4B31-BD32-AB72AEB9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D7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32505E-DBA7-4DD2-8E5D-435F4D56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C506BC6E-FDC4-456E-84DB-BB4F73A0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FDED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039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392B"/>
                </a:solidFill>
                <a:latin typeface="Aptos"/>
                <a:ea typeface="Aptos"/>
                <a:cs typeface="Aptos"/>
              </a:rPr>
              <a:t>D-WB-02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5EBE7A4-0514-4E57-B242-CC439FED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FDED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039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392B"/>
                </a:solidFill>
                <a:latin typeface="Aptos"/>
                <a:ea typeface="Aptos"/>
                <a:cs typeface="Aptos"/>
              </a:rPr>
              <a:t>D-WB-03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A067E4A-A80E-4A02-AF7C-58C63FBA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Missing post URL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D224F12-8991-4778-BEC0-B37A783C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Anonymous comment submission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8AF4B09A-B05C-46E5-8D0C-F35AB598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" y="2667000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cursor.fetchone()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returns None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843EF61-4CE9-4FA3-A657-C0C79974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695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5E1"/>
          </a:solidFill>
          <a:ln xmlns:a="http://schemas.openxmlformats.org/drawingml/2006/main" w="11430">
            <a:solidFill>
              <a:srgbClr val="F2A54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str(urlID) in posts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9CDE6EBB-865E-4FBB-B398-0A0FEFCB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095" y="26670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TypeError before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notFound render</a:t>
            </a: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BE1C1B5-9D9B-41E1-8D95-3AFA9264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545" y="30289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D121D1CB-6B21-4DB3-8DF3-D15CB190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945" y="30289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A1E713DE-C1A6-46D7-A43C-D54BEEFD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comment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without login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CE304F3-464F-4D1D-86D6-167507D1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5E1"/>
          </a:solidFill>
          <a:ln xmlns:a="http://schemas.openxmlformats.org/drawingml/2006/main" w="11430">
            <a:solidFill>
              <a:srgbClr val="F2A54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uses session["userName"]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D1D59415-254F-42E1-873C-AFB88F48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0"/>
            <a:ext cx="11620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KeyError before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safe rejection</a:t>
            </a:r>
          </a:p>
        </p:txBody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3E89EB95-96D0-4EF1-B9AF-9F6B5D75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C1E587A9-FA85-4F44-9B32-5595BF07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289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09BC2619-8AC2-472F-BB0D-8F10E54E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356FCBF-2785-4477-9D17-BE9C90CB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1B8074A-2875-476B-8EA3-49E7C92B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Suggested improvement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1F440EA-A30E-4818-B0B4-EE7EE7A0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Check `posts is None` before membership/slug logic. If no matching row exists, render the not-found page directly.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5C5B0304-B145-44DC-A41B-86A1C5A9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910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CD2D37F-7D58-4211-A7C4-8D6142EB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910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0056A77-DD09-4412-AF55-B8DB12B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624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Suggested improvement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A9F6758-9955-4860-BD2F-2566127A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053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Before inserting a comment, check whether `userName` exists in session. Redirect to login or reject safely without inserting a row.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D88BFF-05E2-4270-B9D5-B29F4E97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"/>
            <a:ext cx="2971800" cy="6029325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B11B04-90FE-4D73-8FB0-59413CA9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85750"/>
            <a:ext cx="59055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CE2EFE-8DAC-4A0E-94F4-98F8E2E0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123950"/>
            <a:ext cx="1186815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D2DB70-3B11-499E-AD2C-B7DFE496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9375"/>
            <a:ext cx="12192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782F3B-1095-450A-A2C0-8B6C9CD6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534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FFFFF"/>
                </a:solidFill>
                <a:latin typeface="Aptos"/>
                <a:ea typeface="Aptos"/>
                <a:cs typeface="Aptos"/>
              </a:rPr>
              <a:t>Tongji University Software College</a:t>
            </a:r>
          </a:p>
        </p:txBody>
      </p:sp>
    </p:spTree>
    <p:extLst>
      <p:ext uri="{BB962C8B-B14F-4D97-AF65-F5344CB8AC3E}">
        <p14:creationId xmlns:p14="http://schemas.microsoft.com/office/powerpoint/2010/main" val="2663112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47CFBB8-EE9F-4B68-A3F6-E01FB2DA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E259FD1-C092-46E2-8C07-BF492691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Four route-level components tested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58A368-40A8-4492-B0ED-D3E72663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D7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D2E721-348D-46F5-BB3C-4A21F34B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6450F707-F4A5-4EC0-ABB2-810994F4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183A59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CAFF02-4E82-4422-BD00-A6123FDC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F770E48-6AF4-42C4-A15C-C8EB3DC9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 test cases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18817F11-9E40-4010-8596-F58B71D5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240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EFBC36B-624A-4C94-B0D5-538FF8FB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95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83F3C57-B7AA-4C72-99EF-E58386DE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526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3B36A342-F8D6-42E0-8F8A-F5246112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C0392B"/>
          </a:solidFill>
          <a:ln xmlns:a="http://schemas.openxmlformats.org/drawingml/2006/main" w="11430">
            <a:solidFill>
              <a:srgbClr val="C0392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BA6C88C-E708-49A5-8DA6-7CC36A09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CCCDD18-79B7-4468-A7D9-A7097098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526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failed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4DA4FCC3-03F1-43A4-8A8E-6C1CA62F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11430">
            <a:solidFill>
              <a:srgbClr val="F2A541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C9ABCB9-46C3-4950-9CFF-0CDE1562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59AEA8A-A05F-4EE4-BD13-224CCF8F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errors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993CA6-C258-4561-B6A8-12E98DD9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0A06BB7-424D-4F6D-8F3C-D63501EF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0040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Technique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D974908-4D7E-4334-84D0-91845480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004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0F135E5-8342-4E1C-A8CC-0AD42BBE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004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EEF4B42-2585-4213-AA98-70B8A104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004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Failed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23B0641-8D5D-4C33-9962-702E8150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004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Errors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90A2006-E57B-4691-9897-B0EAF4B6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9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evidence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F807819-4D2D-46CC-AB8C-B2960F7B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Signup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E54DE05-0E13-4042-A662-D15CE86B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0045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black-box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C886640-F4CB-4D8D-8340-661DB031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04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3F689D2-F846-40EE-987A-A0EEC2DB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04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A23EB87-C02B-48E4-8A36-6CE9FD93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004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9776D80-0FF1-4FB5-91E7-C6F9BBA6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004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B4C017C-3C87-4D67-8874-B3DE6E3F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status codes, redirects, users DB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D893C12-1627-4CA8-9E86-BC26FA1B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104612D-EA54-4DEA-8A3C-0EA73E4A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0050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black-box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D56A988-598D-46DD-8411-7E4216AA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E6D9CFFF-E45A-426E-BEB8-88E9AB21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005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4DF77D0-FC80-4294-B486-DD35A952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005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E49ABB0-1C9B-4EB3-BC80-AC777A37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91731FBD-E288-4920-8C34-68A7E193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status codes, Flask session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32C14914-1012-4D31-8E7F-D09C4169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CreatePost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DC7A0B45-34A2-46A9-8CEA-C9262824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0055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white-box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6D379F2-C98C-4005-B90E-0F8BB997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005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AD01E707-CB05-4A4B-B563-CD2FD713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005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12FE451-3F22-4A53-B277-15200E3D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005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2D8225B-65BC-4F1A-8A3C-62BAACA8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005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47863B7-EB3F-4644-BA7F-70899662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redirects, posts DB, TypeError defect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ED5F606A-CFFC-41A0-A0A9-0EB7B157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0060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2DCEA6E-BF0D-418A-AE0B-7F241E46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0060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white-box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AFC41FA7-922A-4730-9230-6CB2F52D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006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90AA594F-9353-4B59-AF3B-5A3845F6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006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942FFBB-2C19-4529-A1CD-E7BABE7E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006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E8D05F21-084D-446B-8C7C-C99524CD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006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9BED5113-2077-45A2-AAAE-AE699D03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views/comments/analytics DB, error traces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D11FBC27-86B8-411F-9C23-5D772036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10525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36CCE0FC-4A4F-4EA8-AC64-97A2F2B1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0858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DD6F140B-78F5-4462-9488-2A092273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 finding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EB06B43-25A2-4E14-8E9C-FF55B254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293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5" b="0">
                <a:solidFill>
                  <a:srgbClr val="5D6D7E"/>
                </a:solidFill>
                <a:latin typeface="Aptos"/>
                <a:ea typeface="Aptos"/>
                <a:cs typeface="Aptos"/>
              </a:defRPr>
            </a:pPr>
            <a:r>
              <a:rPr sz="1165" b="0">
                <a:solidFill>
                  <a:srgbClr val="5D6D7E"/>
                </a:solidFill>
                <a:latin typeface="Aptos"/>
                <a:ea typeface="Aptos"/>
                <a:cs typeface="Aptos"/>
              </a:rPr>
              <a:t>Route-level tests exposed missing validation in signup and missing guard checks before database writes or session access in post/create-post workflows.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592F53-D2E7-4C57-8B70-B39F0BBC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"/>
            <a:ext cx="2971800" cy="6029325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1FA5BE-A32D-4375-9C63-4C3600CC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85750"/>
            <a:ext cx="59055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0B7F04-3BC8-4BD5-97C1-F765D657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123950"/>
            <a:ext cx="1186815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4098A5-476C-4B67-B274-D588B0A0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9375"/>
            <a:ext cx="12192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C83564-AC4E-461E-8753-8E137C5E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534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FFFFF"/>
                </a:solidFill>
                <a:latin typeface="Aptos"/>
                <a:ea typeface="Aptos"/>
                <a:cs typeface="Aptos"/>
              </a:rPr>
              <a:t>Tongji University Software College</a:t>
            </a:r>
          </a:p>
        </p:txBody>
      </p:sp>
    </p:spTree>
    <p:extLst>
      <p:ext uri="{BB962C8B-B14F-4D97-AF65-F5344CB8AC3E}">
        <p14:creationId xmlns:p14="http://schemas.microsoft.com/office/powerpoint/2010/main" val="107550094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2026-06-16T03:42:23.7750000Z</dcterms:created>
  <dcterms:modified xsi:type="dcterms:W3CDTF">2026-06-16T03:42:23.7750000Z</dcterms:modified>
</coreProperties>
</file>
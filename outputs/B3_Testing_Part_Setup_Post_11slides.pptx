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image" Target="../media/image2.emf"/><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4" Type="http://schemas.openxmlformats.org/officeDocument/2006/relationships/image" Target="../media/image2.emf"/><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image" Target="../media/image2.emf"/><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image" Target="../media/image2.emf"/><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开头/结尾">
    <p:spTree>
      <p:nvGrpSpPr>
        <p:cNvPr id="1" name=""/>
        <p:cNvGrpSpPr/>
        <p:nvPr/>
      </p:nvGrpSpPr>
      <p:grpSpPr/>
      <p:pic>
        <p:nvPicPr>
          <p:cNvPr id="2" name="图片 10"/>
          <p:cNvPicPr>
            <a:picLocks noChangeAspect="1"/>
          </p:cNvPicPr>
          <p:nvPr/>
        </p:nvPicPr>
        <p:blipFill rotWithShape="1">
          <a:blip r:embed="rId2">
            <a:alphaModFix amt="20000"/>
          </a:blip>
          <a:srcRect t="13773"/>
          <a:stretch>
            <a:fillRect/>
          </a:stretch>
        </p:blipFill>
        <p:spPr>
          <a:xfrm>
            <a:off x="-1" y="0"/>
            <a:ext cx="12232294" cy="6857998"/>
          </a:xfrm>
          <a:prstGeom prst="rect">
            <a:avLst/>
          </a:prstGeom>
        </p:spPr>
      </p:pic>
      <p:sp>
        <p:nvSpPr>
          <p:cNvPr id="7" name="矩形 6"/>
          <p:cNvSpPr>
            <a:spLocks noGrp="1"/>
          </p:cNvSpPr>
          <p:nvPr/>
        </p:nvSpPr>
        <p:spPr>
          <a:xfrm>
            <a:off x="-2" y="150608"/>
            <a:ext cx="12192000" cy="6857999"/>
          </a:xfrm>
          <a:prstGeom prst="rect">
            <a:avLst/>
          </a:prstGeom>
          <a:gradFill>
            <a:gsLst>
              <a:gs pos="0">
                <a:schemeClr val="bg1">
                  <a:alpha val="90000"/>
                </a:schemeClr>
              </a:gs>
              <a:gs pos="100000">
                <a:schemeClr val="bg1">
                  <a:alpha val="70000"/>
                </a:schemeClr>
              </a:gs>
            </a:gsLst>
            <a:lin ang="5400000" scaled="1"/>
          </a:gradFill>
          <a:ln w="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9" name="任意多边形: 形状 7"/>
          <p:cNvSpPr>
            <a:spLocks noGrp="1"/>
          </p:cNvSpPr>
          <p:nvPr/>
        </p:nvSpPr>
        <p:spPr>
          <a:xfrm>
            <a:off x="-11595" y="1"/>
            <a:ext cx="12203590" cy="3777915"/>
          </a:xfrm>
          <a:custGeom>
            <a:avLst/>
            <a:gdLst/>
            <a:ahLst/>
            <a:cxnLst/>
            <a:rect l="l" t="t" r="r" b="b"/>
            <a:pathLst>
              <a:path w="12192000" h="3820891">
                <a:moveTo>
                  <a:pt x="0" y="0"/>
                </a:moveTo>
                <a:lnTo>
                  <a:pt x="12192000" y="0"/>
                </a:lnTo>
                <a:lnTo>
                  <a:pt x="12192000" y="2822842"/>
                </a:lnTo>
                <a:lnTo>
                  <a:pt x="11920340" y="2925857"/>
                </a:lnTo>
                <a:cubicBezTo>
                  <a:pt x="10382026" y="3481957"/>
                  <a:pt x="8338529" y="3820891"/>
                  <a:pt x="6096000" y="3820891"/>
                </a:cubicBezTo>
                <a:cubicBezTo>
                  <a:pt x="3853472" y="3820891"/>
                  <a:pt x="1809974" y="3481957"/>
                  <a:pt x="271660" y="2925857"/>
                </a:cubicBezTo>
                <a:lnTo>
                  <a:pt x="0" y="2822842"/>
                </a:lnTo>
                <a:close/>
              </a:path>
            </a:pathLst>
          </a:custGeom>
          <a:gradFill rotWithShape="1">
            <a:gsLst>
              <a:gs pos="0">
                <a:schemeClr val="accent1">
                  <a:alpha val="80000"/>
                </a:schemeClr>
              </a:gs>
              <a:gs pos="100000">
                <a:schemeClr val="accent1">
                  <a:lumMod val="75000"/>
                  <a:alpha val="8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anchor="ctr">
            <a:noAutofit/>
          </a:bodyPr>
          <a:lstStyle/>
          <a:p>
            <a:pPr algn="ctr">
              <a:buNone/>
            </a:pPr>
          </a:p>
        </p:txBody>
      </p:sp>
      <p:pic>
        <p:nvPicPr>
          <p:cNvPr id="10" name="Picture 56"/>
          <p:cNvPicPr>
            <a:picLocks noChangeAspect="1"/>
          </p:cNvPicPr>
          <p:nvPr/>
        </p:nvPicPr>
        <p:blipFill rotWithShape="1">
          <a:blip r:embed="rId3">
            <a:duotone>
              <a:schemeClr val="bg2">
                <a:shade val="45000"/>
                <a:satMod val="135000"/>
              </a:schemeClr>
              <a:prstClr val="white"/>
            </a:duotone>
            <a:lum bright="40000" contrast="-40000"/>
          </a:blip>
          <a:srcRect b="27571"/>
          <a:stretch>
            <a:fillRect/>
          </a:stretch>
        </p:blipFill>
        <p:spPr>
          <a:xfrm>
            <a:off x="3782466" y="1491745"/>
            <a:ext cx="4615467" cy="1392396"/>
          </a:xfrm>
          <a:prstGeom prst="rect">
            <a:avLst/>
          </a:prstGeom>
        </p:spPr>
      </p:pic>
      <p:sp>
        <p:nvSpPr>
          <p:cNvPr id="16" name="内容占位符 15"/>
          <p:cNvSpPr>
            <a:spLocks noGrp="1"/>
          </p:cNvSpPr>
          <p:nvPr>
            <p:ph idx="10" hasCustomPrompt="1"/>
          </p:nvPr>
        </p:nvSpPr>
        <p:spPr>
          <a:xfrm>
            <a:off x="1339750" y="4460684"/>
            <a:ext cx="9552791" cy="590550"/>
          </a:xfrm>
          <a:prstGeom prst="rect">
            <a:avLst/>
          </a:prstGeom>
        </p:spPr>
        <p:txBody>
          <a:bodyPr>
            <a:noAutofit/>
          </a:bodyPr>
          <a:lstStyle>
            <a:lvl1pPr marL="0" indent="0" algn="ctr">
              <a:buNone/>
              <a:defRPr sz="3600" b="1" i="0" spc="140">
                <a:solidFill>
                  <a:srgbClr val="4571C4"/>
                </a:solidFill>
                <a:latin typeface="Arial" panose="020B0604020202020204"/>
                <a:ea typeface="Arial" panose="020B0604020202020204"/>
                <a:cs typeface="Arial" panose="020B0604020202020204"/>
              </a:defRPr>
            </a:lvl1pPr>
          </a:lstStyle>
          <a:p>
            <a:pPr>
              <a:buNone/>
            </a:pPr>
            <a:r>
              <a:t>这里是你的论文标题</a:t>
            </a:r>
          </a:p>
        </p:txBody>
      </p:sp>
      <p:sp>
        <p:nvSpPr>
          <p:cNvPr id="17" name="内容占位符 15"/>
          <p:cNvSpPr>
            <a:spLocks noGrp="1"/>
          </p:cNvSpPr>
          <p:nvPr>
            <p:ph idx="11" hasCustomPrompt="1"/>
          </p:nvPr>
        </p:nvSpPr>
        <p:spPr>
          <a:xfrm>
            <a:off x="854123" y="5190094"/>
            <a:ext cx="10483750" cy="312831"/>
          </a:xfrm>
          <a:prstGeom prst="rect">
            <a:avLst/>
          </a:prstGeom>
        </p:spPr>
        <p:txBody>
          <a:bodyPr>
            <a:noAutofit/>
          </a:bodyPr>
          <a:lstStyle>
            <a:lvl1pPr marL="0" indent="0" algn="ctr">
              <a:lnSpc>
                <a:spcPct val="90000"/>
              </a:lnSpc>
              <a:spcBef>
                <a:spcPts val="1000"/>
              </a:spcBef>
              <a:buNone/>
              <a:defRPr sz="1800" b="1">
                <a:solidFill>
                  <a:srgbClr val="3F70C4"/>
                </a:solidFill>
                <a:latin typeface="Arial" panose="020B0604020202020204"/>
                <a:ea typeface="Arial" panose="020B0604020202020204"/>
                <a:cs typeface="Arial" panose="020B0604020202020204"/>
              </a:defRPr>
            </a:lvl1pPr>
          </a:lstStyle>
          <a:p>
            <a:pPr>
              <a:buNone/>
            </a:pPr>
            <a:r>
              <a:t>Here is the</a:t>
            </a:r>
            <a:r>
              <a:t> </a:t>
            </a:r>
            <a:r>
              <a:t>English name of your thesis</a:t>
            </a:r>
            <a:r>
              <a:t> </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p:sp>
        <p:nvSpPr>
          <p:cNvPr id="8" name="任意多边形: 形状 59"/>
          <p:cNvSpPr>
            <a:spLocks noGrp="1"/>
          </p:cNvSpPr>
          <p:nvPr/>
        </p:nvSpPr>
        <p:spPr>
          <a:xfrm flipH="1">
            <a:off x="0" y="-6692"/>
            <a:ext cx="12218637" cy="944537"/>
          </a:xfrm>
          <a:custGeom>
            <a:avLst/>
            <a:gdLst/>
            <a:ahLst/>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p>
        </p:txBody>
      </p:sp>
      <p:pic>
        <p:nvPicPr>
          <p:cNvPr id="9" name="Picture 56"/>
          <p:cNvPicPr>
            <a:picLocks noChangeAspect="1"/>
          </p:cNvPicPr>
          <p:nvPr/>
        </p:nvPicPr>
        <p:blipFill rotWithShape="1">
          <a:blip r:embed="rId2">
            <a:duotone>
              <a:schemeClr val="bg2">
                <a:shade val="45000"/>
                <a:satMod val="135000"/>
              </a:schemeClr>
              <a:prstClr val="white"/>
            </a:duotone>
            <a:lum bright="40000" contrast="-40000"/>
          </a:blip>
          <a:srcRect b="27571"/>
          <a:stretch>
            <a:fillRect/>
          </a:stretch>
        </p:blipFill>
        <p:spPr>
          <a:xfrm>
            <a:off x="9779933" y="101739"/>
            <a:ext cx="2412066" cy="727673"/>
          </a:xfrm>
          <a:prstGeom prst="rect">
            <a:avLst/>
          </a:prstGeom>
        </p:spPr>
      </p:pic>
      <p:sp>
        <p:nvSpPr>
          <p:cNvPr id="10" name="矩形 9"/>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11" name="图片 12"/>
          <p:cNvPicPr>
            <a:picLocks noChangeAspect="1"/>
          </p:cNvPicPr>
          <p:nvPr/>
        </p:nvPicPr>
        <p:blipFill rotWithShape="1">
          <a:blip r:embed="rId3">
            <a:alphaModFix amt="70000"/>
            <a:biLevel thresh="25000"/>
          </a:blip>
          <a:srcRect l="14490" t="16343" r="14599" b="10660"/>
          <a:stretch>
            <a:fillRect/>
          </a:stretch>
        </p:blipFill>
        <p:spPr>
          <a:xfrm>
            <a:off x="11604432" y="6383584"/>
            <a:ext cx="512911" cy="52799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小标题">
    <p:spTree>
      <p:nvGrpSpPr>
        <p:cNvPr id="1" name=""/>
        <p:cNvGrpSpPr/>
        <p:nvPr/>
      </p:nvGrpSpPr>
      <p:grpSpPr/>
      <p:pic>
        <p:nvPicPr>
          <p:cNvPr id="2" name="图片 25"/>
          <p:cNvPicPr>
            <a:picLocks noChangeAspect="1"/>
          </p:cNvPicPr>
          <p:nvPr/>
        </p:nvPicPr>
        <p:blipFill rotWithShape="1">
          <a:blip r:embed="rId2">
            <a:alphaModFix amt="8000"/>
          </a:blip>
          <a:srcRect t="13773"/>
          <a:stretch>
            <a:fillRect/>
          </a:stretch>
        </p:blipFill>
        <p:spPr>
          <a:xfrm>
            <a:off x="-1" y="-6693"/>
            <a:ext cx="12192001" cy="6823516"/>
          </a:xfrm>
          <a:prstGeom prst="rect">
            <a:avLst/>
          </a:prstGeom>
        </p:spPr>
      </p:pic>
      <p:sp>
        <p:nvSpPr>
          <p:cNvPr id="20" name="任意多边形: 形状 59"/>
          <p:cNvSpPr>
            <a:spLocks noGrp="1"/>
          </p:cNvSpPr>
          <p:nvPr/>
        </p:nvSpPr>
        <p:spPr>
          <a:xfrm flipH="1">
            <a:off x="0" y="-6692"/>
            <a:ext cx="12218637" cy="944537"/>
          </a:xfrm>
          <a:custGeom>
            <a:avLst/>
            <a:gdLst/>
            <a:ahLst/>
            <a:cxnLst/>
            <a:rect l="l" t="t" r="r" b="b"/>
            <a:pathLst>
              <a:path w="12192000" h="723900">
                <a:moveTo>
                  <a:pt x="12192000" y="0"/>
                </a:moveTo>
                <a:lnTo>
                  <a:pt x="2755900" y="0"/>
                </a:lnTo>
                <a:lnTo>
                  <a:pt x="4" y="0"/>
                </a:lnTo>
                <a:lnTo>
                  <a:pt x="0" y="0"/>
                </a:lnTo>
                <a:lnTo>
                  <a:pt x="0" y="723900"/>
                </a:lnTo>
                <a:lnTo>
                  <a:pt x="1987354" y="723900"/>
                </a:lnTo>
                <a:lnTo>
                  <a:pt x="2038350" y="717550"/>
                </a:lnTo>
                <a:cubicBezTo>
                  <a:pt x="2497291" y="642783"/>
                  <a:pt x="2432975" y="321492"/>
                  <a:pt x="2753650" y="288000"/>
                </a:cubicBezTo>
                <a:cubicBezTo>
                  <a:pt x="3074325" y="254508"/>
                  <a:pt x="9045883" y="288000"/>
                  <a:pt x="12192000" y="288000"/>
                </a:cubicBezTo>
                <a:close/>
              </a:path>
            </a:pathLst>
          </a:cu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anchor="ctr">
            <a:noAutofit/>
          </a:bodyPr>
          <a:lstStyle/>
          <a:p>
            <a:pPr algn="ctr">
              <a:buNone/>
            </a:pPr>
          </a:p>
        </p:txBody>
      </p:sp>
      <p:pic>
        <p:nvPicPr>
          <p:cNvPr id="21" name="Picture 56"/>
          <p:cNvPicPr>
            <a:picLocks noChangeAspect="1"/>
          </p:cNvPicPr>
          <p:nvPr/>
        </p:nvPicPr>
        <p:blipFill rotWithShape="1">
          <a:blip r:embed="rId3">
            <a:duotone>
              <a:schemeClr val="bg2">
                <a:shade val="45000"/>
                <a:satMod val="135000"/>
              </a:schemeClr>
              <a:prstClr val="white"/>
            </a:duotone>
            <a:lum bright="40000" contrast="-40000"/>
          </a:blip>
          <a:srcRect b="27571"/>
          <a:stretch>
            <a:fillRect/>
          </a:stretch>
        </p:blipFill>
        <p:spPr>
          <a:xfrm>
            <a:off x="9779933" y="101739"/>
            <a:ext cx="2412066" cy="727673"/>
          </a:xfrm>
          <a:prstGeom prst="rect">
            <a:avLst/>
          </a:prstGeom>
        </p:spPr>
      </p:pic>
      <p:sp>
        <p:nvSpPr>
          <p:cNvPr id="22" name="矩形 21"/>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3" name="矩形 22"/>
          <p:cNvSpPr>
            <a:spLocks noGrp="1"/>
          </p:cNvSpPr>
          <p:nvPr/>
        </p:nvSpPr>
        <p:spPr>
          <a:xfrm>
            <a:off x="112822" y="6530593"/>
            <a:ext cx="3856892" cy="286232"/>
          </a:xfrm>
          <a:prstGeom prst="rect">
            <a:avLst/>
          </a:prstGeom>
        </p:spPr>
        <p:txBody>
          <a:bodyPr wrap="square">
            <a:spAutoFit/>
          </a:bodyPr>
          <a:lstStyle/>
          <a:p>
            <a:pPr marL="0" indent="0" algn="l">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计算机科学与技术学院</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pic>
        <p:nvPicPr>
          <p:cNvPr id="24" name="图片 24"/>
          <p:cNvPicPr>
            <a:picLocks noChangeAspect="1"/>
          </p:cNvPicPr>
          <p:nvPr/>
        </p:nvPicPr>
        <p:blipFill rotWithShape="1">
          <a:blip r:embed="rId4">
            <a:alphaModFix amt="70000"/>
            <a:biLevel thresh="25000"/>
          </a:blip>
          <a:srcRect l="14490" t="16343" r="14599" b="10660"/>
          <a:stretch>
            <a:fillRect/>
          </a:stretch>
        </p:blipFill>
        <p:spPr>
          <a:xfrm>
            <a:off x="11604432" y="6383584"/>
            <a:ext cx="512911" cy="527997"/>
          </a:xfrm>
          <a:prstGeom prst="rect">
            <a:avLst/>
          </a:prstGeom>
        </p:spPr>
      </p:pic>
      <p:sp>
        <p:nvSpPr>
          <p:cNvPr id="28" name="直接连接符 60"/>
          <p:cNvSpPr>
            <a:spLocks noGrp="1"/>
          </p:cNvSpPr>
          <p:nvPr/>
        </p:nvSpPr>
        <p:spPr>
          <a:xfrm>
            <a:off x="4920183" y="1862466"/>
            <a:ext cx="0" cy="3053779"/>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sp>
      <p:sp>
        <p:nvSpPr>
          <p:cNvPr id="34" name="内容占位符 15"/>
          <p:cNvSpPr>
            <a:spLocks noGrp="1"/>
          </p:cNvSpPr>
          <p:nvPr>
            <p:ph idx="11" hasCustomPrompt="1"/>
          </p:nvPr>
        </p:nvSpPr>
        <p:spPr>
          <a:xfrm>
            <a:off x="5647764" y="2125856"/>
            <a:ext cx="4668814" cy="799185"/>
          </a:xfrm>
          <a:prstGeom prst="rect">
            <a:avLst/>
          </a:prstGeom>
        </p:spPr>
        <p:txBody>
          <a:bodyPr>
            <a:noAutofit/>
          </a:bodyPr>
          <a:lstStyle>
            <a:lvl1pPr marL="0" indent="0" algn="l">
              <a:buNone/>
              <a:defRPr sz="5400" b="1" i="0" spc="140">
                <a:solidFill>
                  <a:srgbClr val="4571C4"/>
                </a:solidFill>
                <a:latin typeface="Arial" panose="020B0604020202020204"/>
                <a:ea typeface="Arial" panose="020B0604020202020204"/>
                <a:cs typeface="Arial" panose="020B0604020202020204"/>
              </a:defRPr>
            </a:lvl1pPr>
          </a:lstStyle>
          <a:p>
            <a:pPr>
              <a:buNone/>
            </a:pPr>
            <a:r>
              <a:t>小标题小标题</a:t>
            </a:r>
          </a:p>
        </p:txBody>
      </p:sp>
      <p:sp>
        <p:nvSpPr>
          <p:cNvPr id="35" name="内容占位符 15"/>
          <p:cNvSpPr>
            <a:spLocks noGrp="1"/>
          </p:cNvSpPr>
          <p:nvPr>
            <p:ph idx="12" hasCustomPrompt="1"/>
          </p:nvPr>
        </p:nvSpPr>
        <p:spPr>
          <a:xfrm>
            <a:off x="5647763" y="3438083"/>
            <a:ext cx="4937651" cy="1905776"/>
          </a:xfrm>
          <a:prstGeom prst="rect">
            <a:avLst/>
          </a:prstGeom>
        </p:spPr>
        <p:txBody>
          <a:bodyPr>
            <a:noAutofit/>
          </a:bodyPr>
          <a:lstStyle>
            <a:lvl1pPr marL="405130" indent="-405130" algn="l">
              <a:buChar char="ü"/>
              <a:defRPr sz="2800" b="1" i="0" spc="140">
                <a:solidFill>
                  <a:srgbClr val="4571C4"/>
                </a:solidFill>
                <a:latin typeface="Arial" panose="020B0604020202020204"/>
                <a:ea typeface="Arial" panose="020B0604020202020204"/>
                <a:cs typeface="Arial" panose="020B0604020202020204"/>
              </a:defRPr>
            </a:lvl1pPr>
          </a:lstStyle>
          <a:p>
            <a:pPr>
              <a:buNone/>
            </a:pPr>
            <a:r>
              <a:t>第一个小小标题</a:t>
            </a:r>
          </a:p>
          <a:p>
            <a:pPr>
              <a:buNone/>
            </a:pPr>
            <a:r>
              <a:t>第二个小小标题</a:t>
            </a:r>
          </a:p>
          <a:p>
            <a:pPr>
              <a:buNone/>
            </a:pPr>
            <a:r>
              <a:t>第三个小小标题</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研究背景">
    <p:bg>
      <p:bgPr>
        <a:solidFill>
          <a:schemeClr val="bg1"/>
        </a:solidFill>
        <a:effectLst/>
      </p:bgPr>
    </p:bg>
    <p:spTree>
      <p:nvGrpSpPr>
        <p:cNvPr id="1" name=""/>
        <p:cNvGrpSpPr/>
        <p:nvPr/>
      </p:nvGrpSpPr>
      <p:grpSpPr/>
      <p:sp>
        <p:nvSpPr>
          <p:cNvPr id="21" name="矩形 20"/>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2" name="矩形 21"/>
          <p:cNvSpPr>
            <a:spLocks noGrp="1"/>
          </p:cNvSpPr>
          <p:nvPr/>
        </p:nvSpPr>
        <p:spPr>
          <a:xfrm>
            <a:off x="112822" y="6530593"/>
            <a:ext cx="3856892" cy="286232"/>
          </a:xfrm>
          <a:prstGeom prst="rect">
            <a:avLst/>
          </a:prstGeom>
        </p:spPr>
        <p:txBody>
          <a:bodyPr wrap="square">
            <a:spAutoFit/>
          </a:bodyPr>
          <a:lstStyle/>
          <a:p>
            <a:pPr marL="0" indent="0" algn="l">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计算机科学与技术学院</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pic>
        <p:nvPicPr>
          <p:cNvPr id="23" name="图片 23"/>
          <p:cNvPicPr>
            <a:picLocks noChangeAspect="1"/>
          </p:cNvPicPr>
          <p:nvPr/>
        </p:nvPicPr>
        <p:blipFill rotWithShape="1">
          <a:blip r:embed="rId2">
            <a:alphaModFix amt="70000"/>
            <a:biLevel thresh="25000"/>
          </a:blip>
          <a:srcRect l="14490" t="16343" r="14599" b="10660"/>
          <a:stretch>
            <a:fillRect/>
          </a:stretch>
        </p:blipFill>
        <p:spPr>
          <a:xfrm>
            <a:off x="11604432" y="6383584"/>
            <a:ext cx="512911" cy="527997"/>
          </a:xfrm>
          <a:prstGeom prst="rect">
            <a:avLst/>
          </a:prstGeom>
        </p:spPr>
      </p:pic>
      <p:pic>
        <p:nvPicPr>
          <p:cNvPr id="24" name="Picture 56"/>
          <p:cNvPicPr>
            <a:picLocks noChangeAspect="1"/>
          </p:cNvPicPr>
          <p:nvPr/>
        </p:nvPicPr>
        <p:blipFill rotWithShape="1">
          <a:blip r:embed="rId3">
            <a:alphaModFix amt="13000"/>
            <a:duotone>
              <a:schemeClr val="accent3">
                <a:shade val="45000"/>
                <a:satMod val="135000"/>
              </a:schemeClr>
              <a:prstClr val="white"/>
            </a:duotone>
            <a:lum bright="40000" contrast="-40000"/>
          </a:blip>
          <a:srcRect l="7855" t="10763" r="81917" b="39424"/>
          <a:stretch>
            <a:fillRect/>
          </a:stretch>
        </p:blipFill>
        <p:spPr>
          <a:xfrm>
            <a:off x="9219814" y="277078"/>
            <a:ext cx="2972185" cy="6029347"/>
          </a:xfrm>
          <a:prstGeom prst="rect">
            <a:avLst/>
          </a:prstGeom>
        </p:spPr>
      </p:pic>
      <p:sp>
        <p:nvSpPr>
          <p:cNvPr id="29" name="文本占位符 24"/>
          <p:cNvSpPr>
            <a:spLocks noGrp="1"/>
          </p:cNvSpPr>
          <p:nvPr>
            <p:ph type="body" idx="13" hasCustomPrompt="1"/>
          </p:nvPr>
        </p:nvSpPr>
        <p:spPr>
          <a:xfrm>
            <a:off x="178185" y="225909"/>
            <a:ext cx="4133801" cy="583059"/>
          </a:xfrm>
          <a:prstGeom prst="rect">
            <a:avLst/>
          </a:prstGeom>
        </p:spPr>
        <p:txBody>
          <a:bodyPr>
            <a:noAutofit/>
          </a:bodyPr>
          <a:lstStyle>
            <a:lvl1pPr>
              <a:buNone/>
              <a:defRPr sz="3600" b="1" i="0">
                <a:solidFill>
                  <a:srgbClr val="4372C4"/>
                </a:solidFill>
                <a:latin typeface="Arial" panose="020B0604020202020204"/>
                <a:ea typeface="Arial" panose="020B0604020202020204"/>
                <a:cs typeface="Arial" panose="020B0604020202020204"/>
              </a:defRPr>
            </a:lvl1pPr>
          </a:lstStyle>
          <a:p>
            <a:pPr marL="0" algn="l">
              <a:spcBef>
                <a:spcPts val="0"/>
              </a:spcBef>
              <a:spcAft>
                <a:spcPts val="0"/>
              </a:spcAft>
              <a:buNone/>
            </a:pPr>
            <a:r>
              <a:t>同济大学软件学院</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多视点三维重建">
    <p:spTree>
      <p:nvGrpSpPr>
        <p:cNvPr id="1" name=""/>
        <p:cNvGrpSpPr/>
        <p:nvPr/>
      </p:nvGrpSpPr>
      <p:grpSpPr/>
      <p:sp>
        <p:nvSpPr>
          <p:cNvPr id="15" name="矩形 14"/>
          <p:cNvSpPr>
            <a:spLocks noGrp="1"/>
          </p:cNvSpPr>
          <p:nvPr/>
        </p:nvSpPr>
        <p:spPr>
          <a:xfrm>
            <a:off x="-22073" y="0"/>
            <a:ext cx="198104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graphicFrame>
        <p:nvGraphicFramePr>
          <p:cNvPr id="16" name="表格 15"/>
          <p:cNvGraphicFramePr/>
          <p:nvPr/>
        </p:nvGraphicFramePr>
        <p:xfrm>
          <a:off x="-11035" y="1353710"/>
          <a:ext cx="1970006" cy="4408763"/>
        </p:xfrm>
        <a:graphic>
          <a:graphicData uri="http://schemas.openxmlformats.org/drawingml/2006/table">
            <a:tbl>
              <a:tblPr>
                <a:tableStyleId>{2D5ABB26-0587-4C30-8999-92F81FD0307C}</a:tableStyleId>
              </a:tblPr>
              <a:tblGrid>
                <a:gridCol w="1970006"/>
              </a:tblGrid>
              <a:tr h="876826">
                <a:tc>
                  <a:txBody>
                    <a:bodyPr/>
                    <a:lstStyle/>
                    <a:p>
                      <a:pPr algn="ctr">
                        <a:buNone/>
                      </a:pPr>
                      <a:r>
                        <a:t>研究背景</a:t>
                      </a: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多视点三维重建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无监督</a:t>
                      </a:r>
                      <a:endParaRPr sz="1800">
                        <a:solidFill>
                          <a:schemeClr val="tx1"/>
                        </a:solidFill>
                        <a:latin typeface="微软雅黑" panose="020B0503020204020204" charset="-122"/>
                        <a:ea typeface="微软雅黑" panose="020B0503020204020204" charset="-122"/>
                        <a:cs typeface="微软雅黑" panose="020B0503020204020204" charset="-122"/>
                      </a:endParaRPr>
                    </a:p>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深度学习构建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901459">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实验与成果</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总结与展望</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bl>
          </a:graphicData>
        </a:graphic>
      </p:graphicFrame>
      <p:pic>
        <p:nvPicPr>
          <p:cNvPr id="17" name="图片 19"/>
          <p:cNvPicPr>
            <a:picLocks noChangeAspect="1"/>
          </p:cNvPicPr>
          <p:nvPr/>
        </p:nvPicPr>
        <p:blipFill>
          <a:blip r:embed="rId2"/>
          <a:stretch>
            <a:fillRect/>
          </a:stretch>
        </p:blipFill>
        <p:spPr>
          <a:xfrm>
            <a:off x="452362" y="151120"/>
            <a:ext cx="1054249" cy="1058183"/>
          </a:xfrm>
          <a:prstGeom prst="rect">
            <a:avLst/>
          </a:prstGeom>
        </p:spPr>
      </p:pic>
      <p:sp>
        <p:nvSpPr>
          <p:cNvPr id="21" name="矩形 20"/>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2" name="矩形 21"/>
          <p:cNvSpPr>
            <a:spLocks noGrp="1"/>
          </p:cNvSpPr>
          <p:nvPr/>
        </p:nvSpPr>
        <p:spPr>
          <a:xfrm>
            <a:off x="112822" y="6530593"/>
            <a:ext cx="3856892" cy="286232"/>
          </a:xfrm>
          <a:prstGeom prst="rect">
            <a:avLst/>
          </a:prstGeom>
        </p:spPr>
        <p:txBody>
          <a:bodyPr wrap="square">
            <a:spAutoFit/>
          </a:bodyPr>
          <a:lstStyle/>
          <a:p>
            <a:pPr marL="0" indent="0" algn="l">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这里可以</a:t>
            </a: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是</a:t>
            </a: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你的论文标题</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pic>
        <p:nvPicPr>
          <p:cNvPr id="23" name="图片 23"/>
          <p:cNvPicPr>
            <a:picLocks noChangeAspect="1"/>
          </p:cNvPicPr>
          <p:nvPr/>
        </p:nvPicPr>
        <p:blipFill rotWithShape="1">
          <a:blip r:embed="rId3">
            <a:alphaModFix amt="70000"/>
            <a:biLevel thresh="25000"/>
          </a:blip>
          <a:srcRect l="14490" t="16343" r="14599" b="10660"/>
          <a:stretch>
            <a:fillRect/>
          </a:stretch>
        </p:blipFill>
        <p:spPr>
          <a:xfrm>
            <a:off x="11604432" y="6383584"/>
            <a:ext cx="512911" cy="527997"/>
          </a:xfrm>
          <a:prstGeom prst="rect">
            <a:avLst/>
          </a:prstGeom>
        </p:spPr>
      </p:pic>
      <p:sp>
        <p:nvSpPr>
          <p:cNvPr id="25" name="等腰三角形 9"/>
          <p:cNvSpPr>
            <a:spLocks noGrp="1"/>
          </p:cNvSpPr>
          <p:nvPr/>
        </p:nvSpPr>
        <p:spPr>
          <a:xfrm rot="16200000">
            <a:off x="1813599" y="2611430"/>
            <a:ext cx="144016" cy="144016"/>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26" name="Picture 56"/>
          <p:cNvPicPr>
            <a:picLocks noChangeAspect="1"/>
          </p:cNvPicPr>
          <p:nvPr/>
        </p:nvPicPr>
        <p:blipFill rotWithShape="1">
          <a:blip r:embed="rId4">
            <a:alphaModFix amt="13000"/>
            <a:duotone>
              <a:schemeClr val="accent3">
                <a:shade val="45000"/>
                <a:satMod val="135000"/>
              </a:schemeClr>
              <a:prstClr val="white"/>
            </a:duotone>
            <a:lum bright="40000" contrast="-40000"/>
          </a:blip>
          <a:srcRect l="7855" t="10763" r="81917" b="39424"/>
          <a:stretch>
            <a:fillRect/>
          </a:stretch>
        </p:blipFill>
        <p:spPr>
          <a:xfrm>
            <a:off x="9219814" y="277078"/>
            <a:ext cx="2972185" cy="6029347"/>
          </a:xfrm>
          <a:prstGeom prst="rect">
            <a:avLst/>
          </a:prstGeom>
        </p:spPr>
      </p:pic>
      <p:sp>
        <p:nvSpPr>
          <p:cNvPr id="2" name="矩形 1"/>
          <p:cNvSpPr>
            <a:spLocks noGrp="1"/>
          </p:cNvSpPr>
          <p:nvPr/>
        </p:nvSpPr>
        <p:spPr>
          <a:xfrm>
            <a:off x="9750790" y="6519075"/>
            <a:ext cx="1981044" cy="286232"/>
          </a:xfrm>
          <a:prstGeom prst="rect">
            <a:avLst/>
          </a:prstGeom>
        </p:spPr>
        <p:txBody>
          <a:bodyPr wrap="square">
            <a:spAutoFit/>
          </a:bodyPr>
          <a:lstStyle/>
          <a:p>
            <a:pPr marL="0" indent="0" algn="ctr">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本科毕业设计 张喆</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sp>
        <p:nvSpPr>
          <p:cNvPr id="3" name="五边形 2"/>
          <p:cNvSpPr>
            <a:spLocks noGrp="1"/>
          </p:cNvSpPr>
          <p:nvPr/>
        </p:nvSpPr>
        <p:spPr>
          <a:xfrm flipH="1">
            <a:off x="11416673" y="5802370"/>
            <a:ext cx="775326" cy="504056"/>
          </a:xfrm>
          <a:prstGeom prst="homePlate">
            <a:avLst/>
          </a:prstGeom>
          <a:gradFill rotWithShape="1">
            <a:gsLst>
              <a:gs pos="0">
                <a:srgbClr val="33599E"/>
              </a:gs>
              <a:gs pos="99000">
                <a:srgbClr val="2E5697"/>
              </a:gs>
            </a:gsLst>
            <a:lin ang="0" scaled="1"/>
            <a:tileRect/>
          </a:gradFill>
          <a:ln w="25400" cmpd="sng">
            <a:noFill/>
            <a:prstDash val="solid"/>
          </a:ln>
          <a:effectLst>
            <a:outerShdw blurRad="50800" dist="38100" dir="5400000" algn="t" rotWithShape="0">
              <a:prstClr val="black">
                <a:alpha val="40000"/>
              </a:prstClr>
            </a:outerShdw>
          </a:effectLst>
        </p:spPr>
        <p:txBody>
          <a:bodyPr rot="0" spcFirstLastPara="0" vert="horz" wrap="square" lIns="91440" tIns="45720" rIns="91440" bIns="45720" anchor="ctr">
            <a:noAutofit/>
          </a:bodyPr>
          <a:lstStyle/>
          <a:p>
            <a:pPr algn="ctr">
              <a:buNone/>
            </a:pPr>
            <a:fld id="{170C0C04-E408-48A9-82A4-3716296300DE}" type="slidenum">
              <a:rPr sz="1800">
                <a:solidFill>
                  <a:schemeClr val="bg1"/>
                </a:solidFill>
                <a:latin typeface="Arial Unicode MS"/>
                <a:ea typeface="Arial Unicode MS"/>
                <a:cs typeface="Arial Unicode MS"/>
              </a:rPr>
            </a:fld>
            <a:endParaRPr sz="1800">
              <a:solidFill>
                <a:schemeClr val="bg1"/>
              </a:solidFill>
              <a:latin typeface="Arial Unicode MS"/>
              <a:ea typeface="Arial Unicode MS"/>
              <a:cs typeface="Arial Unicode MS"/>
            </a:endParaRPr>
          </a:p>
        </p:txBody>
      </p:sp>
      <p:sp>
        <p:nvSpPr>
          <p:cNvPr id="34" name="文本占位符 24"/>
          <p:cNvSpPr>
            <a:spLocks noGrp="1"/>
          </p:cNvSpPr>
          <p:nvPr>
            <p:ph type="body" idx="13" hasCustomPrompt="1"/>
          </p:nvPr>
        </p:nvSpPr>
        <p:spPr>
          <a:xfrm>
            <a:off x="2215044" y="388681"/>
            <a:ext cx="4133801" cy="583059"/>
          </a:xfrm>
          <a:prstGeom prst="rect">
            <a:avLst/>
          </a:prstGeom>
        </p:spPr>
        <p:txBody>
          <a:bodyPr>
            <a:noAutofit/>
          </a:bodyPr>
          <a:lstStyle>
            <a:lvl1pPr>
              <a:buNone/>
              <a:defRPr sz="3600" b="1" i="0">
                <a:solidFill>
                  <a:srgbClr val="4372C4"/>
                </a:solidFill>
                <a:latin typeface="Arial" panose="020B0604020202020204"/>
                <a:ea typeface="Arial" panose="020B0604020202020204"/>
                <a:cs typeface="Arial" panose="020B0604020202020204"/>
              </a:defRPr>
            </a:lvl1pPr>
          </a:lstStyle>
          <a:p>
            <a:pPr marL="0" algn="l">
              <a:spcBef>
                <a:spcPts val="0"/>
              </a:spcBef>
              <a:spcAft>
                <a:spcPts val="0"/>
              </a:spcAft>
              <a:buNone/>
            </a:pPr>
            <a:r>
              <a:t>同济大学软件学院</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无监督深度学习构建">
    <p:spTree>
      <p:nvGrpSpPr>
        <p:cNvPr id="1" name=""/>
        <p:cNvGrpSpPr/>
        <p:nvPr/>
      </p:nvGrpSpPr>
      <p:grpSpPr/>
      <p:sp>
        <p:nvSpPr>
          <p:cNvPr id="15" name="矩形 14"/>
          <p:cNvSpPr>
            <a:spLocks noGrp="1"/>
          </p:cNvSpPr>
          <p:nvPr/>
        </p:nvSpPr>
        <p:spPr>
          <a:xfrm>
            <a:off x="-22073" y="0"/>
            <a:ext cx="198104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graphicFrame>
        <p:nvGraphicFramePr>
          <p:cNvPr id="16" name="表格 15"/>
          <p:cNvGraphicFramePr/>
          <p:nvPr/>
        </p:nvGraphicFramePr>
        <p:xfrm>
          <a:off x="-11035" y="1353710"/>
          <a:ext cx="1970006" cy="4408763"/>
        </p:xfrm>
        <a:graphic>
          <a:graphicData uri="http://schemas.openxmlformats.org/drawingml/2006/table">
            <a:tbl>
              <a:tblPr>
                <a:tableStyleId>{2D5ABB26-0587-4C30-8999-92F81FD0307C}</a:tableStyleId>
              </a:tblPr>
              <a:tblGrid>
                <a:gridCol w="1970006"/>
              </a:tblGrid>
              <a:tr h="876826">
                <a:tc>
                  <a:txBody>
                    <a:bodyPr/>
                    <a:lstStyle/>
                    <a:p>
                      <a:pPr algn="ctr">
                        <a:buNone/>
                      </a:pPr>
                      <a:r>
                        <a:t>研究背景</a:t>
                      </a: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多视点三维重建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无监督</a:t>
                      </a:r>
                      <a:endParaRPr sz="1800">
                        <a:solidFill>
                          <a:schemeClr val="tx1"/>
                        </a:solidFill>
                        <a:latin typeface="微软雅黑" panose="020B0503020204020204" charset="-122"/>
                        <a:ea typeface="微软雅黑" panose="020B0503020204020204" charset="-122"/>
                        <a:cs typeface="微软雅黑" panose="020B0503020204020204" charset="-122"/>
                      </a:endParaRPr>
                    </a:p>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深度学习构建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901459">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实验与成果</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总结与展望</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bl>
          </a:graphicData>
        </a:graphic>
      </p:graphicFrame>
      <p:pic>
        <p:nvPicPr>
          <p:cNvPr id="17" name="图片 19"/>
          <p:cNvPicPr>
            <a:picLocks noChangeAspect="1"/>
          </p:cNvPicPr>
          <p:nvPr/>
        </p:nvPicPr>
        <p:blipFill>
          <a:blip r:embed="rId2"/>
          <a:stretch>
            <a:fillRect/>
          </a:stretch>
        </p:blipFill>
        <p:spPr>
          <a:xfrm>
            <a:off x="452362" y="151120"/>
            <a:ext cx="1054249" cy="1058183"/>
          </a:xfrm>
          <a:prstGeom prst="rect">
            <a:avLst/>
          </a:prstGeom>
        </p:spPr>
      </p:pic>
      <p:sp>
        <p:nvSpPr>
          <p:cNvPr id="21" name="矩形 20"/>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2" name="矩形 21"/>
          <p:cNvSpPr>
            <a:spLocks noGrp="1"/>
          </p:cNvSpPr>
          <p:nvPr/>
        </p:nvSpPr>
        <p:spPr>
          <a:xfrm>
            <a:off x="112822" y="6530593"/>
            <a:ext cx="3856892" cy="286232"/>
          </a:xfrm>
          <a:prstGeom prst="rect">
            <a:avLst/>
          </a:prstGeom>
        </p:spPr>
        <p:txBody>
          <a:bodyPr wrap="square">
            <a:spAutoFit/>
          </a:bodyPr>
          <a:lstStyle/>
          <a:p>
            <a:pPr marL="0" indent="0" algn="l">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这里可以是你的论文标题</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pic>
        <p:nvPicPr>
          <p:cNvPr id="23" name="图片 23"/>
          <p:cNvPicPr>
            <a:picLocks noChangeAspect="1"/>
          </p:cNvPicPr>
          <p:nvPr/>
        </p:nvPicPr>
        <p:blipFill rotWithShape="1">
          <a:blip r:embed="rId3">
            <a:alphaModFix amt="70000"/>
            <a:biLevel thresh="25000"/>
          </a:blip>
          <a:srcRect l="14490" t="16343" r="14599" b="10660"/>
          <a:stretch>
            <a:fillRect/>
          </a:stretch>
        </p:blipFill>
        <p:spPr>
          <a:xfrm>
            <a:off x="11604432" y="6383584"/>
            <a:ext cx="512911" cy="527997"/>
          </a:xfrm>
          <a:prstGeom prst="rect">
            <a:avLst/>
          </a:prstGeom>
        </p:spPr>
      </p:pic>
      <p:sp>
        <p:nvSpPr>
          <p:cNvPr id="25" name="等腰三角形 9"/>
          <p:cNvSpPr>
            <a:spLocks noGrp="1"/>
          </p:cNvSpPr>
          <p:nvPr/>
        </p:nvSpPr>
        <p:spPr>
          <a:xfrm rot="16200000">
            <a:off x="1813599" y="3482801"/>
            <a:ext cx="144016" cy="144016"/>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26" name="Picture 56"/>
          <p:cNvPicPr>
            <a:picLocks noChangeAspect="1"/>
          </p:cNvPicPr>
          <p:nvPr/>
        </p:nvPicPr>
        <p:blipFill rotWithShape="1">
          <a:blip r:embed="rId4">
            <a:alphaModFix amt="13000"/>
            <a:duotone>
              <a:schemeClr val="accent3">
                <a:shade val="45000"/>
                <a:satMod val="135000"/>
              </a:schemeClr>
              <a:prstClr val="white"/>
            </a:duotone>
            <a:lum bright="40000" contrast="-40000"/>
          </a:blip>
          <a:srcRect l="7855" t="10763" r="81917" b="39424"/>
          <a:stretch>
            <a:fillRect/>
          </a:stretch>
        </p:blipFill>
        <p:spPr>
          <a:xfrm>
            <a:off x="9219814" y="277078"/>
            <a:ext cx="2972185" cy="6029347"/>
          </a:xfrm>
          <a:prstGeom prst="rect">
            <a:avLst/>
          </a:prstGeom>
        </p:spPr>
      </p:pic>
      <p:sp>
        <p:nvSpPr>
          <p:cNvPr id="2" name="矩形 1"/>
          <p:cNvSpPr>
            <a:spLocks noGrp="1"/>
          </p:cNvSpPr>
          <p:nvPr/>
        </p:nvSpPr>
        <p:spPr>
          <a:xfrm>
            <a:off x="9750790" y="6519075"/>
            <a:ext cx="1981044" cy="286232"/>
          </a:xfrm>
          <a:prstGeom prst="rect">
            <a:avLst/>
          </a:prstGeom>
        </p:spPr>
        <p:txBody>
          <a:bodyPr wrap="square">
            <a:spAutoFit/>
          </a:bodyPr>
          <a:lstStyle/>
          <a:p>
            <a:pPr marL="0" indent="0" algn="ctr">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本科毕业设计 张喆</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sp>
        <p:nvSpPr>
          <p:cNvPr id="3" name="五边形 2"/>
          <p:cNvSpPr>
            <a:spLocks noGrp="1"/>
          </p:cNvSpPr>
          <p:nvPr/>
        </p:nvSpPr>
        <p:spPr>
          <a:xfrm flipH="1">
            <a:off x="11416673" y="5802370"/>
            <a:ext cx="775326" cy="504056"/>
          </a:xfrm>
          <a:prstGeom prst="homePlate">
            <a:avLst/>
          </a:prstGeom>
          <a:gradFill rotWithShape="1">
            <a:gsLst>
              <a:gs pos="0">
                <a:srgbClr val="33599E"/>
              </a:gs>
              <a:gs pos="99000">
                <a:srgbClr val="2E5697"/>
              </a:gs>
            </a:gsLst>
            <a:lin ang="0" scaled="1"/>
            <a:tileRect/>
          </a:gradFill>
          <a:ln w="25400" cmpd="sng">
            <a:noFill/>
            <a:prstDash val="solid"/>
          </a:ln>
          <a:effectLst>
            <a:outerShdw blurRad="50800" dist="38100" dir="5400000" algn="t" rotWithShape="0">
              <a:prstClr val="black">
                <a:alpha val="40000"/>
              </a:prstClr>
            </a:outerShdw>
          </a:effectLst>
        </p:spPr>
        <p:txBody>
          <a:bodyPr rot="0" spcFirstLastPara="0" vert="horz" wrap="square" lIns="91440" tIns="45720" rIns="91440" bIns="45720" anchor="ctr">
            <a:noAutofit/>
          </a:bodyPr>
          <a:lstStyle/>
          <a:p>
            <a:pPr algn="ctr">
              <a:buNone/>
            </a:pPr>
            <a:fld id="{170C0C04-E408-48A9-82A4-3716296300DE}" type="slidenum">
              <a:rPr sz="1800">
                <a:solidFill>
                  <a:schemeClr val="bg1"/>
                </a:solidFill>
                <a:latin typeface="Arial Unicode MS"/>
                <a:ea typeface="Arial Unicode MS"/>
                <a:cs typeface="Arial Unicode MS"/>
              </a:rPr>
            </a:fld>
            <a:endParaRPr sz="1800">
              <a:solidFill>
                <a:schemeClr val="bg1"/>
              </a:solidFill>
              <a:latin typeface="Arial Unicode MS"/>
              <a:ea typeface="Arial Unicode MS"/>
              <a:cs typeface="Arial Unicode MS"/>
            </a:endParaRPr>
          </a:p>
        </p:txBody>
      </p:sp>
      <p:sp>
        <p:nvSpPr>
          <p:cNvPr id="34" name="文本占位符 24"/>
          <p:cNvSpPr>
            <a:spLocks noGrp="1"/>
          </p:cNvSpPr>
          <p:nvPr>
            <p:ph type="body" idx="13" hasCustomPrompt="1"/>
          </p:nvPr>
        </p:nvSpPr>
        <p:spPr>
          <a:xfrm>
            <a:off x="2215044" y="388681"/>
            <a:ext cx="4133801" cy="583059"/>
          </a:xfrm>
          <a:prstGeom prst="rect">
            <a:avLst/>
          </a:prstGeom>
        </p:spPr>
        <p:txBody>
          <a:bodyPr>
            <a:noAutofit/>
          </a:bodyPr>
          <a:lstStyle>
            <a:lvl1pPr>
              <a:buNone/>
              <a:defRPr sz="3600" b="1" i="0">
                <a:solidFill>
                  <a:srgbClr val="4372C4"/>
                </a:solidFill>
                <a:latin typeface="Arial" panose="020B0604020202020204"/>
                <a:ea typeface="Arial" panose="020B0604020202020204"/>
                <a:cs typeface="Arial" panose="020B0604020202020204"/>
              </a:defRPr>
            </a:lvl1pPr>
          </a:lstStyle>
          <a:p>
            <a:pPr marL="0" algn="l">
              <a:spcBef>
                <a:spcPts val="0"/>
              </a:spcBef>
              <a:spcAft>
                <a:spcPts val="0"/>
              </a:spcAft>
              <a:buNone/>
            </a:pPr>
            <a:r>
              <a:t>同济大学软件学院</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实验与成果">
    <p:spTree>
      <p:nvGrpSpPr>
        <p:cNvPr id="1" name=""/>
        <p:cNvGrpSpPr/>
        <p:nvPr/>
      </p:nvGrpSpPr>
      <p:grpSpPr/>
      <p:sp>
        <p:nvSpPr>
          <p:cNvPr id="15" name="矩形 14"/>
          <p:cNvSpPr>
            <a:spLocks noGrp="1"/>
          </p:cNvSpPr>
          <p:nvPr/>
        </p:nvSpPr>
        <p:spPr>
          <a:xfrm>
            <a:off x="-22073" y="0"/>
            <a:ext cx="198104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graphicFrame>
        <p:nvGraphicFramePr>
          <p:cNvPr id="16" name="表格 15"/>
          <p:cNvGraphicFramePr/>
          <p:nvPr/>
        </p:nvGraphicFramePr>
        <p:xfrm>
          <a:off x="-11035" y="1353710"/>
          <a:ext cx="1970006" cy="4408763"/>
        </p:xfrm>
        <a:graphic>
          <a:graphicData uri="http://schemas.openxmlformats.org/drawingml/2006/table">
            <a:tbl>
              <a:tblPr>
                <a:tableStyleId>{2D5ABB26-0587-4C30-8999-92F81FD0307C}</a:tableStyleId>
              </a:tblPr>
              <a:tblGrid>
                <a:gridCol w="1970006"/>
              </a:tblGrid>
              <a:tr h="876826">
                <a:tc>
                  <a:txBody>
                    <a:bodyPr/>
                    <a:lstStyle/>
                    <a:p>
                      <a:pPr algn="ctr">
                        <a:buNone/>
                      </a:pPr>
                      <a:r>
                        <a:t>研究背景</a:t>
                      </a: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多视点三维重建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无监督</a:t>
                      </a:r>
                      <a:endParaRPr sz="1800">
                        <a:solidFill>
                          <a:schemeClr val="tx1"/>
                        </a:solidFill>
                        <a:latin typeface="微软雅黑" panose="020B0503020204020204" charset="-122"/>
                        <a:ea typeface="微软雅黑" panose="020B0503020204020204" charset="-122"/>
                        <a:cs typeface="微软雅黑" panose="020B0503020204020204" charset="-122"/>
                      </a:endParaRPr>
                    </a:p>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深度学习构建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901459">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实验与成果</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总结与展望</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bl>
          </a:graphicData>
        </a:graphic>
      </p:graphicFrame>
      <p:pic>
        <p:nvPicPr>
          <p:cNvPr id="17" name="图片 19"/>
          <p:cNvPicPr>
            <a:picLocks noChangeAspect="1"/>
          </p:cNvPicPr>
          <p:nvPr/>
        </p:nvPicPr>
        <p:blipFill>
          <a:blip r:embed="rId2"/>
          <a:stretch>
            <a:fillRect/>
          </a:stretch>
        </p:blipFill>
        <p:spPr>
          <a:xfrm>
            <a:off x="452362" y="151120"/>
            <a:ext cx="1054249" cy="1058183"/>
          </a:xfrm>
          <a:prstGeom prst="rect">
            <a:avLst/>
          </a:prstGeom>
        </p:spPr>
      </p:pic>
      <p:sp>
        <p:nvSpPr>
          <p:cNvPr id="21" name="矩形 20"/>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2" name="矩形 21"/>
          <p:cNvSpPr>
            <a:spLocks noGrp="1"/>
          </p:cNvSpPr>
          <p:nvPr/>
        </p:nvSpPr>
        <p:spPr>
          <a:xfrm>
            <a:off x="112822" y="6530593"/>
            <a:ext cx="3856892" cy="286232"/>
          </a:xfrm>
          <a:prstGeom prst="rect">
            <a:avLst/>
          </a:prstGeom>
        </p:spPr>
        <p:txBody>
          <a:bodyPr wrap="square">
            <a:spAutoFit/>
          </a:bodyPr>
          <a:lstStyle/>
          <a:p>
            <a:pPr marL="0" indent="0" algn="l">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这里可以</a:t>
            </a: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是</a:t>
            </a: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你的论文标题</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pic>
        <p:nvPicPr>
          <p:cNvPr id="23" name="图片 23"/>
          <p:cNvPicPr>
            <a:picLocks noChangeAspect="1"/>
          </p:cNvPicPr>
          <p:nvPr/>
        </p:nvPicPr>
        <p:blipFill rotWithShape="1">
          <a:blip r:embed="rId3">
            <a:alphaModFix amt="70000"/>
            <a:biLevel thresh="25000"/>
          </a:blip>
          <a:srcRect l="14490" t="16343" r="14599" b="10660"/>
          <a:stretch>
            <a:fillRect/>
          </a:stretch>
        </p:blipFill>
        <p:spPr>
          <a:xfrm>
            <a:off x="11604432" y="6383584"/>
            <a:ext cx="512911" cy="527997"/>
          </a:xfrm>
          <a:prstGeom prst="rect">
            <a:avLst/>
          </a:prstGeom>
        </p:spPr>
      </p:pic>
      <p:sp>
        <p:nvSpPr>
          <p:cNvPr id="25" name="等腰三角形 9"/>
          <p:cNvSpPr>
            <a:spLocks noGrp="1"/>
          </p:cNvSpPr>
          <p:nvPr/>
        </p:nvSpPr>
        <p:spPr>
          <a:xfrm rot="16200000">
            <a:off x="1813599" y="4364930"/>
            <a:ext cx="144016" cy="144016"/>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26" name="Picture 56"/>
          <p:cNvPicPr>
            <a:picLocks noChangeAspect="1"/>
          </p:cNvPicPr>
          <p:nvPr/>
        </p:nvPicPr>
        <p:blipFill rotWithShape="1">
          <a:blip r:embed="rId4">
            <a:alphaModFix amt="13000"/>
            <a:duotone>
              <a:schemeClr val="accent3">
                <a:shade val="45000"/>
                <a:satMod val="135000"/>
              </a:schemeClr>
              <a:prstClr val="white"/>
            </a:duotone>
            <a:lum bright="40000" contrast="-40000"/>
          </a:blip>
          <a:srcRect l="7855" t="10763" r="81917" b="39424"/>
          <a:stretch>
            <a:fillRect/>
          </a:stretch>
        </p:blipFill>
        <p:spPr>
          <a:xfrm>
            <a:off x="9219814" y="277078"/>
            <a:ext cx="2972185" cy="6029347"/>
          </a:xfrm>
          <a:prstGeom prst="rect">
            <a:avLst/>
          </a:prstGeom>
        </p:spPr>
      </p:pic>
      <p:sp>
        <p:nvSpPr>
          <p:cNvPr id="2" name="矩形 1"/>
          <p:cNvSpPr>
            <a:spLocks noGrp="1"/>
          </p:cNvSpPr>
          <p:nvPr/>
        </p:nvSpPr>
        <p:spPr>
          <a:xfrm>
            <a:off x="9750790" y="6519075"/>
            <a:ext cx="1981044" cy="286232"/>
          </a:xfrm>
          <a:prstGeom prst="rect">
            <a:avLst/>
          </a:prstGeom>
        </p:spPr>
        <p:txBody>
          <a:bodyPr wrap="square">
            <a:spAutoFit/>
          </a:bodyPr>
          <a:lstStyle/>
          <a:p>
            <a:pPr marL="0" indent="0" algn="ctr">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本科毕业设计 张喆</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sp>
        <p:nvSpPr>
          <p:cNvPr id="3" name="五边形 2"/>
          <p:cNvSpPr>
            <a:spLocks noGrp="1"/>
          </p:cNvSpPr>
          <p:nvPr/>
        </p:nvSpPr>
        <p:spPr>
          <a:xfrm flipH="1">
            <a:off x="11416673" y="5802370"/>
            <a:ext cx="775326" cy="504056"/>
          </a:xfrm>
          <a:prstGeom prst="homePlate">
            <a:avLst/>
          </a:prstGeom>
          <a:gradFill rotWithShape="1">
            <a:gsLst>
              <a:gs pos="0">
                <a:srgbClr val="33599E"/>
              </a:gs>
              <a:gs pos="99000">
                <a:srgbClr val="2E5697"/>
              </a:gs>
            </a:gsLst>
            <a:lin ang="0" scaled="1"/>
            <a:tileRect/>
          </a:gradFill>
          <a:ln w="25400" cmpd="sng">
            <a:noFill/>
            <a:prstDash val="solid"/>
          </a:ln>
          <a:effectLst>
            <a:outerShdw blurRad="50800" dist="38100" dir="5400000" algn="t" rotWithShape="0">
              <a:prstClr val="black">
                <a:alpha val="40000"/>
              </a:prstClr>
            </a:outerShdw>
          </a:effectLst>
        </p:spPr>
        <p:txBody>
          <a:bodyPr rot="0" spcFirstLastPara="0" vert="horz" wrap="square" lIns="91440" tIns="45720" rIns="91440" bIns="45720" anchor="ctr">
            <a:noAutofit/>
          </a:bodyPr>
          <a:lstStyle/>
          <a:p>
            <a:pPr algn="ctr">
              <a:buNone/>
            </a:pPr>
            <a:fld id="{170C0C04-E408-48A9-82A4-3716296300DE}" type="slidenum">
              <a:rPr sz="1800">
                <a:solidFill>
                  <a:schemeClr val="bg1"/>
                </a:solidFill>
                <a:latin typeface="Arial Unicode MS"/>
                <a:ea typeface="Arial Unicode MS"/>
                <a:cs typeface="Arial Unicode MS"/>
              </a:rPr>
            </a:fld>
            <a:endParaRPr sz="1800">
              <a:solidFill>
                <a:schemeClr val="bg1"/>
              </a:solidFill>
              <a:latin typeface="Arial Unicode MS"/>
              <a:ea typeface="Arial Unicode MS"/>
              <a:cs typeface="Arial Unicode MS"/>
            </a:endParaRPr>
          </a:p>
        </p:txBody>
      </p:sp>
      <p:sp>
        <p:nvSpPr>
          <p:cNvPr id="34" name="文本占位符 24"/>
          <p:cNvSpPr>
            <a:spLocks noGrp="1"/>
          </p:cNvSpPr>
          <p:nvPr>
            <p:ph type="body" idx="13" hasCustomPrompt="1"/>
          </p:nvPr>
        </p:nvSpPr>
        <p:spPr>
          <a:xfrm>
            <a:off x="2215044" y="388681"/>
            <a:ext cx="4133801" cy="583059"/>
          </a:xfrm>
          <a:prstGeom prst="rect">
            <a:avLst/>
          </a:prstGeom>
        </p:spPr>
        <p:txBody>
          <a:bodyPr>
            <a:noAutofit/>
          </a:bodyPr>
          <a:lstStyle>
            <a:lvl1pPr>
              <a:buNone/>
              <a:defRPr sz="3600" b="1" i="0">
                <a:solidFill>
                  <a:srgbClr val="4372C4"/>
                </a:solidFill>
                <a:latin typeface="Arial" panose="020B0604020202020204"/>
                <a:ea typeface="Arial" panose="020B0604020202020204"/>
                <a:cs typeface="Arial" panose="020B0604020202020204"/>
              </a:defRPr>
            </a:lvl1pPr>
          </a:lstStyle>
          <a:p>
            <a:pPr marL="0" algn="l">
              <a:spcBef>
                <a:spcPts val="0"/>
              </a:spcBef>
              <a:spcAft>
                <a:spcPts val="0"/>
              </a:spcAft>
              <a:buNone/>
            </a:pPr>
            <a:r>
              <a:t>同济大学软件学院</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工作总结">
    <p:spTree>
      <p:nvGrpSpPr>
        <p:cNvPr id="1" name=""/>
        <p:cNvGrpSpPr/>
        <p:nvPr/>
      </p:nvGrpSpPr>
      <p:grpSpPr/>
      <p:sp>
        <p:nvSpPr>
          <p:cNvPr id="15" name="矩形 14"/>
          <p:cNvSpPr>
            <a:spLocks noGrp="1"/>
          </p:cNvSpPr>
          <p:nvPr/>
        </p:nvSpPr>
        <p:spPr>
          <a:xfrm>
            <a:off x="-22073" y="0"/>
            <a:ext cx="1981044"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graphicFrame>
        <p:nvGraphicFramePr>
          <p:cNvPr id="16" name="表格 15"/>
          <p:cNvGraphicFramePr/>
          <p:nvPr/>
        </p:nvGraphicFramePr>
        <p:xfrm>
          <a:off x="-11035" y="1353710"/>
          <a:ext cx="1970006" cy="4408763"/>
        </p:xfrm>
        <a:graphic>
          <a:graphicData uri="http://schemas.openxmlformats.org/drawingml/2006/table">
            <a:tbl>
              <a:tblPr>
                <a:tableStyleId>{2D5ABB26-0587-4C30-8999-92F81FD0307C}</a:tableStyleId>
              </a:tblPr>
              <a:tblGrid>
                <a:gridCol w="1970006"/>
              </a:tblGrid>
              <a:tr h="876826">
                <a:tc>
                  <a:txBody>
                    <a:bodyPr/>
                    <a:lstStyle/>
                    <a:p>
                      <a:pPr algn="ctr">
                        <a:buNone/>
                      </a:pPr>
                      <a:r>
                        <a:t>研究背景</a:t>
                      </a: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多视点三维重建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无监督</a:t>
                      </a:r>
                      <a:endParaRPr sz="1800">
                        <a:solidFill>
                          <a:schemeClr val="tx1"/>
                        </a:solidFill>
                        <a:latin typeface="微软雅黑" panose="020B0503020204020204" charset="-122"/>
                        <a:ea typeface="微软雅黑" panose="020B0503020204020204" charset="-122"/>
                        <a:cs typeface="微软雅黑" panose="020B0503020204020204" charset="-122"/>
                      </a:endParaRPr>
                    </a:p>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深度学习构建</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901459">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实验与成果</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r h="876826">
                <a:tc>
                  <a:txBody>
                    <a:bodyPr/>
                    <a:lstStyle/>
                    <a:p>
                      <a:pPr algn="ctr">
                        <a:buNone/>
                      </a:pPr>
                      <a:r>
                        <a:rPr sz="1800">
                          <a:solidFill>
                            <a:schemeClr val="tx1"/>
                          </a:solidFill>
                          <a:latin typeface="微软雅黑" panose="020B0503020204020204" charset="-122"/>
                          <a:ea typeface="微软雅黑" panose="020B0503020204020204" charset="-122"/>
                          <a:cs typeface="微软雅黑" panose="020B0503020204020204" charset="-122"/>
                        </a:rPr>
                        <a:t>工作总结</a:t>
                      </a:r>
                      <a:endParaRPr sz="1800">
                        <a:solidFill>
                          <a:schemeClr val="tx1"/>
                        </a:solidFill>
                        <a:latin typeface="微软雅黑" panose="020B0503020204020204" charset="-122"/>
                        <a:ea typeface="微软雅黑" panose="020B0503020204020204" charset="-122"/>
                        <a:cs typeface="微软雅黑" panose="020B0503020204020204" charset="-122"/>
                      </a:endParaRPr>
                    </a:p>
                  </a:txBody>
                  <a:tcPr anchor="ctr">
                    <a:lnL w="12700" cmpd="sng">
                      <a:noFill/>
                      <a:prstDash val="solid"/>
                    </a:lnL>
                    <a:lnR w="12700" cmpd="sng">
                      <a:noFill/>
                      <a:prstDash val="solid"/>
                    </a:lnR>
                    <a:lnT w="12700" cmpd="sng">
                      <a:solidFill>
                        <a:schemeClr val="bg1">
                          <a:lumMod val="75000"/>
                        </a:schemeClr>
                      </a:solidFill>
                      <a:prstDash val="solid"/>
                    </a:lnT>
                    <a:lnB w="12700" cmpd="sng">
                      <a:solidFill>
                        <a:schemeClr val="bg1">
                          <a:lumMod val="75000"/>
                        </a:schemeClr>
                      </a:solidFill>
                      <a:prstDash val="solid"/>
                    </a:lnB>
                  </a:tcPr>
                </a:tc>
              </a:tr>
            </a:tbl>
          </a:graphicData>
        </a:graphic>
      </p:graphicFrame>
      <p:pic>
        <p:nvPicPr>
          <p:cNvPr id="17" name="图片 19"/>
          <p:cNvPicPr>
            <a:picLocks noChangeAspect="1"/>
          </p:cNvPicPr>
          <p:nvPr/>
        </p:nvPicPr>
        <p:blipFill>
          <a:blip r:embed="rId2"/>
          <a:stretch>
            <a:fillRect/>
          </a:stretch>
        </p:blipFill>
        <p:spPr>
          <a:xfrm>
            <a:off x="452362" y="151120"/>
            <a:ext cx="1054249" cy="1058183"/>
          </a:xfrm>
          <a:prstGeom prst="rect">
            <a:avLst/>
          </a:prstGeom>
        </p:spPr>
      </p:pic>
      <p:sp>
        <p:nvSpPr>
          <p:cNvPr id="21" name="矩形 20"/>
          <p:cNvSpPr>
            <a:spLocks noGrp="1"/>
          </p:cNvSpPr>
          <p:nvPr/>
        </p:nvSpPr>
        <p:spPr>
          <a:xfrm>
            <a:off x="0" y="6435969"/>
            <a:ext cx="12191999" cy="422029"/>
          </a:xfrm>
          <a:prstGeom prst="rect">
            <a:avLst/>
          </a:prstGeom>
          <a:gradFill>
            <a:gsLst>
              <a:gs pos="0">
                <a:schemeClr val="accent1"/>
              </a:gs>
              <a:gs pos="100000">
                <a:schemeClr val="accent1">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sp>
        <p:nvSpPr>
          <p:cNvPr id="22" name="矩形 21"/>
          <p:cNvSpPr>
            <a:spLocks noGrp="1"/>
          </p:cNvSpPr>
          <p:nvPr/>
        </p:nvSpPr>
        <p:spPr>
          <a:xfrm>
            <a:off x="112822" y="6530593"/>
            <a:ext cx="3856892" cy="286232"/>
          </a:xfrm>
          <a:prstGeom prst="rect">
            <a:avLst/>
          </a:prstGeom>
        </p:spPr>
        <p:txBody>
          <a:bodyPr wrap="square">
            <a:spAutoFit/>
          </a:bodyPr>
          <a:lstStyle/>
          <a:p>
            <a:pPr marL="0" indent="0" algn="l">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这里可以</a:t>
            </a: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是</a:t>
            </a: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你的论文标题</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pic>
        <p:nvPicPr>
          <p:cNvPr id="23" name="图片 23"/>
          <p:cNvPicPr>
            <a:picLocks noChangeAspect="1"/>
          </p:cNvPicPr>
          <p:nvPr/>
        </p:nvPicPr>
        <p:blipFill rotWithShape="1">
          <a:blip r:embed="rId3">
            <a:alphaModFix amt="70000"/>
            <a:biLevel thresh="25000"/>
          </a:blip>
          <a:srcRect l="14490" t="16343" r="14599" b="10660"/>
          <a:stretch>
            <a:fillRect/>
          </a:stretch>
        </p:blipFill>
        <p:spPr>
          <a:xfrm>
            <a:off x="11604432" y="6383584"/>
            <a:ext cx="512911" cy="527997"/>
          </a:xfrm>
          <a:prstGeom prst="rect">
            <a:avLst/>
          </a:prstGeom>
        </p:spPr>
      </p:pic>
      <p:sp>
        <p:nvSpPr>
          <p:cNvPr id="25" name="等腰三角形 9"/>
          <p:cNvSpPr>
            <a:spLocks noGrp="1"/>
          </p:cNvSpPr>
          <p:nvPr/>
        </p:nvSpPr>
        <p:spPr>
          <a:xfrm rot="16200000">
            <a:off x="1813599" y="5253260"/>
            <a:ext cx="144016" cy="144016"/>
          </a:xfrm>
          <a:prstGeom prst="triangle">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p>
        </p:txBody>
      </p:sp>
      <p:pic>
        <p:nvPicPr>
          <p:cNvPr id="26" name="Picture 56"/>
          <p:cNvPicPr>
            <a:picLocks noChangeAspect="1"/>
          </p:cNvPicPr>
          <p:nvPr/>
        </p:nvPicPr>
        <p:blipFill rotWithShape="1">
          <a:blip r:embed="rId4">
            <a:alphaModFix amt="13000"/>
            <a:duotone>
              <a:schemeClr val="accent3">
                <a:shade val="45000"/>
                <a:satMod val="135000"/>
              </a:schemeClr>
              <a:prstClr val="white"/>
            </a:duotone>
            <a:lum bright="40000" contrast="-40000"/>
          </a:blip>
          <a:srcRect l="7855" t="10763" r="81917" b="39424"/>
          <a:stretch>
            <a:fillRect/>
          </a:stretch>
        </p:blipFill>
        <p:spPr>
          <a:xfrm>
            <a:off x="9219814" y="277078"/>
            <a:ext cx="2972185" cy="6029347"/>
          </a:xfrm>
          <a:prstGeom prst="rect">
            <a:avLst/>
          </a:prstGeom>
        </p:spPr>
      </p:pic>
      <p:sp>
        <p:nvSpPr>
          <p:cNvPr id="2" name="矩形 1"/>
          <p:cNvSpPr>
            <a:spLocks noGrp="1"/>
          </p:cNvSpPr>
          <p:nvPr/>
        </p:nvSpPr>
        <p:spPr>
          <a:xfrm>
            <a:off x="9750790" y="6519075"/>
            <a:ext cx="1981044" cy="286232"/>
          </a:xfrm>
          <a:prstGeom prst="rect">
            <a:avLst/>
          </a:prstGeom>
        </p:spPr>
        <p:txBody>
          <a:bodyPr wrap="square">
            <a:spAutoFit/>
          </a:bodyPr>
          <a:lstStyle/>
          <a:p>
            <a:pPr marL="0" indent="0" algn="ctr">
              <a:lnSpc>
                <a:spcPct val="90000"/>
              </a:lnSpc>
              <a:spcBef>
                <a:spcPts val="750"/>
              </a:spcBef>
              <a:spcAft>
                <a:spcPts val="0"/>
              </a:spcAft>
              <a:buNone/>
            </a:pPr>
            <a:r>
              <a:rPr sz="1400" b="0" i="0" spc="130">
                <a:solidFill>
                  <a:srgbClr val="FFFFFF"/>
                </a:solidFill>
                <a:latin typeface="微软雅黑 Light" panose="020B0502040204020203" charset="-122"/>
                <a:ea typeface="微软雅黑 Light" panose="020B0502040204020203" charset="-122"/>
                <a:cs typeface="微软雅黑 Light" panose="020B0502040204020203" charset="-122"/>
              </a:rPr>
              <a:t>本科毕业设计 张喆</a:t>
            </a:r>
            <a:endParaRPr sz="1400" b="0" i="0" spc="130">
              <a:solidFill>
                <a:srgbClr val="FFFFFF"/>
              </a:solidFill>
              <a:latin typeface="微软雅黑 Light" panose="020B0502040204020203" charset="-122"/>
              <a:ea typeface="微软雅黑 Light" panose="020B0502040204020203" charset="-122"/>
              <a:cs typeface="微软雅黑 Light" panose="020B0502040204020203" charset="-122"/>
            </a:endParaRPr>
          </a:p>
        </p:txBody>
      </p:sp>
      <p:sp>
        <p:nvSpPr>
          <p:cNvPr id="3" name="五边形 2"/>
          <p:cNvSpPr>
            <a:spLocks noGrp="1"/>
          </p:cNvSpPr>
          <p:nvPr/>
        </p:nvSpPr>
        <p:spPr>
          <a:xfrm flipH="1">
            <a:off x="11416673" y="5802370"/>
            <a:ext cx="775326" cy="504056"/>
          </a:xfrm>
          <a:prstGeom prst="homePlate">
            <a:avLst/>
          </a:prstGeom>
          <a:gradFill rotWithShape="1">
            <a:gsLst>
              <a:gs pos="0">
                <a:srgbClr val="33599E"/>
              </a:gs>
              <a:gs pos="99000">
                <a:srgbClr val="2E5697"/>
              </a:gs>
            </a:gsLst>
            <a:lin ang="0" scaled="1"/>
            <a:tileRect/>
          </a:gradFill>
          <a:ln w="25400" cmpd="sng">
            <a:noFill/>
            <a:prstDash val="solid"/>
          </a:ln>
          <a:effectLst>
            <a:outerShdw blurRad="50800" dist="38100" dir="5400000" algn="t" rotWithShape="0">
              <a:prstClr val="black">
                <a:alpha val="40000"/>
              </a:prstClr>
            </a:outerShdw>
          </a:effectLst>
        </p:spPr>
        <p:txBody>
          <a:bodyPr rot="0" spcFirstLastPara="0" vert="horz" wrap="square" lIns="91440" tIns="45720" rIns="91440" bIns="45720" anchor="ctr">
            <a:noAutofit/>
          </a:bodyPr>
          <a:lstStyle/>
          <a:p>
            <a:pPr algn="ctr">
              <a:buNone/>
            </a:pPr>
            <a:fld id="{170C0C04-E408-48A9-82A4-3716296300DE}" type="slidenum">
              <a:rPr sz="1800">
                <a:solidFill>
                  <a:schemeClr val="bg1"/>
                </a:solidFill>
                <a:latin typeface="Arial Unicode MS"/>
                <a:ea typeface="Arial Unicode MS"/>
                <a:cs typeface="Arial Unicode MS"/>
              </a:rPr>
            </a:fld>
            <a:endParaRPr sz="1800">
              <a:solidFill>
                <a:schemeClr val="bg1"/>
              </a:solidFill>
              <a:latin typeface="Arial Unicode MS"/>
              <a:ea typeface="Arial Unicode MS"/>
              <a:cs typeface="Arial Unicode MS"/>
            </a:endParaRPr>
          </a:p>
        </p:txBody>
      </p:sp>
      <p:sp>
        <p:nvSpPr>
          <p:cNvPr id="34" name="文本占位符 24"/>
          <p:cNvSpPr>
            <a:spLocks noGrp="1"/>
          </p:cNvSpPr>
          <p:nvPr>
            <p:ph type="body" idx="13" hasCustomPrompt="1"/>
          </p:nvPr>
        </p:nvSpPr>
        <p:spPr>
          <a:xfrm>
            <a:off x="2215044" y="388681"/>
            <a:ext cx="4133801" cy="583059"/>
          </a:xfrm>
          <a:prstGeom prst="rect">
            <a:avLst/>
          </a:prstGeom>
        </p:spPr>
        <p:txBody>
          <a:bodyPr>
            <a:noAutofit/>
          </a:bodyPr>
          <a:lstStyle>
            <a:lvl1pPr>
              <a:buNone/>
              <a:defRPr sz="3600" b="1" i="0">
                <a:solidFill>
                  <a:srgbClr val="4372C4"/>
                </a:solidFill>
                <a:latin typeface="Arial" panose="020B0604020202020204"/>
                <a:ea typeface="Arial" panose="020B0604020202020204"/>
                <a:cs typeface="Arial" panose="020B0604020202020204"/>
              </a:defRPr>
            </a:lvl1pPr>
          </a:lstStyle>
          <a:p>
            <a:pPr marL="0" algn="l">
              <a:spcBef>
                <a:spcPts val="0"/>
              </a:spcBef>
              <a:spcAft>
                <a:spcPts val="0"/>
              </a:spcAft>
              <a:buNone/>
            </a:pPr>
            <a:r>
              <a:t>同济大学软件学院</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关于模板">
    <p:spTree>
      <p:nvGrpSpPr>
        <p:cNvPr id="1" name=""/>
        <p:cNvGrpSpPr/>
        <p:nvPr/>
      </p:nvGrpSpPr>
      <p:grpSpPr/>
      <p:pic>
        <p:nvPicPr>
          <p:cNvPr id="2" name="图片 4"/>
          <p:cNvPicPr>
            <a:picLocks noChangeAspect="1"/>
          </p:cNvPicPr>
          <p:nvPr/>
        </p:nvPicPr>
        <p:blipFill>
          <a:blip r:embed="rId2"/>
          <a:stretch>
            <a:fillRect/>
          </a:stretch>
        </p:blipFill>
        <p:spPr>
          <a:xfrm>
            <a:off x="62686" y="21712"/>
            <a:ext cx="864499" cy="789325"/>
          </a:xfrm>
          <a:prstGeom prst="rect">
            <a:avLst/>
          </a:prstGeom>
        </p:spPr>
      </p:pic>
      <p:sp>
        <p:nvSpPr>
          <p:cNvPr id="7" name="内容占位符 6"/>
          <p:cNvSpPr>
            <a:spLocks noGrp="1"/>
          </p:cNvSpPr>
          <p:nvPr>
            <p:ph idx="10" hasCustomPrompt="1"/>
          </p:nvPr>
        </p:nvSpPr>
        <p:spPr>
          <a:xfrm>
            <a:off x="927185" y="214048"/>
            <a:ext cx="1807873" cy="404652"/>
          </a:xfrm>
          <a:prstGeom prst="rect">
            <a:avLst/>
          </a:prstGeom>
        </p:spPr>
        <p:txBody>
          <a:bodyPr/>
          <a:lstStyle>
            <a:lvl1pPr marL="0" indent="0" algn="l">
              <a:lnSpc>
                <a:spcPct val="100000"/>
              </a:lnSpc>
              <a:spcBef>
                <a:spcPts val="0"/>
              </a:spcBef>
              <a:spcAft>
                <a:spcPts val="0"/>
              </a:spcAft>
              <a:buNone/>
              <a:defRPr sz="2000" b="1" spc="110">
                <a:solidFill>
                  <a:srgbClr val="005BAC"/>
                </a:solidFill>
                <a:latin typeface="微软雅黑" panose="020B0503020204020204" charset="-122"/>
                <a:ea typeface="微软雅黑" panose="020B0503020204020204" charset="-122"/>
                <a:cs typeface="微软雅黑" panose="020B0503020204020204" charset="-122"/>
              </a:defRPr>
            </a:lvl1pPr>
          </a:lstStyle>
          <a:p>
            <a:pPr marL="0" indent="0" algn="l">
              <a:lnSpc>
                <a:spcPct val="100000"/>
              </a:lnSpc>
              <a:spcBef>
                <a:spcPts val="0"/>
              </a:spcBef>
              <a:spcAft>
                <a:spcPts val="0"/>
              </a:spcAft>
              <a:buNone/>
            </a:pPr>
            <a:r>
              <a:rPr sz="2000" b="1" i="0" u="none" cap="none" spc="110">
                <a:ln>
                  <a:noFill/>
                </a:ln>
                <a:solidFill>
                  <a:srgbClr val="005BAC"/>
                </a:solidFill>
                <a:latin typeface="微软雅黑" panose="020B0503020204020204" charset="-122"/>
                <a:ea typeface="微软雅黑" panose="020B0503020204020204" charset="-122"/>
                <a:cs typeface="微软雅黑" panose="020B0503020204020204" charset="-122"/>
              </a:rPr>
              <a:t>资源和示例</a:t>
            </a:r>
            <a:endParaRPr sz="2000" b="1" i="0" u="none" cap="none" spc="110">
              <a:ln>
                <a:noFill/>
              </a:ln>
              <a:solidFill>
                <a:srgbClr val="005BAC"/>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0"/>
          </p:nvPr>
        </p:nvSpPr>
        <p:spPr>
          <a:xfrm>
            <a:off x="364017" y="4028608"/>
            <a:ext cx="11463953" cy="1806707"/>
          </a:xfrm>
        </p:spPr>
        <p:txBody>
          <a:bodyPr/>
          <a:lstStyle/>
          <a:p>
            <a:pPr>
              <a:defRPr sz="2100" b="1">
                <a:solidFill>
                  <a:srgbClr val="111111"/>
                </a:solidFill>
                <a:latin typeface="Arial" panose="020B0604020202020204"/>
                <a:ea typeface="Arial" panose="020B0604020202020204"/>
                <a:cs typeface="Arial" panose="020B0604020202020204"/>
              </a:defRPr>
            </a:pPr>
            <a:r>
              <a:rPr sz="2100" b="1">
                <a:solidFill>
                  <a:srgbClr val="111111"/>
                </a:solidFill>
                <a:latin typeface="Arial" panose="020B0604020202020204"/>
                <a:ea typeface="Arial" panose="020B0604020202020204"/>
                <a:cs typeface="Arial" panose="020B0604020202020204"/>
              </a:rPr>
              <a:t>Component Testing for FlaskBlog</a:t>
            </a:r>
            <a:endParaRPr sz="2100" b="1">
              <a:solidFill>
                <a:srgbClr val="111111"/>
              </a:solidFill>
              <a:latin typeface="Arial" panose="020B0604020202020204"/>
              <a:ea typeface="Arial" panose="020B0604020202020204"/>
              <a:cs typeface="Arial" panose="020B0604020202020204"/>
            </a:endParaRPr>
          </a:p>
          <a:p>
            <a:pPr>
              <a:lnSpc>
                <a:spcPct val="150000"/>
              </a:lnSpc>
              <a:buNone/>
              <a:defRPr sz="2100" b="1">
                <a:solidFill>
                  <a:srgbClr val="111111"/>
                </a:solidFill>
                <a:latin typeface="Arial" panose="020B0604020202020204"/>
                <a:ea typeface="Arial" panose="020B0604020202020204"/>
                <a:cs typeface="Arial" panose="020B0604020202020204"/>
              </a:defRPr>
            </a:pPr>
            <a:r>
              <a:rPr sz="2100" b="1">
                <a:solidFill>
                  <a:srgbClr val="111111"/>
                </a:solidFill>
                <a:latin typeface="Arial" panose="020B0604020202020204"/>
                <a:ea typeface="Arial" panose="020B0604020202020204"/>
                <a:cs typeface="Arial" panose="020B0604020202020204"/>
              </a:rPr>
              <a:t>Setup and Post Workflows</a:t>
            </a:r>
            <a:endParaRPr sz="2100" b="1">
              <a:solidFill>
                <a:srgbClr val="111111"/>
              </a:solidFill>
              <a:latin typeface="Arial" panose="020B0604020202020204"/>
              <a:ea typeface="Arial" panose="020B0604020202020204"/>
              <a:cs typeface="Arial" panose="020B0604020202020204"/>
            </a:endParaRPr>
          </a:p>
          <a:p>
            <a:pPr>
              <a:defRPr sz="2100" b="1">
                <a:solidFill>
                  <a:srgbClr val="111111"/>
                </a:solidFill>
                <a:latin typeface="Arial" panose="020B0604020202020204"/>
                <a:ea typeface="Arial" panose="020B0604020202020204"/>
                <a:cs typeface="Arial" panose="020B0604020202020204"/>
              </a:defRPr>
            </a:pPr>
            <a:r>
              <a:rPr sz="2100" b="1">
                <a:solidFill>
                  <a:srgbClr val="111111"/>
                </a:solidFill>
                <a:latin typeface="Arial" panose="020B0604020202020204"/>
                <a:ea typeface="Arial" panose="020B0604020202020204"/>
                <a:cs typeface="Arial" panose="020B0604020202020204"/>
              </a:rPr>
              <a:t>Assignment B3 | Software Testing</a:t>
            </a:r>
            <a:endParaRPr sz="2100" b="1">
              <a:solidFill>
                <a:srgbClr val="111111"/>
              </a:solidFill>
              <a:latin typeface="Arial" panose="020B0604020202020204"/>
              <a:ea typeface="Arial" panose="020B0604020202020204"/>
              <a:cs typeface="Arial" panose="020B0604020202020204"/>
            </a:endParaRPr>
          </a:p>
        </p:txBody>
      </p:sp>
      <p:sp>
        <p:nvSpPr>
          <p:cNvPr id="4" name="矩形 3"/>
          <p:cNvSpPr>
            <a:spLocks noGrp="1"/>
          </p:cNvSpPr>
          <p:nvPr/>
        </p:nvSpPr>
        <p:spPr>
          <a:xfrm>
            <a:off x="3933681" y="6221314"/>
            <a:ext cx="4324637" cy="383032"/>
          </a:xfrm>
          <a:prstGeom prst="rect">
            <a:avLst/>
          </a:prstGeom>
        </p:spPr>
        <p:txBody>
          <a:bodyPr wrap="square">
            <a:spAutoFit/>
          </a:bodyPr>
          <a:lstStyle/>
          <a:p>
            <a:pPr algn="ctr">
              <a:lnSpc>
                <a:spcPct val="90000"/>
              </a:lnSpc>
              <a:spcBef>
                <a:spcPts val="1000"/>
              </a:spcBef>
              <a:buNone/>
              <a:defRPr sz="1125">
                <a:solidFill>
                  <a:srgbClr val="333333"/>
                </a:solidFill>
                <a:latin typeface="Arial" panose="020B0604020202020204"/>
                <a:ea typeface="Arial" panose="020B0604020202020204"/>
                <a:cs typeface="Arial" panose="020B0604020202020204"/>
              </a:defRPr>
            </a:pPr>
            <a:r>
              <a:rPr sz="1125">
                <a:solidFill>
                  <a:srgbClr val="333333"/>
                </a:solidFill>
                <a:latin typeface="Arial" panose="020B0604020202020204"/>
                <a:ea typeface="Arial" panose="020B0604020202020204"/>
                <a:cs typeface="Arial" panose="020B0604020202020204"/>
              </a:rPr>
              <a:t>Testing Part | 8 body slides</a:t>
            </a:r>
            <a:endParaRPr sz="1125">
              <a:solidFill>
                <a:srgbClr val="333333"/>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1"/>
          </p:nvPr>
        </p:nvSpPr>
        <p:spPr>
          <a:xfrm>
            <a:off x="5361288" y="1483684"/>
            <a:ext cx="6520125" cy="3982961"/>
          </a:xfrm>
        </p:spPr>
        <p:txBody>
          <a:bodyPr/>
          <a:lstStyle/>
          <a:p>
            <a:pPr marL="914400" indent="-914400">
              <a:lnSpc>
                <a:spcPct val="150000"/>
              </a:lnSpc>
              <a:buAutoNum type="circleNumDbPlain"/>
              <a:defRPr sz="1950">
                <a:solidFill>
                  <a:srgbClr val="111111"/>
                </a:solidFill>
                <a:latin typeface="Arial" panose="020B0604020202020204"/>
                <a:ea typeface="Arial" panose="020B0604020202020204"/>
                <a:cs typeface="Arial" panose="020B0604020202020204"/>
              </a:defRPr>
            </a:pPr>
            <a:r>
              <a:rPr sz="1950">
                <a:solidFill>
                  <a:srgbClr val="111111"/>
                </a:solidFill>
                <a:latin typeface="Arial" panose="020B0604020202020204"/>
                <a:ea typeface="Arial" panose="020B0604020202020204"/>
                <a:cs typeface="Arial" panose="020B0604020202020204"/>
              </a:rPr>
              <a:t>1. Scope and risk link</a:t>
            </a:r>
            <a:endParaRPr sz="1950">
              <a:solidFill>
                <a:srgbClr val="111111"/>
              </a:solidFill>
              <a:latin typeface="Arial" panose="020B0604020202020204"/>
              <a:ea typeface="Arial" panose="020B0604020202020204"/>
              <a:cs typeface="Arial" panose="020B0604020202020204"/>
            </a:endParaRPr>
          </a:p>
          <a:p>
            <a:pPr marL="914400" indent="-914400">
              <a:lnSpc>
                <a:spcPct val="150000"/>
              </a:lnSpc>
              <a:buAutoNum type="circleNumDbPlain"/>
              <a:defRPr sz="1950">
                <a:solidFill>
                  <a:srgbClr val="111111"/>
                </a:solidFill>
                <a:latin typeface="Arial" panose="020B0604020202020204"/>
                <a:ea typeface="Arial" panose="020B0604020202020204"/>
                <a:cs typeface="Arial" panose="020B0604020202020204"/>
              </a:defRPr>
            </a:pPr>
            <a:r>
              <a:rPr sz="1950">
                <a:solidFill>
                  <a:srgbClr val="111111"/>
                </a:solidFill>
                <a:latin typeface="Arial" panose="020B0604020202020204"/>
                <a:ea typeface="Arial" panose="020B0604020202020204"/>
                <a:cs typeface="Arial" panose="020B0604020202020204"/>
              </a:rPr>
              <a:t>2. Setup: black-box design</a:t>
            </a:r>
            <a:endParaRPr sz="1950">
              <a:solidFill>
                <a:srgbClr val="111111"/>
              </a:solidFill>
              <a:latin typeface="Arial" panose="020B0604020202020204"/>
              <a:ea typeface="Arial" panose="020B0604020202020204"/>
              <a:cs typeface="Arial" panose="020B0604020202020204"/>
            </a:endParaRPr>
          </a:p>
          <a:p>
            <a:pPr marL="914400" indent="-914400">
              <a:lnSpc>
                <a:spcPct val="150000"/>
              </a:lnSpc>
              <a:buAutoNum type="circleNumDbPlain"/>
              <a:defRPr sz="1950">
                <a:solidFill>
                  <a:srgbClr val="111111"/>
                </a:solidFill>
                <a:latin typeface="Arial" panose="020B0604020202020204"/>
                <a:ea typeface="Arial" panose="020B0604020202020204"/>
                <a:cs typeface="Arial" panose="020B0604020202020204"/>
              </a:defRPr>
            </a:pPr>
            <a:r>
              <a:rPr sz="1950">
                <a:solidFill>
                  <a:srgbClr val="111111"/>
                </a:solidFill>
                <a:latin typeface="Arial" panose="020B0604020202020204"/>
                <a:ea typeface="Arial" panose="020B0604020202020204"/>
                <a:cs typeface="Arial" panose="020B0604020202020204"/>
              </a:rPr>
              <a:t>3. Setup: execution and defect</a:t>
            </a:r>
            <a:endParaRPr sz="1950">
              <a:solidFill>
                <a:srgbClr val="111111"/>
              </a:solidFill>
              <a:latin typeface="Arial" panose="020B0604020202020204"/>
              <a:ea typeface="Arial" panose="020B0604020202020204"/>
              <a:cs typeface="Arial" panose="020B0604020202020204"/>
            </a:endParaRPr>
          </a:p>
          <a:p>
            <a:pPr marL="914400" indent="-914400">
              <a:lnSpc>
                <a:spcPct val="150000"/>
              </a:lnSpc>
              <a:buAutoNum type="circleNumDbPlain"/>
              <a:defRPr sz="1950">
                <a:solidFill>
                  <a:srgbClr val="111111"/>
                </a:solidFill>
                <a:latin typeface="Arial" panose="020B0604020202020204"/>
                <a:ea typeface="Arial" panose="020B0604020202020204"/>
                <a:cs typeface="Arial" panose="020B0604020202020204"/>
              </a:defRPr>
            </a:pPr>
            <a:r>
              <a:rPr sz="1950">
                <a:solidFill>
                  <a:srgbClr val="111111"/>
                </a:solidFill>
                <a:latin typeface="Arial" panose="020B0604020202020204"/>
                <a:ea typeface="Arial" panose="020B0604020202020204"/>
                <a:cs typeface="Arial" panose="020B0604020202020204"/>
              </a:rPr>
              <a:t>4. Post: white-box design</a:t>
            </a:r>
            <a:endParaRPr sz="1950">
              <a:solidFill>
                <a:srgbClr val="111111"/>
              </a:solidFill>
              <a:latin typeface="Arial" panose="020B0604020202020204"/>
              <a:ea typeface="Arial" panose="020B0604020202020204"/>
              <a:cs typeface="Arial" panose="020B0604020202020204"/>
            </a:endParaRPr>
          </a:p>
          <a:p>
            <a:pPr marL="914400" indent="-914400">
              <a:lnSpc>
                <a:spcPct val="150000"/>
              </a:lnSpc>
              <a:buAutoNum type="circleNumDbPlain"/>
              <a:defRPr sz="1950">
                <a:solidFill>
                  <a:srgbClr val="111111"/>
                </a:solidFill>
                <a:latin typeface="Arial" panose="020B0604020202020204"/>
                <a:ea typeface="Arial" panose="020B0604020202020204"/>
                <a:cs typeface="Arial" panose="020B0604020202020204"/>
              </a:defRPr>
            </a:pPr>
            <a:r>
              <a:rPr sz="1950">
                <a:solidFill>
                  <a:srgbClr val="111111"/>
                </a:solidFill>
                <a:latin typeface="Arial" panose="020B0604020202020204"/>
                <a:ea typeface="Arial" panose="020B0604020202020204"/>
                <a:cs typeface="Arial" panose="020B0604020202020204"/>
              </a:rPr>
              <a:t>5. Post: execution and defect summary</a:t>
            </a:r>
            <a:endParaRPr sz="1950">
              <a:solidFill>
                <a:srgbClr val="111111"/>
              </a:solidFill>
              <a:latin typeface="Arial" panose="020B0604020202020204"/>
              <a:ea typeface="Arial" panose="020B0604020202020204"/>
              <a:cs typeface="Arial" panose="020B0604020202020204"/>
            </a:endParaRPr>
          </a:p>
        </p:txBody>
      </p:sp>
      <p:sp>
        <p:nvSpPr>
          <p:cNvPr id="4" name="文本框 3"/>
          <p:cNvSpPr>
            <a:spLocks noGrp="1"/>
          </p:cNvSpPr>
          <p:nvPr/>
        </p:nvSpPr>
        <p:spPr>
          <a:xfrm>
            <a:off x="996592" y="2921167"/>
            <a:ext cx="3718849" cy="1107996"/>
          </a:xfrm>
          <a:prstGeom prst="rect">
            <a:avLst/>
          </a:prstGeom>
          <a:noFill/>
        </p:spPr>
        <p:txBody>
          <a:bodyPr wrap="square">
            <a:spAutoFit/>
          </a:bodyPr>
          <a:lstStyle/>
          <a:p>
            <a:pPr algn="ctr">
              <a:buNone/>
              <a:defRPr sz="2850" b="1">
                <a:solidFill>
                  <a:srgbClr val="111111"/>
                </a:solidFill>
                <a:latin typeface="Arial" panose="020B0604020202020204"/>
                <a:ea typeface="Arial" panose="020B0604020202020204"/>
                <a:cs typeface="Arial" panose="020B0604020202020204"/>
              </a:defRPr>
            </a:pPr>
            <a:r>
              <a:rPr sz="2850" b="1">
                <a:solidFill>
                  <a:srgbClr val="111111"/>
                </a:solidFill>
                <a:latin typeface="Arial" panose="020B0604020202020204"/>
                <a:ea typeface="Arial" panose="020B0604020202020204"/>
                <a:cs typeface="Arial" panose="020B0604020202020204"/>
              </a:rPr>
              <a:t>Contents</a:t>
            </a:r>
            <a:endParaRPr sz="2850"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圆角 20"/>
          <p:cNvSpPr>
            <a:spLocks noGrp="1"/>
          </p:cNvSpPr>
          <p:nvPr/>
        </p:nvSpPr>
        <p:spPr>
          <a:xfrm>
            <a:off x="160020" y="1125220"/>
            <a:ext cx="11866880" cy="1647190"/>
          </a:xfrm>
          <a:prstGeom prst="roundRect">
            <a:avLst>
              <a:gd name="adj" fmla="val 2034"/>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2" name="文本占位符 1"/>
          <p:cNvSpPr>
            <a:spLocks noGrp="1"/>
          </p:cNvSpPr>
          <p:nvPr>
            <p:ph type="body" idx="13"/>
          </p:nvPr>
        </p:nvSpPr>
        <p:spPr>
          <a:xfrm>
            <a:off x="146890"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Times New Roman" panose="02020603050405020304" charset="0"/>
                <a:ea typeface="Arial" panose="020B0604020202020204"/>
                <a:cs typeface="Times New Roman" panose="02020603050405020304" charset="0"/>
              </a:rPr>
              <a:t>Testing Scope</a:t>
            </a:r>
            <a:endParaRPr sz="2400" b="1">
              <a:solidFill>
                <a:srgbClr val="111111"/>
              </a:solidFill>
              <a:latin typeface="Times New Roman" panose="02020603050405020304" charset="0"/>
              <a:ea typeface="Arial" panose="020B0604020202020204"/>
              <a:cs typeface="Times New Roman" panose="02020603050405020304" charset="0"/>
            </a:endParaRPr>
          </a:p>
        </p:txBody>
      </p:sp>
      <p:sp>
        <p:nvSpPr>
          <p:cNvPr id="15" name="文本框 14"/>
          <p:cNvSpPr>
            <a:spLocks noGrp="1"/>
          </p:cNvSpPr>
          <p:nvPr/>
        </p:nvSpPr>
        <p:spPr>
          <a:xfrm>
            <a:off x="4655986" y="1701074"/>
            <a:ext cx="7506418" cy="1345048"/>
          </a:xfrm>
          <a:prstGeom prst="rect">
            <a:avLst/>
          </a:prstGeom>
          <a:noFill/>
        </p:spPr>
        <p:txBody>
          <a:bodyPr wrap="square">
            <a:spAutoFit/>
          </a:bodyPr>
          <a:lstStyle/>
          <a:p>
            <a:pPr marL="285750" indent="-285750">
              <a:lnSpc>
                <a:spcPct val="150000"/>
              </a:lnSpc>
              <a:buChar char="•"/>
              <a:defRPr sz="1575">
                <a:solidFill>
                  <a:srgbClr val="111111"/>
                </a:solidFill>
                <a:latin typeface="Arial" panose="020B0604020202020204"/>
                <a:ea typeface="Arial" panose="020B0604020202020204"/>
                <a:cs typeface="Arial" panose="020B0604020202020204"/>
              </a:defRPr>
            </a:pPr>
            <a:r>
              <a:rPr sz="1575">
                <a:solidFill>
                  <a:srgbClr val="111111"/>
                </a:solidFill>
                <a:latin typeface="Arial" panose="020B0604020202020204"/>
                <a:ea typeface="Arial" panose="020B0604020202020204"/>
                <a:cs typeface="Arial" panose="020B0604020202020204"/>
              </a:rPr>
              <a:t>Selected according to high-priority product risks: signup validation, login/session behavior, post creation, and post/comment route reliability.</a:t>
            </a:r>
            <a:endParaRPr sz="1575">
              <a:solidFill>
                <a:srgbClr val="111111"/>
              </a:solidFill>
              <a:latin typeface="Arial" panose="020B0604020202020204"/>
              <a:ea typeface="Arial" panose="020B0604020202020204"/>
              <a:cs typeface="Arial" panose="020B0604020202020204"/>
            </a:endParaRPr>
          </a:p>
        </p:txBody>
      </p:sp>
      <p:sp>
        <p:nvSpPr>
          <p:cNvPr id="16" name="矩形: 圆角 15"/>
          <p:cNvSpPr>
            <a:spLocks noGrp="1"/>
          </p:cNvSpPr>
          <p:nvPr/>
        </p:nvSpPr>
        <p:spPr>
          <a:xfrm>
            <a:off x="297173" y="1772942"/>
            <a:ext cx="1905367" cy="638701"/>
          </a:xfrm>
          <a:prstGeom prst="roundRect">
            <a:avLst>
              <a:gd name="adj" fmla="val 9331"/>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sz="1275" b="1">
                <a:solidFill>
                  <a:srgbClr val="111111"/>
                </a:solidFill>
                <a:latin typeface="Arial" panose="020B0604020202020204"/>
                <a:ea typeface="Arial" panose="020B0604020202020204"/>
                <a:cs typeface="Arial" panose="020B0604020202020204"/>
              </a:defRPr>
            </a:pPr>
            <a:r>
              <a:rPr lang="en-US" altLang="zh-CN" sz="1275" b="1">
                <a:solidFill>
                  <a:schemeClr val="bg1"/>
                </a:solidFill>
                <a:latin typeface="Arial" panose="020B0604020202020204"/>
                <a:ea typeface="Arial" panose="020B0604020202020204"/>
                <a:cs typeface="Arial" panose="020B0604020202020204"/>
              </a:rPr>
              <a:t>User authentication</a:t>
            </a:r>
            <a:endParaRPr lang="en-US" altLang="zh-CN" sz="1275" b="1">
              <a:solidFill>
                <a:schemeClr val="bg1"/>
              </a:solidFill>
              <a:latin typeface="Arial" panose="020B0604020202020204"/>
              <a:ea typeface="Arial" panose="020B0604020202020204"/>
              <a:cs typeface="Arial" panose="020B0604020202020204"/>
            </a:endParaRPr>
          </a:p>
          <a:p>
            <a:pPr algn="ctr">
              <a:buNone/>
              <a:defRPr sz="1275" b="1">
                <a:solidFill>
                  <a:srgbClr val="111111"/>
                </a:solidFill>
                <a:latin typeface="Arial" panose="020B0604020202020204"/>
                <a:ea typeface="Arial" panose="020B0604020202020204"/>
                <a:cs typeface="Arial" panose="020B0604020202020204"/>
              </a:defRPr>
            </a:pPr>
            <a:r>
              <a:rPr sz="1275" b="0">
                <a:solidFill>
                  <a:schemeClr val="bg1"/>
                </a:solidFill>
                <a:latin typeface="Arial" panose="020B0604020202020204"/>
                <a:ea typeface="Arial" panose="020B0604020202020204"/>
                <a:cs typeface="Arial" panose="020B0604020202020204"/>
              </a:rPr>
              <a:t>Signup / Login</a:t>
            </a:r>
            <a:endParaRPr sz="1275" b="0">
              <a:solidFill>
                <a:schemeClr val="bg1"/>
              </a:solidFill>
              <a:latin typeface="Arial" panose="020B0604020202020204"/>
              <a:ea typeface="Arial" panose="020B0604020202020204"/>
              <a:cs typeface="Arial" panose="020B0604020202020204"/>
            </a:endParaRPr>
          </a:p>
        </p:txBody>
      </p:sp>
      <p:sp>
        <p:nvSpPr>
          <p:cNvPr id="17" name="矩形: 圆角 16"/>
          <p:cNvSpPr>
            <a:spLocks noGrp="1"/>
          </p:cNvSpPr>
          <p:nvPr/>
        </p:nvSpPr>
        <p:spPr>
          <a:xfrm>
            <a:off x="2351375" y="1772942"/>
            <a:ext cx="1905367" cy="638701"/>
          </a:xfrm>
          <a:prstGeom prst="roundRect">
            <a:avLst>
              <a:gd name="adj" fmla="val 9331"/>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sz="1275" b="1">
                <a:solidFill>
                  <a:srgbClr val="111111"/>
                </a:solidFill>
                <a:latin typeface="Arial" panose="020B0604020202020204"/>
                <a:ea typeface="Arial" panose="020B0604020202020204"/>
                <a:cs typeface="Arial" panose="020B0604020202020204"/>
              </a:defRPr>
            </a:pPr>
            <a:r>
              <a:rPr sz="1275" b="1">
                <a:solidFill>
                  <a:schemeClr val="bg1"/>
                </a:solidFill>
                <a:latin typeface="Arial" panose="020B0604020202020204"/>
                <a:ea typeface="Arial" panose="020B0604020202020204"/>
                <a:cs typeface="Arial" panose="020B0604020202020204"/>
              </a:rPr>
              <a:t>Post Component</a:t>
            </a:r>
            <a:endParaRPr sz="1275" b="1">
              <a:solidFill>
                <a:schemeClr val="bg1"/>
              </a:solidFill>
              <a:latin typeface="Arial" panose="020B0604020202020204"/>
              <a:ea typeface="Arial" panose="020B0604020202020204"/>
              <a:cs typeface="Arial" panose="020B0604020202020204"/>
            </a:endParaRPr>
          </a:p>
          <a:p>
            <a:pPr algn="ctr">
              <a:buNone/>
              <a:defRPr sz="1275" b="1">
                <a:solidFill>
                  <a:srgbClr val="111111"/>
                </a:solidFill>
                <a:latin typeface="Arial" panose="020B0604020202020204"/>
                <a:ea typeface="Arial" panose="020B0604020202020204"/>
                <a:cs typeface="Arial" panose="020B0604020202020204"/>
              </a:defRPr>
            </a:pPr>
            <a:r>
              <a:rPr sz="1275" b="1">
                <a:solidFill>
                  <a:schemeClr val="bg1"/>
                </a:solidFill>
                <a:latin typeface="Arial" panose="020B0604020202020204"/>
                <a:ea typeface="Arial" panose="020B0604020202020204"/>
                <a:cs typeface="Arial" panose="020B0604020202020204"/>
              </a:rPr>
              <a:t>Create / View / Comment</a:t>
            </a:r>
            <a:endParaRPr sz="1275" b="1">
              <a:solidFill>
                <a:schemeClr val="bg1"/>
              </a:solidFill>
              <a:latin typeface="Arial" panose="020B0604020202020204"/>
              <a:ea typeface="Arial" panose="020B0604020202020204"/>
              <a:cs typeface="Arial" panose="020B0604020202020204"/>
            </a:endParaRPr>
          </a:p>
        </p:txBody>
      </p:sp>
      <p:sp>
        <p:nvSpPr>
          <p:cNvPr id="18" name="文本框 17"/>
          <p:cNvSpPr>
            <a:spLocks noGrp="1"/>
          </p:cNvSpPr>
          <p:nvPr/>
        </p:nvSpPr>
        <p:spPr>
          <a:xfrm>
            <a:off x="146685" y="1116330"/>
            <a:ext cx="6472555" cy="490220"/>
          </a:xfrm>
          <a:prstGeom prst="rect">
            <a:avLst/>
          </a:prstGeom>
          <a:noFill/>
        </p:spPr>
        <p:txBody>
          <a:bodyPr wrap="square">
            <a:spAutoFit/>
          </a:bodyPr>
          <a:lstStyle/>
          <a:p>
            <a:pPr>
              <a:lnSpc>
                <a:spcPct val="150000"/>
              </a:lnSpc>
              <a:buNone/>
              <a:defRPr sz="1725" b="1">
                <a:solidFill>
                  <a:srgbClr val="111111"/>
                </a:solidFill>
                <a:latin typeface="Arial" panose="020B0604020202020204"/>
                <a:ea typeface="Arial" panose="020B0604020202020204"/>
                <a:cs typeface="Arial" panose="020B0604020202020204"/>
              </a:defRPr>
            </a:pPr>
            <a:r>
              <a:rPr sz="1725" b="1">
                <a:solidFill>
                  <a:srgbClr val="111111"/>
                </a:solidFill>
                <a:latin typeface="Arial" panose="020B0604020202020204"/>
                <a:ea typeface="Arial" panose="020B0604020202020204"/>
                <a:cs typeface="Arial" panose="020B0604020202020204"/>
              </a:rPr>
              <a:t>Detailed component testing covers two major modules:</a:t>
            </a:r>
            <a:endParaRPr sz="1725" b="1">
              <a:solidFill>
                <a:srgbClr val="111111"/>
              </a:solidFill>
              <a:latin typeface="Arial" panose="020B0604020202020204"/>
              <a:ea typeface="Arial" panose="020B0604020202020204"/>
              <a:cs typeface="Arial" panose="020B0604020202020204"/>
            </a:endParaRPr>
          </a:p>
        </p:txBody>
      </p:sp>
      <p:sp>
        <p:nvSpPr>
          <p:cNvPr id="25" name="文本框 24"/>
          <p:cNvSpPr>
            <a:spLocks noGrp="1"/>
          </p:cNvSpPr>
          <p:nvPr/>
        </p:nvSpPr>
        <p:spPr>
          <a:xfrm>
            <a:off x="191135" y="3429000"/>
            <a:ext cx="11835765" cy="2466340"/>
          </a:xfrm>
          <a:prstGeom prst="rect">
            <a:avLst/>
          </a:prstGeom>
          <a:noFill/>
        </p:spPr>
        <p:txBody>
          <a:bodyPr wrap="square">
            <a:noAutofit/>
          </a:bodyPr>
          <a:lstStyle/>
          <a:p>
            <a:pPr marL="285750" indent="-285750">
              <a:lnSpc>
                <a:spcPct val="150000"/>
              </a:lnSpc>
              <a:buFont typeface="Arial" panose="020B0604020202020204" pitchFamily="34" charset="0"/>
              <a:buChar char="•"/>
              <a:defRPr sz="1575">
                <a:solidFill>
                  <a:srgbClr val="111111"/>
                </a:solidFill>
                <a:latin typeface="Arial" panose="020B0604020202020204"/>
                <a:ea typeface="Arial" panose="020B0604020202020204"/>
                <a:cs typeface="Arial" panose="020B0604020202020204"/>
              </a:defRPr>
            </a:pPr>
            <a:r>
              <a:rPr lang="en-US" altLang="zh-CN" sz="1575" b="1">
                <a:solidFill>
                  <a:srgbClr val="111111"/>
                </a:solidFill>
                <a:latin typeface="Arial" panose="020B0604020202020204"/>
                <a:ea typeface="Arial" panose="020B0604020202020204"/>
                <a:cs typeface="Arial" panose="020B0604020202020204"/>
              </a:rPr>
              <a:t>Test level:</a:t>
            </a:r>
            <a:r>
              <a:rPr lang="en-US" altLang="zh-CN" sz="1575">
                <a:solidFill>
                  <a:srgbClr val="111111"/>
                </a:solidFill>
                <a:latin typeface="Arial" panose="020B0604020202020204"/>
                <a:ea typeface="Arial" panose="020B0604020202020204"/>
                <a:cs typeface="Arial" panose="020B0604020202020204"/>
              </a:rPr>
              <a:t> route-level component testing using Flask test_client, isolated SQLite test databases, and patched route dependencies where needed.</a:t>
            </a:r>
            <a:endParaRPr lang="en-US" altLang="zh-CN" sz="1575">
              <a:solidFill>
                <a:srgbClr val="111111"/>
              </a:solidFill>
              <a:latin typeface="Arial" panose="020B0604020202020204"/>
              <a:ea typeface="Arial" panose="020B0604020202020204"/>
              <a:cs typeface="Arial" panose="020B0604020202020204"/>
            </a:endParaRPr>
          </a:p>
          <a:p>
            <a:pPr marL="285750" indent="-285750">
              <a:lnSpc>
                <a:spcPct val="150000"/>
              </a:lnSpc>
              <a:buFont typeface="Arial" panose="020B0604020202020204" pitchFamily="34" charset="0"/>
              <a:buChar char="•"/>
              <a:defRPr sz="1575">
                <a:solidFill>
                  <a:srgbClr val="111111"/>
                </a:solidFill>
                <a:latin typeface="Arial" panose="020B0604020202020204"/>
                <a:ea typeface="Arial" panose="020B0604020202020204"/>
                <a:cs typeface="Arial" panose="020B0604020202020204"/>
              </a:defRPr>
            </a:pPr>
            <a:r>
              <a:rPr lang="en-US" altLang="zh-CN" sz="1575" b="1">
                <a:solidFill>
                  <a:srgbClr val="111111"/>
                </a:solidFill>
                <a:latin typeface="Arial" panose="020B0604020202020204"/>
                <a:ea typeface="Arial" panose="020B0604020202020204"/>
                <a:cs typeface="Arial" panose="020B0604020202020204"/>
              </a:rPr>
              <a:t>Evidence checked:</a:t>
            </a:r>
            <a:r>
              <a:rPr lang="en-US" altLang="zh-CN" sz="1575">
                <a:solidFill>
                  <a:srgbClr val="111111"/>
                </a:solidFill>
                <a:latin typeface="Arial" panose="020B0604020202020204"/>
                <a:ea typeface="Arial" panose="020B0604020202020204"/>
                <a:cs typeface="Arial" panose="020B0604020202020204"/>
              </a:rPr>
              <a:t> HTTP status codes and redirect locations, returned page responses from patched template-rendering branches, SQLite database side effects, Flask session state, and defect evidence from unexpected test errors.</a:t>
            </a:r>
            <a:endParaRPr lang="en-US" altLang="zh-CN" sz="1575">
              <a:solidFill>
                <a:srgbClr val="111111"/>
              </a:solidFill>
              <a:latin typeface="Arial" panose="020B0604020202020204"/>
              <a:ea typeface="Arial" panose="020B0604020202020204"/>
              <a:cs typeface="Arial" panose="020B0604020202020204"/>
            </a:endParaRPr>
          </a:p>
          <a:p>
            <a:pPr marL="285750" indent="-285750">
              <a:lnSpc>
                <a:spcPct val="150000"/>
              </a:lnSpc>
              <a:buFont typeface="Arial" panose="020B0604020202020204" pitchFamily="34" charset="0"/>
              <a:buChar char="•"/>
              <a:defRPr sz="1575">
                <a:solidFill>
                  <a:srgbClr val="111111"/>
                </a:solidFill>
                <a:latin typeface="Arial" panose="020B0604020202020204"/>
                <a:ea typeface="Arial" panose="020B0604020202020204"/>
                <a:cs typeface="Arial" panose="020B0604020202020204"/>
              </a:defRPr>
            </a:pPr>
            <a:r>
              <a:rPr lang="en-US" altLang="zh-CN" sz="1575" b="1">
                <a:solidFill>
                  <a:srgbClr val="111111"/>
                </a:solidFill>
                <a:latin typeface="Arial" panose="020B0604020202020204"/>
                <a:ea typeface="Arial" panose="020B0604020202020204"/>
                <a:cs typeface="Arial" panose="020B0604020202020204"/>
              </a:rPr>
              <a:t>Detailed testing scope: </a:t>
            </a:r>
            <a:r>
              <a:rPr lang="en-US" altLang="zh-CN" sz="1575">
                <a:solidFill>
                  <a:srgbClr val="111111"/>
                </a:solidFill>
                <a:latin typeface="Arial" panose="020B0604020202020204"/>
                <a:ea typeface="Arial" panose="020B0604020202020204"/>
                <a:cs typeface="Arial" panose="020B0604020202020204"/>
              </a:rPr>
              <a:t>this section covers the selected authentication components, especially signup and login, and blog post components, especially create post and post view/comment handling.</a:t>
            </a:r>
            <a:endParaRPr lang="en-US" altLang="zh-CN" sz="1575">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圆角 3"/>
          <p:cNvSpPr>
            <a:spLocks noGrp="1"/>
          </p:cNvSpPr>
          <p:nvPr/>
        </p:nvSpPr>
        <p:spPr>
          <a:xfrm>
            <a:off x="178435" y="1341120"/>
            <a:ext cx="2740660" cy="3213100"/>
          </a:xfrm>
          <a:prstGeom prst="roundRect">
            <a:avLst>
              <a:gd name="adj" fmla="val 2034"/>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2" name="文本占位符 1"/>
          <p:cNvSpPr>
            <a:spLocks noGrp="1"/>
          </p:cNvSpPr>
          <p:nvPr>
            <p:ph type="body" idx="13"/>
          </p:nvPr>
        </p:nvSpPr>
        <p:spPr>
          <a:xfrm>
            <a:off x="138717"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Setup Component</a:t>
            </a:r>
            <a:endParaRPr sz="2400" b="1">
              <a:solidFill>
                <a:srgbClr val="111111"/>
              </a:solidFill>
              <a:latin typeface="Arial" panose="020B0604020202020204"/>
              <a:ea typeface="Arial" panose="020B0604020202020204"/>
              <a:cs typeface="Arial" panose="020B0604020202020204"/>
            </a:endParaRPr>
          </a:p>
        </p:txBody>
      </p:sp>
      <p:sp>
        <p:nvSpPr>
          <p:cNvPr id="23" name="文本框 22"/>
          <p:cNvSpPr>
            <a:spLocks noGrp="1"/>
          </p:cNvSpPr>
          <p:nvPr/>
        </p:nvSpPr>
        <p:spPr>
          <a:xfrm>
            <a:off x="138717" y="840198"/>
            <a:ext cx="5458932" cy="502920"/>
          </a:xfrm>
          <a:prstGeom prst="rect">
            <a:avLst/>
          </a:prstGeom>
          <a:noFill/>
        </p:spPr>
        <p:txBody>
          <a:bodyPr wrap="square">
            <a:spAutoFit/>
          </a:bodyPr>
          <a:lstStyle/>
          <a:p>
            <a:pPr marL="342900" indent="-342900">
              <a:lnSpc>
                <a:spcPct val="150000"/>
              </a:lnSpc>
              <a:buAutoNum type="alphaUcPeriod"/>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Black-box test design:</a:t>
            </a:r>
            <a:endParaRPr sz="1800" b="1">
              <a:solidFill>
                <a:srgbClr val="111111"/>
              </a:solidFill>
              <a:latin typeface="Arial" panose="020B0604020202020204"/>
              <a:ea typeface="Arial" panose="020B0604020202020204"/>
              <a:cs typeface="Arial" panose="020B0604020202020204"/>
            </a:endParaRPr>
          </a:p>
        </p:txBody>
      </p:sp>
      <p:sp>
        <p:nvSpPr>
          <p:cNvPr id="5" name="文本框 4"/>
          <p:cNvSpPr>
            <a:spLocks noGrp="1"/>
          </p:cNvSpPr>
          <p:nvPr/>
        </p:nvSpPr>
        <p:spPr>
          <a:xfrm>
            <a:off x="138430" y="1335405"/>
            <a:ext cx="3406140" cy="3143250"/>
          </a:xfrm>
          <a:prstGeom prst="rect">
            <a:avLst/>
          </a:prstGeom>
          <a:noFill/>
        </p:spPr>
        <p:txBody>
          <a:bodyPr wrap="square">
            <a:spAutoFit/>
          </a:bodyPr>
          <a:lstStyle/>
          <a:p>
            <a:pPr>
              <a:lnSpc>
                <a:spcPct val="150000"/>
              </a:lnSpc>
              <a:buNone/>
              <a:defRPr sz="1425">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Signup inputs:</a:t>
            </a:r>
            <a:endParaRPr sz="1425" b="1">
              <a:solidFill>
                <a:srgbClr val="111111"/>
              </a:solidFill>
              <a:latin typeface="Arial" panose="020B0604020202020204"/>
              <a:ea typeface="Arial" panose="020B0604020202020204"/>
              <a:cs typeface="Arial" panose="020B0604020202020204"/>
            </a:endParaRPr>
          </a:p>
          <a:p>
            <a:pPr marL="34290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username</a:t>
            </a:r>
            <a:endParaRPr sz="1425">
              <a:solidFill>
                <a:srgbClr val="111111"/>
              </a:solidFill>
              <a:latin typeface="Arial" panose="020B0604020202020204"/>
              <a:ea typeface="Arial" panose="020B0604020202020204"/>
              <a:cs typeface="Arial" panose="020B0604020202020204"/>
            </a:endParaRPr>
          </a:p>
          <a:p>
            <a:pPr marL="34290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email</a:t>
            </a:r>
            <a:endParaRPr sz="1425">
              <a:solidFill>
                <a:srgbClr val="111111"/>
              </a:solidFill>
              <a:latin typeface="Arial" panose="020B0604020202020204"/>
              <a:ea typeface="Arial" panose="020B0604020202020204"/>
              <a:cs typeface="Arial" panose="020B0604020202020204"/>
            </a:endParaRPr>
          </a:p>
          <a:p>
            <a:pPr marL="34290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password, </a:t>
            </a:r>
            <a:endParaRPr sz="1425">
              <a:solidFill>
                <a:srgbClr val="111111"/>
              </a:solidFill>
              <a:latin typeface="Arial" panose="020B0604020202020204"/>
              <a:ea typeface="Arial" panose="020B0604020202020204"/>
              <a:cs typeface="Arial" panose="020B0604020202020204"/>
            </a:endParaRPr>
          </a:p>
          <a:p>
            <a:pPr marL="34290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lang="en-US" sz="1425">
                <a:solidFill>
                  <a:srgbClr val="111111"/>
                </a:solidFill>
                <a:latin typeface="Arial" panose="020B0604020202020204"/>
                <a:ea typeface="Arial" panose="020B0604020202020204"/>
                <a:cs typeface="Arial" panose="020B0604020202020204"/>
              </a:rPr>
              <a:t>password </a:t>
            </a:r>
            <a:r>
              <a:rPr sz="1425">
                <a:solidFill>
                  <a:srgbClr val="111111"/>
                </a:solidFill>
                <a:latin typeface="Arial" panose="020B0604020202020204"/>
                <a:ea typeface="Arial" panose="020B0604020202020204"/>
                <a:cs typeface="Arial" panose="020B0604020202020204"/>
              </a:rPr>
              <a:t>confirmation</a:t>
            </a:r>
            <a:endParaRPr sz="1425">
              <a:solidFill>
                <a:srgbClr val="111111"/>
              </a:solidFill>
              <a:latin typeface="Arial" panose="020B0604020202020204"/>
              <a:ea typeface="Arial" panose="020B0604020202020204"/>
              <a:cs typeface="Arial" panose="020B0604020202020204"/>
            </a:endParaRPr>
          </a:p>
          <a:p>
            <a:pPr marL="504190" indent="-171450">
              <a:lnSpc>
                <a:spcPct val="150000"/>
              </a:lnSpc>
              <a:buChar char="•"/>
            </a:pPr>
          </a:p>
          <a:p>
            <a:pPr marL="332740">
              <a:lnSpc>
                <a:spcPct val="150000"/>
              </a:lnSpc>
              <a:buNone/>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Techniques:</a:t>
            </a:r>
            <a:endParaRPr sz="1425">
              <a:solidFill>
                <a:srgbClr val="111111"/>
              </a:solidFill>
              <a:latin typeface="Arial" panose="020B0604020202020204"/>
              <a:ea typeface="Arial" panose="020B0604020202020204"/>
              <a:cs typeface="Arial" panose="020B0604020202020204"/>
            </a:endParaRPr>
          </a:p>
          <a:p>
            <a:pPr marL="504190" indent="-171450">
              <a:lnSpc>
                <a:spcPct val="150000"/>
              </a:lnSpc>
              <a:buChar char="•"/>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equivalence partitioning</a:t>
            </a:r>
            <a:endParaRPr sz="1425">
              <a:solidFill>
                <a:srgbClr val="111111"/>
              </a:solidFill>
              <a:latin typeface="Arial" panose="020B0604020202020204"/>
              <a:ea typeface="Arial" panose="020B0604020202020204"/>
              <a:cs typeface="Arial" panose="020B0604020202020204"/>
            </a:endParaRPr>
          </a:p>
          <a:p>
            <a:pPr marL="504190" indent="-171450">
              <a:lnSpc>
                <a:spcPct val="150000"/>
              </a:lnSpc>
              <a:buChar char="•"/>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boundary value analysis</a:t>
            </a:r>
            <a:endParaRPr sz="1425">
              <a:solidFill>
                <a:srgbClr val="111111"/>
              </a:solidFill>
              <a:latin typeface="Arial" panose="020B0604020202020204"/>
              <a:ea typeface="Arial" panose="020B0604020202020204"/>
              <a:cs typeface="Arial" panose="020B0604020202020204"/>
            </a:endParaRPr>
          </a:p>
        </p:txBody>
      </p:sp>
      <p:sp>
        <p:nvSpPr>
          <p:cNvPr id="8" name="矩形: 圆角 7"/>
          <p:cNvSpPr>
            <a:spLocks noGrp="1"/>
          </p:cNvSpPr>
          <p:nvPr/>
        </p:nvSpPr>
        <p:spPr>
          <a:xfrm>
            <a:off x="3143885" y="1341120"/>
            <a:ext cx="4831715" cy="3165475"/>
          </a:xfrm>
          <a:prstGeom prst="roundRect">
            <a:avLst>
              <a:gd name="adj" fmla="val 2034"/>
            </a:avLst>
          </a:prstGeom>
          <a:solidFill>
            <a:schemeClr val="bg1">
              <a:lumMod val="95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9" name="文本框 8"/>
          <p:cNvSpPr>
            <a:spLocks noGrp="1"/>
          </p:cNvSpPr>
          <p:nvPr/>
        </p:nvSpPr>
        <p:spPr>
          <a:xfrm>
            <a:off x="3215378" y="1413045"/>
            <a:ext cx="4831583" cy="421005"/>
          </a:xfrm>
          <a:prstGeom prst="rect">
            <a:avLst/>
          </a:prstGeom>
          <a:noFill/>
        </p:spPr>
        <p:txBody>
          <a:bodyPr wrap="square">
            <a:spAutoFit/>
          </a:bodyPr>
          <a:lstStyle/>
          <a:p>
            <a:pPr>
              <a:lnSpc>
                <a:spcPct val="150000"/>
              </a:lnSpc>
              <a:buNone/>
              <a:defRPr sz="1425">
                <a:solidFill>
                  <a:srgbClr val="111111"/>
                </a:solidFill>
                <a:latin typeface="Arial" panose="020B0604020202020204"/>
                <a:ea typeface="Arial" panose="020B0604020202020204"/>
                <a:cs typeface="Arial" panose="020B0604020202020204"/>
              </a:defRPr>
            </a:pPr>
            <a:r>
              <a:rPr lang="en-US" sz="1425" b="1">
                <a:solidFill>
                  <a:srgbClr val="111111"/>
                </a:solidFill>
                <a:latin typeface="Arial" panose="020B0604020202020204"/>
                <a:ea typeface="Arial" panose="020B0604020202020204"/>
                <a:cs typeface="Arial" panose="020B0604020202020204"/>
              </a:rPr>
              <a:t>Boundary Value</a:t>
            </a:r>
            <a:r>
              <a:rPr sz="1425" b="1">
                <a:solidFill>
                  <a:srgbClr val="111111"/>
                </a:solidFill>
                <a:latin typeface="Arial" panose="020B0604020202020204"/>
                <a:ea typeface="Arial" panose="020B0604020202020204"/>
                <a:cs typeface="Arial" panose="020B0604020202020204"/>
              </a:rPr>
              <a:t>:</a:t>
            </a:r>
            <a:endParaRPr sz="1425">
              <a:solidFill>
                <a:srgbClr val="111111"/>
              </a:solidFill>
              <a:latin typeface="Arial" panose="020B0604020202020204"/>
              <a:ea typeface="Arial" panose="020B0604020202020204"/>
              <a:cs typeface="Arial" panose="020B0604020202020204"/>
            </a:endParaRPr>
          </a:p>
        </p:txBody>
      </p:sp>
      <p:sp>
        <p:nvSpPr>
          <p:cNvPr id="24" name="圆角矩形 23"/>
          <p:cNvSpPr>
            <a:spLocks noGrp="1"/>
          </p:cNvSpPr>
          <p:nvPr/>
        </p:nvSpPr>
        <p:spPr>
          <a:xfrm>
            <a:off x="335280" y="5003800"/>
            <a:ext cx="2190750" cy="781050"/>
          </a:xfrm>
          <a:prstGeom prst="roundRect">
            <a:avLst>
              <a:gd name="adj" fmla="val 9756"/>
            </a:avLst>
          </a:prstGeom>
          <a:solidFill>
            <a:srgbClr val="F5F5F5"/>
          </a:solidFill>
          <a:ln w="9525">
            <a:solidFill>
              <a:srgbClr val="DADADA"/>
            </a:solidFill>
            <a:prstDash val="solid"/>
          </a:ln>
        </p:spPr>
        <p:txBody>
          <a:bodyPr anchor="t"/>
          <a:lstStyle/>
          <a:p>
            <a:pPr algn="ctr">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24</a:t>
            </a:r>
            <a:endParaRPr sz="1800" b="1">
              <a:solidFill>
                <a:srgbClr val="111111"/>
              </a:solidFill>
              <a:latin typeface="Arial" panose="020B0604020202020204"/>
              <a:ea typeface="Arial" panose="020B0604020202020204"/>
              <a:cs typeface="Arial" panose="020B0604020202020204"/>
            </a:endParaRPr>
          </a:p>
          <a:p>
            <a:pPr algn="ctr">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signup cases</a:t>
            </a:r>
            <a:endParaRPr sz="1800" b="1">
              <a:solidFill>
                <a:srgbClr val="111111"/>
              </a:solidFill>
              <a:latin typeface="Arial" panose="020B0604020202020204"/>
              <a:ea typeface="Arial" panose="020B0604020202020204"/>
              <a:cs typeface="Arial" panose="020B0604020202020204"/>
            </a:endParaRPr>
          </a:p>
        </p:txBody>
      </p:sp>
      <p:sp>
        <p:nvSpPr>
          <p:cNvPr id="26" name="圆角矩形 25"/>
          <p:cNvSpPr>
            <a:spLocks noGrp="1"/>
          </p:cNvSpPr>
          <p:nvPr/>
        </p:nvSpPr>
        <p:spPr>
          <a:xfrm>
            <a:off x="6286500" y="5013325"/>
            <a:ext cx="2190750" cy="781050"/>
          </a:xfrm>
          <a:prstGeom prst="roundRect">
            <a:avLst>
              <a:gd name="adj" fmla="val 9756"/>
            </a:avLst>
          </a:prstGeom>
          <a:solidFill>
            <a:srgbClr val="F5F5F5"/>
          </a:solidFill>
          <a:ln w="9525">
            <a:solidFill>
              <a:srgbClr val="DADADA"/>
            </a:solidFill>
            <a:prstDash val="solid"/>
          </a:ln>
        </p:spPr>
        <p:txBody>
          <a:bodyPr anchor="t"/>
          <a:lstStyle/>
          <a:p>
            <a:pPr algn="ctr">
              <a:lnSpc>
                <a:spcPct val="100000"/>
              </a:lnSpc>
              <a:defRPr sz="1575" b="1">
                <a:solidFill>
                  <a:srgbClr val="111111"/>
                </a:solidFill>
                <a:latin typeface="Arial" panose="020B0604020202020204"/>
                <a:ea typeface="Arial" panose="020B0604020202020204"/>
                <a:cs typeface="Arial" panose="020B0604020202020204"/>
              </a:defRPr>
            </a:pPr>
            <a:r>
              <a:rPr lang="en-US" altLang="zh-CN" sz="1800" b="1">
                <a:solidFill>
                  <a:srgbClr val="111111"/>
                </a:solidFill>
                <a:latin typeface="Arial" panose="020B0604020202020204"/>
                <a:ea typeface="Arial" panose="020B0604020202020204"/>
                <a:cs typeface="Arial" panose="020B0604020202020204"/>
              </a:rPr>
              <a:t>Boundary Value</a:t>
            </a:r>
            <a:endParaRPr lang="en-US" altLang="zh-CN" sz="1800" b="1">
              <a:solidFill>
                <a:srgbClr val="111111"/>
              </a:solidFill>
              <a:latin typeface="Arial" panose="020B0604020202020204"/>
              <a:ea typeface="Arial" panose="020B0604020202020204"/>
              <a:cs typeface="Arial" panose="020B0604020202020204"/>
            </a:endParaRPr>
          </a:p>
          <a:p>
            <a:pPr algn="ctr">
              <a:lnSpc>
                <a:spcPct val="100000"/>
              </a:lnSpc>
              <a:defRPr sz="1575"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3/4/5, 24/25/26</a:t>
            </a:r>
            <a:endParaRPr sz="1800" b="1">
              <a:solidFill>
                <a:srgbClr val="111111"/>
              </a:solidFill>
              <a:latin typeface="Arial" panose="020B0604020202020204"/>
              <a:ea typeface="Arial" panose="020B0604020202020204"/>
              <a:cs typeface="Arial" panose="020B0604020202020204"/>
            </a:endParaRPr>
          </a:p>
        </p:txBody>
      </p:sp>
      <p:sp>
        <p:nvSpPr>
          <p:cNvPr id="27" name="圆角矩形 26"/>
          <p:cNvSpPr>
            <a:spLocks noGrp="1"/>
          </p:cNvSpPr>
          <p:nvPr/>
        </p:nvSpPr>
        <p:spPr>
          <a:xfrm>
            <a:off x="9001125" y="5013325"/>
            <a:ext cx="2471420" cy="781050"/>
          </a:xfrm>
          <a:prstGeom prst="roundRect">
            <a:avLst>
              <a:gd name="adj" fmla="val 9756"/>
            </a:avLst>
          </a:prstGeom>
          <a:solidFill>
            <a:srgbClr val="F5F5F5"/>
          </a:solidFill>
          <a:ln w="9525">
            <a:solidFill>
              <a:srgbClr val="DADADA"/>
            </a:solidFill>
            <a:prstDash val="solid"/>
          </a:ln>
        </p:spPr>
        <p:txBody>
          <a:bodyPr anchor="t"/>
          <a:lstStyle/>
          <a:p>
            <a:pPr algn="ctr">
              <a:defRPr sz="1500" b="1">
                <a:solidFill>
                  <a:srgbClr val="111111"/>
                </a:solidFill>
                <a:latin typeface="Arial" panose="020B0604020202020204"/>
                <a:ea typeface="Arial" panose="020B0604020202020204"/>
                <a:cs typeface="Arial" panose="020B0604020202020204"/>
              </a:defRPr>
            </a:pPr>
            <a:r>
              <a:rPr lang="en-US" altLang="zh-CN" sz="1800" b="1">
                <a:solidFill>
                  <a:srgbClr val="111111"/>
                </a:solidFill>
                <a:latin typeface="Arial" panose="020B0604020202020204"/>
                <a:ea typeface="Arial" panose="020B0604020202020204"/>
                <a:cs typeface="Arial" panose="020B0604020202020204"/>
              </a:rPr>
              <a:t>Equivalence C</a:t>
            </a:r>
            <a:r>
              <a:rPr lang="en-US" altLang="zh-CN" sz="1800" b="1">
                <a:solidFill>
                  <a:srgbClr val="111111"/>
                </a:solidFill>
                <a:latin typeface="Arial" panose="020B0604020202020204"/>
                <a:ea typeface="Arial" panose="020B0604020202020204"/>
                <a:cs typeface="Arial" panose="020B0604020202020204"/>
              </a:rPr>
              <a:t>lass</a:t>
            </a:r>
            <a:endParaRPr lang="en-US" altLang="zh-CN" sz="1800" b="1">
              <a:solidFill>
                <a:srgbClr val="111111"/>
              </a:solidFill>
              <a:latin typeface="Arial" panose="020B0604020202020204"/>
              <a:ea typeface="Arial" panose="020B0604020202020204"/>
              <a:cs typeface="Arial" panose="020B0604020202020204"/>
            </a:endParaRPr>
          </a:p>
          <a:p>
            <a:pPr algn="ctr">
              <a:defRPr sz="15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valid vs invalid</a:t>
            </a:r>
            <a:endParaRPr sz="1800"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nvPr>
        </p:nvSpPr>
        <p:spPr>
          <a:xfrm>
            <a:off x="138717"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Setup Execution</a:t>
            </a:r>
            <a:endParaRPr sz="2400" b="1">
              <a:solidFill>
                <a:srgbClr val="111111"/>
              </a:solidFill>
              <a:latin typeface="Arial" panose="020B0604020202020204"/>
              <a:ea typeface="Arial" panose="020B0604020202020204"/>
              <a:cs typeface="Arial" panose="020B0604020202020204"/>
            </a:endParaRPr>
          </a:p>
        </p:txBody>
      </p:sp>
      <p:sp>
        <p:nvSpPr>
          <p:cNvPr id="8" name="文本框 7"/>
          <p:cNvSpPr>
            <a:spLocks noGrp="1"/>
          </p:cNvSpPr>
          <p:nvPr/>
        </p:nvSpPr>
        <p:spPr>
          <a:xfrm>
            <a:off x="138717" y="840198"/>
            <a:ext cx="3413627" cy="502920"/>
          </a:xfrm>
          <a:prstGeom prst="rect">
            <a:avLst/>
          </a:prstGeom>
          <a:noFill/>
        </p:spPr>
        <p:txBody>
          <a:bodyPr wrap="square">
            <a:spAutoFit/>
          </a:bodyPr>
          <a:lstStyle/>
          <a:p>
            <a:pPr marL="342900" indent="-342900">
              <a:lnSpc>
                <a:spcPct val="150000"/>
              </a:lnSpc>
              <a:buAutoNum type="alphaUcPeriod"/>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Framework and evidence:</a:t>
            </a:r>
            <a:endParaRPr sz="1800" b="1">
              <a:solidFill>
                <a:srgbClr val="111111"/>
              </a:solidFill>
              <a:latin typeface="Arial" panose="020B0604020202020204"/>
              <a:ea typeface="Arial" panose="020B0604020202020204"/>
              <a:cs typeface="Arial" panose="020B0604020202020204"/>
            </a:endParaRPr>
          </a:p>
        </p:txBody>
      </p:sp>
      <p:sp>
        <p:nvSpPr>
          <p:cNvPr id="9" name="文本框 8"/>
          <p:cNvSpPr>
            <a:spLocks noGrp="1"/>
          </p:cNvSpPr>
          <p:nvPr/>
        </p:nvSpPr>
        <p:spPr>
          <a:xfrm>
            <a:off x="138718" y="1257941"/>
            <a:ext cx="4762203" cy="434340"/>
          </a:xfrm>
          <a:prstGeom prst="rect">
            <a:avLst/>
          </a:prstGeom>
          <a:noFill/>
        </p:spPr>
        <p:txBody>
          <a:bodyPr wrap="square">
            <a:spAutoFit/>
          </a:bodyPr>
          <a:lstStyle/>
          <a:p>
            <a:pPr>
              <a:lnSpc>
                <a:spcPct val="150000"/>
              </a:lnSpc>
              <a:buNone/>
              <a:defRPr sz="1500" b="1">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Python unittest + Flask test_client</a:t>
            </a:r>
            <a:endParaRPr sz="1500" b="1">
              <a:solidFill>
                <a:srgbClr val="111111"/>
              </a:solidFill>
              <a:latin typeface="Arial" panose="020B0604020202020204"/>
              <a:ea typeface="Arial" panose="020B0604020202020204"/>
              <a:cs typeface="Arial" panose="020B0604020202020204"/>
            </a:endParaRPr>
          </a:p>
        </p:txBody>
      </p:sp>
      <p:sp>
        <p:nvSpPr>
          <p:cNvPr id="16" name="文本框 15"/>
          <p:cNvSpPr>
            <a:spLocks noGrp="1"/>
          </p:cNvSpPr>
          <p:nvPr/>
        </p:nvSpPr>
        <p:spPr>
          <a:xfrm>
            <a:off x="6765192" y="1257941"/>
            <a:ext cx="5137175" cy="1891665"/>
          </a:xfrm>
          <a:prstGeom prst="rect">
            <a:avLst/>
          </a:prstGeom>
          <a:noFill/>
        </p:spPr>
        <p:txBody>
          <a:bodyPr wrap="square">
            <a:spAutoFit/>
          </a:bodyPr>
          <a:lstStyle/>
          <a:p>
            <a:pPr>
              <a:lnSpc>
                <a:spcPct val="150000"/>
              </a:lnSpc>
              <a:buNone/>
              <a:defRPr sz="1575">
                <a:solidFill>
                  <a:srgbClr val="111111"/>
                </a:solidFill>
                <a:latin typeface="Arial" panose="020B0604020202020204"/>
                <a:ea typeface="Arial" panose="020B0604020202020204"/>
                <a:cs typeface="Arial" panose="020B0604020202020204"/>
              </a:defRPr>
            </a:pPr>
            <a:r>
              <a:rPr sz="1575" b="1">
                <a:solidFill>
                  <a:srgbClr val="111111"/>
                </a:solidFill>
                <a:latin typeface="Arial" panose="020B0604020202020204"/>
                <a:ea typeface="Arial" panose="020B0604020202020204"/>
                <a:cs typeface="Arial" panose="020B0604020202020204"/>
              </a:rPr>
              <a:t>Overall execution:</a:t>
            </a:r>
            <a:endParaRPr sz="1575" b="1">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75">
                <a:solidFill>
                  <a:srgbClr val="111111"/>
                </a:solidFill>
                <a:latin typeface="Arial" panose="020B0604020202020204"/>
                <a:ea typeface="Arial" panose="020B0604020202020204"/>
                <a:cs typeface="Arial" panose="020B0604020202020204"/>
              </a:defRPr>
            </a:pPr>
            <a:r>
              <a:rPr sz="1575">
                <a:solidFill>
                  <a:srgbClr val="111111"/>
                </a:solidFill>
                <a:latin typeface="Arial" panose="020B0604020202020204"/>
                <a:ea typeface="Arial" panose="020B0604020202020204"/>
                <a:cs typeface="Arial" panose="020B0604020202020204"/>
              </a:rPr>
              <a:t>- Signup: 24 cases, 17 passed, 7 failed</a:t>
            </a:r>
            <a:endParaRPr sz="1575">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75">
                <a:solidFill>
                  <a:srgbClr val="111111"/>
                </a:solidFill>
                <a:latin typeface="Arial" panose="020B0604020202020204"/>
                <a:ea typeface="Arial" panose="020B0604020202020204"/>
                <a:cs typeface="Arial" panose="020B0604020202020204"/>
              </a:defRPr>
            </a:pPr>
            <a:r>
              <a:rPr sz="1575">
                <a:solidFill>
                  <a:srgbClr val="111111"/>
                </a:solidFill>
                <a:latin typeface="Arial" panose="020B0604020202020204"/>
                <a:ea typeface="Arial" panose="020B0604020202020204"/>
                <a:cs typeface="Arial" panose="020B0604020202020204"/>
              </a:rPr>
              <a:t>- Login: 14 cases, 14 passed</a:t>
            </a:r>
            <a:endParaRPr sz="1575">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75">
                <a:solidFill>
                  <a:srgbClr val="111111"/>
                </a:solidFill>
                <a:latin typeface="Arial" panose="020B0604020202020204"/>
                <a:ea typeface="Arial" panose="020B0604020202020204"/>
                <a:cs typeface="Arial" panose="020B0604020202020204"/>
              </a:defRPr>
            </a:pPr>
            <a:r>
              <a:rPr sz="1575">
                <a:solidFill>
                  <a:srgbClr val="111111"/>
                </a:solidFill>
                <a:latin typeface="Arial" panose="020B0604020202020204"/>
                <a:ea typeface="Arial" panose="020B0604020202020204"/>
                <a:cs typeface="Arial" panose="020B0604020202020204"/>
              </a:rPr>
              <a:t>- Signup pass rate: 70.8%</a:t>
            </a:r>
            <a:endParaRPr sz="1575">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75">
                <a:solidFill>
                  <a:srgbClr val="111111"/>
                </a:solidFill>
                <a:latin typeface="Arial" panose="020B0604020202020204"/>
                <a:ea typeface="Arial" panose="020B0604020202020204"/>
                <a:cs typeface="Arial" panose="020B0604020202020204"/>
              </a:defRPr>
            </a:pPr>
            <a:r>
              <a:rPr sz="1575">
                <a:solidFill>
                  <a:srgbClr val="111111"/>
                </a:solidFill>
                <a:latin typeface="Arial" panose="020B0604020202020204"/>
                <a:ea typeface="Arial" panose="020B0604020202020204"/>
                <a:cs typeface="Arial" panose="020B0604020202020204"/>
              </a:rPr>
              <a:t>- Login pass rate: 100.0%</a:t>
            </a:r>
            <a:endParaRPr sz="1575">
              <a:solidFill>
                <a:srgbClr val="111111"/>
              </a:solidFill>
              <a:latin typeface="Arial" panose="020B0604020202020204"/>
              <a:ea typeface="Arial" panose="020B0604020202020204"/>
              <a:cs typeface="Arial" panose="020B0604020202020204"/>
            </a:endParaRPr>
          </a:p>
        </p:txBody>
      </p:sp>
      <p:sp>
        <p:nvSpPr>
          <p:cNvPr id="18" name="直接连接符 17"/>
          <p:cNvSpPr>
            <a:spLocks noGrp="1"/>
          </p:cNvSpPr>
          <p:nvPr/>
        </p:nvSpPr>
        <p:spPr>
          <a:xfrm>
            <a:off x="6168189" y="993340"/>
            <a:ext cx="0" cy="5328519"/>
          </a:xfrm>
          <a:prstGeom prst="line">
            <a:avLst/>
          </a:prstGeom>
          <a:ln w="19050">
            <a:prstDash val="dash"/>
          </a:ln>
        </p:spPr>
        <p:style>
          <a:lnRef idx="2">
            <a:schemeClr val="dk1"/>
          </a:lnRef>
          <a:fillRef idx="0">
            <a:schemeClr val="dk1"/>
          </a:fillRef>
          <a:effectRef idx="1">
            <a:schemeClr val="dk1"/>
          </a:effectRef>
          <a:fontRef idx="minor">
            <a:schemeClr val="tx1"/>
          </a:fontRef>
        </p:style>
      </p:sp>
      <p:sp>
        <p:nvSpPr>
          <p:cNvPr id="19" name="文本框 18"/>
          <p:cNvSpPr>
            <a:spLocks noGrp="1"/>
          </p:cNvSpPr>
          <p:nvPr/>
        </p:nvSpPr>
        <p:spPr>
          <a:xfrm>
            <a:off x="6765192" y="4386522"/>
            <a:ext cx="4762203" cy="1805940"/>
          </a:xfrm>
          <a:prstGeom prst="rect">
            <a:avLst/>
          </a:prstGeom>
          <a:noFill/>
        </p:spPr>
        <p:txBody>
          <a:bodyPr wrap="square">
            <a:spAutoFit/>
          </a:bodyPr>
          <a:lstStyle/>
          <a:p>
            <a:pPr>
              <a:lnSpc>
                <a:spcPct val="150000"/>
              </a:lnSpc>
              <a:buNone/>
              <a:defRPr sz="1500">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Evidence checked:</a:t>
            </a:r>
            <a:endParaRPr sz="1500" b="1">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HTTP response and redirect</a:t>
            </a:r>
            <a:endParaRPr sz="1500">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database insert / no insert</a:t>
            </a:r>
            <a:endParaRPr sz="1500">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Flask session["userName"]</a:t>
            </a:r>
            <a:endParaRPr sz="1500">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isolated test database state</a:t>
            </a:r>
            <a:endParaRPr sz="1500">
              <a:solidFill>
                <a:srgbClr val="111111"/>
              </a:solidFill>
              <a:latin typeface="Arial" panose="020B0604020202020204"/>
              <a:ea typeface="Arial" panose="020B0604020202020204"/>
              <a:cs typeface="Arial" panose="020B0604020202020204"/>
            </a:endParaRPr>
          </a:p>
        </p:txBody>
      </p:sp>
      <p:sp>
        <p:nvSpPr>
          <p:cNvPr id="23" name="文本框 22"/>
          <p:cNvSpPr>
            <a:spLocks noGrp="1"/>
          </p:cNvSpPr>
          <p:nvPr/>
        </p:nvSpPr>
        <p:spPr>
          <a:xfrm>
            <a:off x="138717" y="1634967"/>
            <a:ext cx="5893123" cy="2643481"/>
          </a:xfrm>
          <a:prstGeom prst="rect">
            <a:avLst/>
          </a:prstGeom>
          <a:noFill/>
        </p:spPr>
        <p:txBody>
          <a:bodyPr wrap="square">
            <a:spAutoFit/>
          </a:bodyPr>
          <a:lstStyle/>
          <a:p>
            <a:pPr marL="342900" indent="-342900">
              <a:lnSpc>
                <a:spcPct val="150000"/>
              </a:lnSpc>
              <a:buAutoNum type="arabicPeriod"/>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Why this framework:</a:t>
            </a:r>
            <a:endParaRPr sz="1500">
              <a:solidFill>
                <a:srgbClr val="111111"/>
              </a:solidFill>
              <a:latin typeface="Arial" panose="020B0604020202020204"/>
              <a:ea typeface="Arial" panose="020B0604020202020204"/>
              <a:cs typeface="Arial" panose="020B0604020202020204"/>
            </a:endParaRPr>
          </a:p>
          <a:p>
            <a:pPr marL="504190" indent="-1714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no real browser needed</a:t>
            </a:r>
            <a:endParaRPr sz="1500">
              <a:solidFill>
                <a:srgbClr val="111111"/>
              </a:solidFill>
              <a:latin typeface="Arial" panose="020B0604020202020204"/>
              <a:ea typeface="Arial" panose="020B0604020202020204"/>
              <a:cs typeface="Arial" panose="020B0604020202020204"/>
            </a:endParaRPr>
          </a:p>
          <a:p>
            <a:pPr marL="504190" indent="-1714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direct route-level assertions</a:t>
            </a:r>
            <a:endParaRPr sz="1500">
              <a:solidFill>
                <a:srgbClr val="111111"/>
              </a:solidFill>
              <a:latin typeface="Arial" panose="020B0604020202020204"/>
              <a:ea typeface="Arial" panose="020B0604020202020204"/>
              <a:cs typeface="Arial" panose="020B0604020202020204"/>
            </a:endParaRPr>
          </a:p>
          <a:p>
            <a:pPr marL="504190" indent="-1714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easy configuration patching</a:t>
            </a:r>
            <a:endParaRPr sz="1500">
              <a:solidFill>
                <a:srgbClr val="111111"/>
              </a:solidFill>
              <a:latin typeface="Arial" panose="020B0604020202020204"/>
              <a:ea typeface="Arial" panose="020B0604020202020204"/>
              <a:cs typeface="Arial" panose="020B0604020202020204"/>
            </a:endParaRPr>
          </a:p>
          <a:p>
            <a:pPr marL="342900" indent="-342900">
              <a:lnSpc>
                <a:spcPct val="150000"/>
              </a:lnSpc>
              <a:buAutoNum type="arabicPeriod" startAt="2"/>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suitable for regression reuse</a:t>
            </a:r>
            <a:endParaRPr sz="1500">
              <a:solidFill>
                <a:srgbClr val="111111"/>
              </a:solidFill>
              <a:latin typeface="Arial" panose="020B0604020202020204"/>
              <a:ea typeface="Arial" panose="020B0604020202020204"/>
              <a:cs typeface="Arial" panose="020B0604020202020204"/>
            </a:endParaRPr>
          </a:p>
        </p:txBody>
      </p:sp>
      <p:cxnSp>
        <p:nvCxnSpPr>
          <p:cNvPr id="43" name="直接箭头连接符 26"/>
          <p:cNvCxnSpPr/>
          <p:nvPr/>
        </p:nvCxnSpPr>
        <p:spPr>
          <a:xfrm flipH="1">
            <a:off x="9471235" y="4914077"/>
            <a:ext cx="374969"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8" name="矩形 27"/>
          <p:cNvSpPr>
            <a:spLocks noGrp="1"/>
          </p:cNvSpPr>
          <p:nvPr/>
        </p:nvSpPr>
        <p:spPr>
          <a:xfrm>
            <a:off x="571500" y="4591050"/>
            <a:ext cx="1428750" cy="266700"/>
          </a:xfrm>
          <a:prstGeom prst="rect">
            <a:avLst/>
          </a:prstGeom>
          <a:noFill/>
          <a:ln w="0">
            <a:noFill/>
            <a:prstDash val="solid"/>
          </a:ln>
        </p:spPr>
        <p:txBody>
          <a:bodyPr/>
          <a:lstStyle/>
          <a:p>
            <a:pPr algn="l">
              <a:defRPr sz="1125" b="1">
                <a:solidFill>
                  <a:srgbClr val="111111"/>
                </a:solidFill>
                <a:latin typeface="Arial" panose="020B0604020202020204"/>
                <a:ea typeface="Arial" panose="020B0604020202020204"/>
                <a:cs typeface="Arial" panose="020B0604020202020204"/>
              </a:defRPr>
            </a:pPr>
            <a:r>
              <a:rPr sz="1125" b="1">
                <a:solidFill>
                  <a:srgbClr val="111111"/>
                </a:solidFill>
                <a:latin typeface="Arial" panose="020B0604020202020204"/>
                <a:ea typeface="Arial" panose="020B0604020202020204"/>
                <a:cs typeface="Arial" panose="020B0604020202020204"/>
              </a:rPr>
              <a:t>Signup</a:t>
            </a:r>
            <a:endParaRPr sz="1125" b="1">
              <a:solidFill>
                <a:srgbClr val="111111"/>
              </a:solidFill>
              <a:latin typeface="Arial" panose="020B0604020202020204"/>
              <a:ea typeface="Arial" panose="020B0604020202020204"/>
              <a:cs typeface="Arial" panose="020B0604020202020204"/>
            </a:endParaRPr>
          </a:p>
        </p:txBody>
      </p:sp>
      <p:sp>
        <p:nvSpPr>
          <p:cNvPr id="29" name="矩形 28"/>
          <p:cNvSpPr>
            <a:spLocks noGrp="1"/>
          </p:cNvSpPr>
          <p:nvPr/>
        </p:nvSpPr>
        <p:spPr>
          <a:xfrm>
            <a:off x="2047875" y="4629150"/>
            <a:ext cx="2190750" cy="190500"/>
          </a:xfrm>
          <a:prstGeom prst="rect">
            <a:avLst/>
          </a:prstGeom>
          <a:solidFill>
            <a:srgbClr val="E7E6E6"/>
          </a:solidFill>
          <a:ln w="0">
            <a:solidFill>
              <a:srgbClr val="E7E6E6"/>
            </a:solidFill>
            <a:prstDash val="solid"/>
          </a:ln>
        </p:spPr>
      </p:sp>
      <p:sp>
        <p:nvSpPr>
          <p:cNvPr id="30" name="矩形 29"/>
          <p:cNvSpPr>
            <a:spLocks noGrp="1"/>
          </p:cNvSpPr>
          <p:nvPr/>
        </p:nvSpPr>
        <p:spPr>
          <a:xfrm>
            <a:off x="2047875" y="4629150"/>
            <a:ext cx="1552575" cy="190500"/>
          </a:xfrm>
          <a:prstGeom prst="rect">
            <a:avLst/>
          </a:prstGeom>
          <a:solidFill>
            <a:srgbClr val="C00000"/>
          </a:solidFill>
          <a:ln w="0">
            <a:solidFill>
              <a:srgbClr val="C00000"/>
            </a:solidFill>
            <a:prstDash val="solid"/>
          </a:ln>
        </p:spPr>
      </p:sp>
      <p:sp>
        <p:nvSpPr>
          <p:cNvPr id="31" name="矩形 30"/>
          <p:cNvSpPr>
            <a:spLocks noGrp="1"/>
          </p:cNvSpPr>
          <p:nvPr/>
        </p:nvSpPr>
        <p:spPr>
          <a:xfrm>
            <a:off x="4381500" y="4591050"/>
            <a:ext cx="857250" cy="266700"/>
          </a:xfrm>
          <a:prstGeom prst="rect">
            <a:avLst/>
          </a:prstGeom>
          <a:noFill/>
          <a:ln w="0">
            <a:noFill/>
            <a:prstDash val="solid"/>
          </a:ln>
        </p:spPr>
        <p:txBody>
          <a:bodyPr/>
          <a:lstStyle/>
          <a:p>
            <a:pPr algn="l">
              <a:defRPr sz="1125" b="1">
                <a:solidFill>
                  <a:srgbClr val="C00000"/>
                </a:solidFill>
                <a:latin typeface="Arial" panose="020B0604020202020204"/>
                <a:ea typeface="Arial" panose="020B0604020202020204"/>
                <a:cs typeface="Arial" panose="020B0604020202020204"/>
              </a:defRPr>
            </a:pPr>
            <a:r>
              <a:rPr sz="1125" b="1">
                <a:solidFill>
                  <a:srgbClr val="C00000"/>
                </a:solidFill>
                <a:latin typeface="Arial" panose="020B0604020202020204"/>
                <a:ea typeface="Arial" panose="020B0604020202020204"/>
                <a:cs typeface="Arial" panose="020B0604020202020204"/>
              </a:rPr>
              <a:t>70.8%</a:t>
            </a:r>
            <a:endParaRPr sz="1125" b="1">
              <a:solidFill>
                <a:srgbClr val="C00000"/>
              </a:solidFill>
              <a:latin typeface="Arial" panose="020B0604020202020204"/>
              <a:ea typeface="Arial" panose="020B0604020202020204"/>
              <a:cs typeface="Arial" panose="020B0604020202020204"/>
            </a:endParaRPr>
          </a:p>
        </p:txBody>
      </p:sp>
      <p:sp>
        <p:nvSpPr>
          <p:cNvPr id="32" name="矩形 31"/>
          <p:cNvSpPr>
            <a:spLocks noGrp="1"/>
          </p:cNvSpPr>
          <p:nvPr/>
        </p:nvSpPr>
        <p:spPr>
          <a:xfrm>
            <a:off x="571500" y="4972050"/>
            <a:ext cx="1428750" cy="266700"/>
          </a:xfrm>
          <a:prstGeom prst="rect">
            <a:avLst/>
          </a:prstGeom>
          <a:noFill/>
          <a:ln w="0">
            <a:noFill/>
            <a:prstDash val="solid"/>
          </a:ln>
        </p:spPr>
        <p:txBody>
          <a:bodyPr/>
          <a:lstStyle/>
          <a:p>
            <a:pPr algn="l">
              <a:defRPr sz="1125" b="1">
                <a:solidFill>
                  <a:srgbClr val="111111"/>
                </a:solidFill>
                <a:latin typeface="Arial" panose="020B0604020202020204"/>
                <a:ea typeface="Arial" panose="020B0604020202020204"/>
                <a:cs typeface="Arial" panose="020B0604020202020204"/>
              </a:defRPr>
            </a:pPr>
            <a:r>
              <a:rPr sz="1125" b="1">
                <a:solidFill>
                  <a:srgbClr val="111111"/>
                </a:solidFill>
                <a:latin typeface="Arial" panose="020B0604020202020204"/>
                <a:ea typeface="Arial" panose="020B0604020202020204"/>
                <a:cs typeface="Arial" panose="020B0604020202020204"/>
              </a:rPr>
              <a:t>Login</a:t>
            </a:r>
            <a:endParaRPr sz="1125" b="1">
              <a:solidFill>
                <a:srgbClr val="111111"/>
              </a:solidFill>
              <a:latin typeface="Arial" panose="020B0604020202020204"/>
              <a:ea typeface="Arial" panose="020B0604020202020204"/>
              <a:cs typeface="Arial" panose="020B0604020202020204"/>
            </a:endParaRPr>
          </a:p>
        </p:txBody>
      </p:sp>
      <p:sp>
        <p:nvSpPr>
          <p:cNvPr id="33" name="矩形 32"/>
          <p:cNvSpPr>
            <a:spLocks noGrp="1"/>
          </p:cNvSpPr>
          <p:nvPr/>
        </p:nvSpPr>
        <p:spPr>
          <a:xfrm>
            <a:off x="2047875" y="5010150"/>
            <a:ext cx="2190750" cy="190500"/>
          </a:xfrm>
          <a:prstGeom prst="rect">
            <a:avLst/>
          </a:prstGeom>
          <a:solidFill>
            <a:srgbClr val="E7E6E6"/>
          </a:solidFill>
          <a:ln w="0">
            <a:solidFill>
              <a:srgbClr val="E7E6E6"/>
            </a:solidFill>
            <a:prstDash val="solid"/>
          </a:ln>
        </p:spPr>
      </p:sp>
      <p:sp>
        <p:nvSpPr>
          <p:cNvPr id="34" name="矩形 33"/>
          <p:cNvSpPr>
            <a:spLocks noGrp="1"/>
          </p:cNvSpPr>
          <p:nvPr/>
        </p:nvSpPr>
        <p:spPr>
          <a:xfrm>
            <a:off x="2047875" y="5010150"/>
            <a:ext cx="2190750" cy="190500"/>
          </a:xfrm>
          <a:prstGeom prst="rect">
            <a:avLst/>
          </a:prstGeom>
          <a:solidFill>
            <a:srgbClr val="1F7A1F"/>
          </a:solidFill>
          <a:ln w="0">
            <a:solidFill>
              <a:srgbClr val="1F7A1F"/>
            </a:solidFill>
            <a:prstDash val="solid"/>
          </a:ln>
        </p:spPr>
      </p:sp>
      <p:sp>
        <p:nvSpPr>
          <p:cNvPr id="35" name="矩形 34"/>
          <p:cNvSpPr>
            <a:spLocks noGrp="1"/>
          </p:cNvSpPr>
          <p:nvPr/>
        </p:nvSpPr>
        <p:spPr>
          <a:xfrm>
            <a:off x="4381500" y="4972050"/>
            <a:ext cx="857250" cy="266700"/>
          </a:xfrm>
          <a:prstGeom prst="rect">
            <a:avLst/>
          </a:prstGeom>
          <a:noFill/>
          <a:ln w="0">
            <a:noFill/>
            <a:prstDash val="solid"/>
          </a:ln>
        </p:spPr>
        <p:txBody>
          <a:bodyPr/>
          <a:lstStyle/>
          <a:p>
            <a:pPr algn="l">
              <a:defRPr sz="1125" b="1">
                <a:solidFill>
                  <a:srgbClr val="1F7A1F"/>
                </a:solidFill>
                <a:latin typeface="Arial" panose="020B0604020202020204"/>
                <a:ea typeface="Arial" panose="020B0604020202020204"/>
                <a:cs typeface="Arial" panose="020B0604020202020204"/>
              </a:defRPr>
            </a:pPr>
            <a:r>
              <a:rPr sz="1125" b="1">
                <a:solidFill>
                  <a:srgbClr val="1F7A1F"/>
                </a:solidFill>
                <a:latin typeface="Arial" panose="020B0604020202020204"/>
                <a:ea typeface="Arial" panose="020B0604020202020204"/>
                <a:cs typeface="Arial" panose="020B0604020202020204"/>
              </a:rPr>
              <a:t>100%</a:t>
            </a:r>
            <a:endParaRPr sz="1125" b="1">
              <a:solidFill>
                <a:srgbClr val="1F7A1F"/>
              </a:solidFill>
              <a:latin typeface="Arial" panose="020B0604020202020204"/>
              <a:ea typeface="Arial" panose="020B0604020202020204"/>
              <a:cs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 name="矩形: 圆角 14"/>
          <p:cNvSpPr>
            <a:spLocks noGrp="1"/>
          </p:cNvSpPr>
          <p:nvPr/>
        </p:nvSpPr>
        <p:spPr>
          <a:xfrm>
            <a:off x="146050" y="3714750"/>
            <a:ext cx="7211695" cy="2277110"/>
          </a:xfrm>
          <a:prstGeom prst="roundRect">
            <a:avLst>
              <a:gd name="adj" fmla="val 2034"/>
            </a:avLst>
          </a:prstGeom>
          <a:solidFill>
            <a:schemeClr val="accent1">
              <a:lumMod val="20000"/>
              <a:lumOff val="80000"/>
            </a:scheme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8" name="文本占位符 1"/>
          <p:cNvSpPr>
            <a:spLocks noGrp="1"/>
          </p:cNvSpPr>
          <p:nvPr/>
        </p:nvSpPr>
        <p:spPr>
          <a:xfrm>
            <a:off x="138717" y="257139"/>
            <a:ext cx="4133801" cy="583059"/>
          </a:xfrm>
          <a:prstGeom prst="rect">
            <a:avLst/>
          </a:prstGeom>
        </p:spPr>
        <p:txBody>
          <a:bodyPr>
            <a:noAutofit/>
          </a:bodyPr>
          <a:lstStyle>
            <a:lvl1pPr marL="228600" indent="-228600" algn="l">
              <a:lnSpc>
                <a:spcPct val="90000"/>
              </a:lnSpc>
              <a:spcBef>
                <a:spcPts val="1000"/>
              </a:spcBef>
              <a:buNone/>
              <a:defRPr sz="3600" b="1" i="0">
                <a:solidFill>
                  <a:srgbClr val="4372C4"/>
                </a:solidFill>
                <a:latin typeface="Arial" panose="020B0604020202020204"/>
                <a:ea typeface="Arial" panose="020B0604020202020204"/>
                <a:cs typeface="Arial" panose="020B0604020202020204"/>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Setup Defect</a:t>
            </a:r>
            <a:endParaRPr sz="2400" b="1">
              <a:solidFill>
                <a:srgbClr val="111111"/>
              </a:solidFill>
              <a:latin typeface="Arial" panose="020B0604020202020204"/>
              <a:ea typeface="Arial" panose="020B0604020202020204"/>
              <a:cs typeface="Arial" panose="020B0604020202020204"/>
            </a:endParaRPr>
          </a:p>
        </p:txBody>
      </p:sp>
      <p:sp>
        <p:nvSpPr>
          <p:cNvPr id="2" name="文本框 1"/>
          <p:cNvSpPr>
            <a:spLocks noGrp="1"/>
          </p:cNvSpPr>
          <p:nvPr/>
        </p:nvSpPr>
        <p:spPr>
          <a:xfrm>
            <a:off x="146138" y="840198"/>
            <a:ext cx="7211878" cy="2360711"/>
          </a:xfrm>
          <a:prstGeom prst="rect">
            <a:avLst/>
          </a:prstGeom>
          <a:noFill/>
        </p:spPr>
        <p:txBody>
          <a:bodyPr wrap="square">
            <a:spAutoFit/>
          </a:bodyPr>
          <a:lstStyle/>
          <a:p>
            <a:pPr>
              <a:lnSpc>
                <a:spcPct val="150000"/>
              </a:lnSpc>
              <a:buNone/>
              <a:defRPr sz="1500">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D-BB-01 Signup backend does not enforce WTForms validation</a:t>
            </a:r>
            <a:endParaRPr sz="1500" b="1">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The signup route creates SignUpForm(request.form), but does not call form.validate() before processing submitted data.</a:t>
            </a:r>
            <a:endParaRPr sz="1500">
              <a:solidFill>
                <a:srgbClr val="111111"/>
              </a:solidFill>
              <a:latin typeface="Arial" panose="020B0604020202020204"/>
              <a:ea typeface="Arial" panose="020B0604020202020204"/>
              <a:cs typeface="Arial" panose="020B0604020202020204"/>
            </a:endParaRPr>
          </a:p>
        </p:txBody>
      </p:sp>
      <p:sp>
        <p:nvSpPr>
          <p:cNvPr id="9" name="文本框 8"/>
          <p:cNvSpPr>
            <a:spLocks noGrp="1"/>
          </p:cNvSpPr>
          <p:nvPr/>
        </p:nvSpPr>
        <p:spPr>
          <a:xfrm>
            <a:off x="8297428" y="2621645"/>
            <a:ext cx="3523598" cy="308610"/>
          </a:xfrm>
          <a:prstGeom prst="rect">
            <a:avLst/>
          </a:prstGeom>
          <a:noFill/>
        </p:spPr>
        <p:txBody>
          <a:bodyPr wrap="square">
            <a:spAutoFit/>
          </a:bodyPr>
          <a:lstStyle/>
          <a:p>
            <a:pPr algn="ctr">
              <a:buNone/>
              <a:defRPr sz="1425" b="1">
                <a:solidFill>
                  <a:srgbClr val="C00000"/>
                </a:solidFill>
                <a:latin typeface="Arial" panose="020B0604020202020204"/>
                <a:ea typeface="Arial" panose="020B0604020202020204"/>
                <a:cs typeface="Arial" panose="020B0604020202020204"/>
              </a:defRPr>
            </a:pPr>
            <a:r>
              <a:rPr sz="1425" b="1">
                <a:solidFill>
                  <a:srgbClr val="C00000"/>
                </a:solidFill>
                <a:latin typeface="Arial" panose="020B0604020202020204"/>
                <a:ea typeface="Arial" panose="020B0604020202020204"/>
                <a:cs typeface="Arial" panose="020B0604020202020204"/>
              </a:rPr>
              <a:t>Observed failures</a:t>
            </a:r>
            <a:endParaRPr sz="1425" b="1">
              <a:solidFill>
                <a:srgbClr val="C00000"/>
              </a:solidFill>
              <a:latin typeface="Arial" panose="020B0604020202020204"/>
              <a:ea typeface="Arial" panose="020B0604020202020204"/>
              <a:cs typeface="Arial" panose="020B0604020202020204"/>
            </a:endParaRPr>
          </a:p>
        </p:txBody>
      </p:sp>
      <p:sp>
        <p:nvSpPr>
          <p:cNvPr id="10" name="文本框 9"/>
          <p:cNvSpPr>
            <a:spLocks noGrp="1"/>
          </p:cNvSpPr>
          <p:nvPr/>
        </p:nvSpPr>
        <p:spPr>
          <a:xfrm>
            <a:off x="8297428" y="6040334"/>
            <a:ext cx="3522594" cy="308610"/>
          </a:xfrm>
          <a:prstGeom prst="rect">
            <a:avLst/>
          </a:prstGeom>
          <a:noFill/>
        </p:spPr>
        <p:txBody>
          <a:bodyPr wrap="square">
            <a:spAutoFit/>
          </a:bodyPr>
          <a:lstStyle/>
          <a:p>
            <a:pPr algn="ctr">
              <a:buNone/>
              <a:defRPr sz="1425" b="1">
                <a:solidFill>
                  <a:srgbClr val="C00000"/>
                </a:solidFill>
                <a:latin typeface="Arial" panose="020B0604020202020204"/>
                <a:ea typeface="Arial" panose="020B0604020202020204"/>
                <a:cs typeface="Arial" panose="020B0604020202020204"/>
              </a:defRPr>
            </a:pPr>
            <a:r>
              <a:rPr sz="1425" b="1">
                <a:solidFill>
                  <a:srgbClr val="C00000"/>
                </a:solidFill>
                <a:latin typeface="Arial" panose="020B0604020202020204"/>
                <a:ea typeface="Arial" panose="020B0604020202020204"/>
                <a:cs typeface="Arial" panose="020B0604020202020204"/>
              </a:rPr>
              <a:t>Fix direction</a:t>
            </a:r>
            <a:endParaRPr sz="1425" b="1">
              <a:solidFill>
                <a:srgbClr val="C00000"/>
              </a:solidFill>
              <a:latin typeface="Arial" panose="020B0604020202020204"/>
              <a:ea typeface="Arial" panose="020B0604020202020204"/>
              <a:cs typeface="Arial" panose="020B0604020202020204"/>
            </a:endParaRPr>
          </a:p>
        </p:txBody>
      </p:sp>
      <p:sp>
        <p:nvSpPr>
          <p:cNvPr id="12" name="文本框 11"/>
          <p:cNvSpPr>
            <a:spLocks noGrp="1"/>
          </p:cNvSpPr>
          <p:nvPr/>
        </p:nvSpPr>
        <p:spPr>
          <a:xfrm>
            <a:off x="146138" y="3887744"/>
            <a:ext cx="7211879" cy="2057400"/>
          </a:xfrm>
          <a:prstGeom prst="rect">
            <a:avLst/>
          </a:prstGeom>
          <a:noFill/>
        </p:spPr>
        <p:txBody>
          <a:bodyPr wrap="square">
            <a:spAutoFit/>
          </a:bodyPr>
          <a:lstStyle/>
          <a:p>
            <a:pPr>
              <a:lnSpc>
                <a:spcPct val="150000"/>
              </a:lnSpc>
              <a:buNone/>
              <a:defRPr sz="1425">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Invalid inputs were accepted:</a:t>
            </a:r>
            <a:endParaRPr sz="1425" b="1">
              <a:solidFill>
                <a:srgbClr val="111111"/>
              </a:solidFill>
              <a:latin typeface="Arial" panose="020B0604020202020204"/>
              <a:ea typeface="Arial" panose="020B0604020202020204"/>
              <a:cs typeface="Arial" panose="020B0604020202020204"/>
            </a:endParaRPr>
          </a:p>
          <a:p>
            <a:pPr>
              <a:lnSpc>
                <a:spcPct val="150000"/>
              </a:lnSpc>
              <a:buNone/>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 username length 3 / 26</a:t>
            </a:r>
            <a:endParaRPr sz="1425">
              <a:solidFill>
                <a:srgbClr val="111111"/>
              </a:solidFill>
              <a:latin typeface="Arial" panose="020B0604020202020204"/>
              <a:ea typeface="Arial" panose="020B0604020202020204"/>
              <a:cs typeface="Arial" panose="020B0604020202020204"/>
            </a:endParaRPr>
          </a:p>
          <a:p>
            <a:pPr marL="63119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 invalid email format</a:t>
            </a:r>
            <a:endParaRPr sz="1425">
              <a:solidFill>
                <a:srgbClr val="111111"/>
              </a:solidFill>
              <a:latin typeface="Arial" panose="020B0604020202020204"/>
              <a:ea typeface="Arial" panose="020B0604020202020204"/>
              <a:cs typeface="Arial" panose="020B0604020202020204"/>
            </a:endParaRPr>
          </a:p>
          <a:p>
            <a:pPr marL="63119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 email length 5 / 51</a:t>
            </a:r>
            <a:endParaRPr sz="1425">
              <a:solidFill>
                <a:srgbClr val="111111"/>
              </a:solidFill>
              <a:latin typeface="Arial" panose="020B0604020202020204"/>
              <a:ea typeface="Arial" panose="020B0604020202020204"/>
              <a:cs typeface="Arial" panose="020B0604020202020204"/>
            </a:endParaRPr>
          </a:p>
          <a:p>
            <a:pPr marL="63119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 empty password</a:t>
            </a:r>
            <a:endParaRPr sz="1425">
              <a:solidFill>
                <a:srgbClr val="111111"/>
              </a:solidFill>
              <a:latin typeface="Arial" panose="020B0604020202020204"/>
              <a:ea typeface="Arial" panose="020B0604020202020204"/>
              <a:cs typeface="Arial" panose="020B0604020202020204"/>
            </a:endParaRPr>
          </a:p>
          <a:p>
            <a:pPr marL="631190" indent="-342900">
              <a:lnSpc>
                <a:spcPct val="150000"/>
              </a:lnSpc>
              <a:buAutoNum type="arabicPeriod"/>
              <a:defRPr sz="1425">
                <a:solidFill>
                  <a:srgbClr val="111111"/>
                </a:solidFill>
                <a:latin typeface="Arial" panose="020B0604020202020204"/>
                <a:ea typeface="Arial" panose="020B0604020202020204"/>
                <a:cs typeface="Arial" panose="020B0604020202020204"/>
              </a:defRPr>
            </a:pPr>
            <a:r>
              <a:rPr sz="1425">
                <a:solidFill>
                  <a:srgbClr val="111111"/>
                </a:solidFill>
                <a:latin typeface="Arial" panose="020B0604020202020204"/>
                <a:ea typeface="Arial" panose="020B0604020202020204"/>
                <a:cs typeface="Arial" panose="020B0604020202020204"/>
              </a:rPr>
              <a:t>- password length 7</a:t>
            </a:r>
            <a:endParaRPr sz="1425">
              <a:solidFill>
                <a:srgbClr val="111111"/>
              </a:solidFill>
              <a:latin typeface="Arial" panose="020B0604020202020204"/>
              <a:ea typeface="Arial" panose="020B0604020202020204"/>
              <a:cs typeface="Arial" panose="020B0604020202020204"/>
            </a:endParaRPr>
          </a:p>
        </p:txBody>
      </p:sp>
      <p:sp>
        <p:nvSpPr>
          <p:cNvPr id="5" name="文本框 4"/>
          <p:cNvSpPr>
            <a:spLocks noGrp="1"/>
          </p:cNvSpPr>
          <p:nvPr/>
        </p:nvSpPr>
        <p:spPr>
          <a:xfrm>
            <a:off x="8549701" y="4304030"/>
            <a:ext cx="3017044" cy="400110"/>
          </a:xfrm>
          <a:prstGeom prst="rect">
            <a:avLst/>
          </a:prstGeom>
          <a:noFill/>
        </p:spPr>
        <p:txBody>
          <a:bodyPr wrap="square">
            <a:spAutoFit/>
          </a:bodyPr>
          <a:lstStyle/>
          <a:p>
            <a:pPr algn="ctr">
              <a:buNone/>
            </a:pPr>
            <a:endParaRPr sz="2000" b="1">
              <a:solidFill>
                <a:srgbClr val="4372C4"/>
              </a:solidFill>
              <a:latin typeface="Arial" panose="020B0604020202020204"/>
              <a:ea typeface="Arial" panose="020B0604020202020204"/>
              <a:cs typeface="Arial" panose="020B0604020202020204"/>
            </a:endParaRPr>
          </a:p>
        </p:txBody>
      </p:sp>
      <p:sp>
        <p:nvSpPr>
          <p:cNvPr id="7" name="箭头: 左弧形 6"/>
          <p:cNvSpPr>
            <a:spLocks noGrp="1"/>
          </p:cNvSpPr>
          <p:nvPr/>
        </p:nvSpPr>
        <p:spPr>
          <a:xfrm>
            <a:off x="7680960" y="1864895"/>
            <a:ext cx="572703" cy="3013910"/>
          </a:xfrm>
          <a:prstGeom prst="curvedRightArrow">
            <a:avLst/>
          </a:prstGeom>
          <a:solidFill>
            <a:srgbClr val="4372C4"/>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 name="矩形: 圆角 2"/>
          <p:cNvSpPr>
            <a:spLocks noGrp="1"/>
          </p:cNvSpPr>
          <p:nvPr/>
        </p:nvSpPr>
        <p:spPr>
          <a:xfrm>
            <a:off x="8297428" y="784350"/>
            <a:ext cx="3523598" cy="2083516"/>
          </a:xfrm>
          <a:prstGeom prst="roundRect">
            <a:avLst>
              <a:gd name="adj" fmla="val 2034"/>
            </a:avLst>
          </a:prstGeom>
          <a:noFill/>
          <a:ln w="19050">
            <a:solidFill>
              <a:srgbClr val="43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11" name="矩形: 圆角 10"/>
          <p:cNvSpPr>
            <a:spLocks noGrp="1"/>
          </p:cNvSpPr>
          <p:nvPr/>
        </p:nvSpPr>
        <p:spPr>
          <a:xfrm>
            <a:off x="8296424" y="3062036"/>
            <a:ext cx="3523598" cy="3250325"/>
          </a:xfrm>
          <a:prstGeom prst="roundRect">
            <a:avLst>
              <a:gd name="adj" fmla="val 2034"/>
            </a:avLst>
          </a:prstGeom>
          <a:noFill/>
          <a:ln w="19050">
            <a:solidFill>
              <a:srgbClr val="43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16" name="矩形 15"/>
          <p:cNvSpPr>
            <a:spLocks noGrp="1"/>
          </p:cNvSpPr>
          <p:nvPr/>
        </p:nvSpPr>
        <p:spPr>
          <a:xfrm>
            <a:off x="8458200" y="1314450"/>
            <a:ext cx="3143250" cy="1066800"/>
          </a:xfrm>
          <a:prstGeom prst="rect">
            <a:avLst/>
          </a:prstGeom>
          <a:noFill/>
          <a:ln w="0">
            <a:noFill/>
            <a:prstDash val="solid"/>
          </a:ln>
        </p:spPr>
        <p:txBody>
          <a:bodyPr/>
          <a:lstStyle/>
          <a:p>
            <a:pPr algn="ctr">
              <a:defRPr sz="1650" b="1">
                <a:solidFill>
                  <a:srgbClr val="111111"/>
                </a:solidFill>
                <a:latin typeface="Arial" panose="020B0604020202020204"/>
                <a:ea typeface="Arial" panose="020B0604020202020204"/>
                <a:cs typeface="Arial" panose="020B0604020202020204"/>
              </a:defRPr>
            </a:pPr>
            <a:r>
              <a:rPr sz="1650" b="1">
                <a:solidFill>
                  <a:srgbClr val="111111"/>
                </a:solidFill>
                <a:latin typeface="Arial" panose="020B0604020202020204"/>
                <a:ea typeface="Arial" panose="020B0604020202020204"/>
                <a:cs typeface="Arial" panose="020B0604020202020204"/>
              </a:rPr>
              <a:t>Call form.validate() before insertion; return signup page with error message when validation fails.</a:t>
            </a:r>
            <a:endParaRPr sz="1650" b="1">
              <a:solidFill>
                <a:srgbClr val="111111"/>
              </a:solidFill>
              <a:latin typeface="Arial" panose="020B0604020202020204"/>
              <a:ea typeface="Arial" panose="020B0604020202020204"/>
              <a:cs typeface="Arial" panose="020B0604020202020204"/>
            </a:endParaRPr>
          </a:p>
        </p:txBody>
      </p:sp>
      <p:sp>
        <p:nvSpPr>
          <p:cNvPr id="17" name="矩形 16"/>
          <p:cNvSpPr>
            <a:spLocks noGrp="1"/>
          </p:cNvSpPr>
          <p:nvPr/>
        </p:nvSpPr>
        <p:spPr>
          <a:xfrm>
            <a:off x="8458200" y="3714750"/>
            <a:ext cx="3143250" cy="1381125"/>
          </a:xfrm>
          <a:prstGeom prst="rect">
            <a:avLst/>
          </a:prstGeom>
          <a:noFill/>
          <a:ln w="0">
            <a:noFill/>
            <a:prstDash val="solid"/>
          </a:ln>
        </p:spPr>
        <p:txBody>
          <a:bodyPr/>
          <a:lstStyle/>
          <a:p>
            <a:pPr algn="ctr">
              <a:defRPr sz="1650" b="1">
                <a:solidFill>
                  <a:srgbClr val="111111"/>
                </a:solidFill>
                <a:latin typeface="Arial" panose="020B0604020202020204"/>
                <a:ea typeface="Arial" panose="020B0604020202020204"/>
                <a:cs typeface="Arial" panose="020B0604020202020204"/>
              </a:defRPr>
            </a:pPr>
            <a:r>
              <a:rPr sz="1650" b="1">
                <a:solidFill>
                  <a:srgbClr val="111111"/>
                </a:solidFill>
                <a:latin typeface="Arial" panose="020B0604020202020204"/>
                <a:ea typeface="Arial" panose="020B0604020202020204"/>
                <a:cs typeface="Arial" panose="020B0604020202020204"/>
              </a:rPr>
              <a:t>Backend validation is required because frontend validation can be bypassed.</a:t>
            </a:r>
            <a:endParaRPr sz="1650"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 name="矩形: 圆角 26"/>
          <p:cNvSpPr>
            <a:spLocks noGrp="1"/>
          </p:cNvSpPr>
          <p:nvPr/>
        </p:nvSpPr>
        <p:spPr>
          <a:xfrm>
            <a:off x="5024140" y="1513911"/>
            <a:ext cx="6595131" cy="4018538"/>
          </a:xfrm>
          <a:prstGeom prst="roundRect">
            <a:avLst>
              <a:gd name="adj" fmla="val 2034"/>
            </a:avLst>
          </a:prstGeom>
          <a:noFill/>
          <a:ln w="19050">
            <a:solidFill>
              <a:srgbClr val="43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26" name="矩形: 圆角 25"/>
          <p:cNvSpPr>
            <a:spLocks noGrp="1"/>
          </p:cNvSpPr>
          <p:nvPr/>
        </p:nvSpPr>
        <p:spPr>
          <a:xfrm>
            <a:off x="570681" y="1513911"/>
            <a:ext cx="3549523" cy="2125278"/>
          </a:xfrm>
          <a:prstGeom prst="roundRect">
            <a:avLst>
              <a:gd name="adj" fmla="val 2034"/>
            </a:avLst>
          </a:prstGeom>
          <a:noFill/>
          <a:ln w="19050">
            <a:solidFill>
              <a:srgbClr val="43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50000"/>
              </a:lnSpc>
              <a:buNone/>
            </a:pPr>
          </a:p>
        </p:txBody>
      </p:sp>
      <p:sp>
        <p:nvSpPr>
          <p:cNvPr id="2" name="文本占位符 1"/>
          <p:cNvSpPr>
            <a:spLocks noGrp="1"/>
          </p:cNvSpPr>
          <p:nvPr>
            <p:ph type="body" idx="13"/>
          </p:nvPr>
        </p:nvSpPr>
        <p:spPr>
          <a:xfrm>
            <a:off x="138717"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Post Component</a:t>
            </a:r>
            <a:endParaRPr sz="2400" b="1">
              <a:solidFill>
                <a:srgbClr val="111111"/>
              </a:solidFill>
              <a:latin typeface="Arial" panose="020B0604020202020204"/>
              <a:ea typeface="Arial" panose="020B0604020202020204"/>
              <a:cs typeface="Arial" panose="020B0604020202020204"/>
            </a:endParaRPr>
          </a:p>
        </p:txBody>
      </p:sp>
      <p:sp>
        <p:nvSpPr>
          <p:cNvPr id="5" name="文本框 4"/>
          <p:cNvSpPr>
            <a:spLocks noGrp="1"/>
          </p:cNvSpPr>
          <p:nvPr/>
        </p:nvSpPr>
        <p:spPr>
          <a:xfrm>
            <a:off x="570681" y="1523386"/>
            <a:ext cx="3503482" cy="700576"/>
          </a:xfrm>
          <a:prstGeom prst="rect">
            <a:avLst/>
          </a:prstGeom>
          <a:noFill/>
        </p:spPr>
        <p:txBody>
          <a:bodyPr wrap="square">
            <a:spAutoFit/>
          </a:bodyPr>
          <a:lstStyle/>
          <a:p>
            <a:pPr>
              <a:lnSpc>
                <a:spcPct val="150000"/>
              </a:lnSpc>
              <a:buNone/>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createPost.py route</a:t>
            </a:r>
            <a:endParaRPr sz="1800" b="1">
              <a:solidFill>
                <a:srgbClr val="111111"/>
              </a:solidFill>
              <a:latin typeface="Arial" panose="020B0604020202020204"/>
              <a:ea typeface="Arial" panose="020B0604020202020204"/>
              <a:cs typeface="Arial" panose="020B0604020202020204"/>
            </a:endParaRPr>
          </a:p>
        </p:txBody>
      </p:sp>
      <p:sp>
        <p:nvSpPr>
          <p:cNvPr id="8" name="文本框 7"/>
          <p:cNvSpPr>
            <a:spLocks noGrp="1"/>
          </p:cNvSpPr>
          <p:nvPr/>
        </p:nvSpPr>
        <p:spPr>
          <a:xfrm>
            <a:off x="2218432" y="2526834"/>
            <a:ext cx="1855731" cy="285750"/>
          </a:xfrm>
          <a:prstGeom prst="rect">
            <a:avLst/>
          </a:prstGeom>
          <a:noFill/>
        </p:spPr>
        <p:txBody>
          <a:bodyPr wrap="square">
            <a:spAutoFit/>
          </a:bodyPr>
          <a:lstStyle/>
          <a:p>
            <a:pPr algn="ctr">
              <a:buNone/>
              <a:defRPr sz="1275">
                <a:solidFill>
                  <a:srgbClr val="111111"/>
                </a:solidFill>
                <a:latin typeface="Arial" panose="020B0604020202020204"/>
                <a:ea typeface="Arial" panose="020B0604020202020204"/>
                <a:cs typeface="Arial" panose="020B0604020202020204"/>
              </a:defRPr>
            </a:pPr>
            <a:r>
              <a:rPr sz="1275">
                <a:solidFill>
                  <a:srgbClr val="111111"/>
                </a:solidFill>
                <a:latin typeface="Arial" panose="020B0604020202020204"/>
                <a:ea typeface="Arial" panose="020B0604020202020204"/>
                <a:cs typeface="Arial" panose="020B0604020202020204"/>
              </a:rPr>
              <a:t>session check</a:t>
            </a:r>
            <a:endParaRPr sz="1275">
              <a:solidFill>
                <a:srgbClr val="111111"/>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138717" y="839015"/>
            <a:ext cx="5458932" cy="502920"/>
          </a:xfrm>
          <a:prstGeom prst="rect">
            <a:avLst/>
          </a:prstGeom>
          <a:noFill/>
        </p:spPr>
        <p:txBody>
          <a:bodyPr wrap="square">
            <a:spAutoFit/>
          </a:bodyPr>
          <a:lstStyle/>
          <a:p>
            <a:pPr marL="342900" indent="-342900">
              <a:lnSpc>
                <a:spcPct val="150000"/>
              </a:lnSpc>
              <a:buAutoNum type="alphaUcPeriod" startAt="2"/>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White-box test design:</a:t>
            </a:r>
            <a:endParaRPr sz="1800" b="1">
              <a:solidFill>
                <a:srgbClr val="111111"/>
              </a:solidFill>
              <a:latin typeface="Arial" panose="020B0604020202020204"/>
              <a:ea typeface="Arial" panose="020B0604020202020204"/>
              <a:cs typeface="Arial" panose="020B0604020202020204"/>
            </a:endParaRPr>
          </a:p>
        </p:txBody>
      </p:sp>
      <p:sp>
        <p:nvSpPr>
          <p:cNvPr id="16" name="文本框 15"/>
          <p:cNvSpPr>
            <a:spLocks noGrp="1"/>
          </p:cNvSpPr>
          <p:nvPr/>
        </p:nvSpPr>
        <p:spPr>
          <a:xfrm>
            <a:off x="1317219" y="3165215"/>
            <a:ext cx="1855731" cy="411480"/>
          </a:xfrm>
          <a:prstGeom prst="rect">
            <a:avLst/>
          </a:prstGeom>
          <a:noFill/>
        </p:spPr>
        <p:txBody>
          <a:bodyPr wrap="square">
            <a:spAutoFit/>
          </a:bodyPr>
          <a:lstStyle/>
          <a:p>
            <a:pPr algn="ctr">
              <a:lnSpc>
                <a:spcPct val="150000"/>
              </a:lnSpc>
              <a:buNone/>
              <a:defRPr sz="1275">
                <a:solidFill>
                  <a:srgbClr val="111111"/>
                </a:solidFill>
                <a:latin typeface="Arial" panose="020B0604020202020204"/>
                <a:ea typeface="Arial" panose="020B0604020202020204"/>
                <a:cs typeface="Arial" panose="020B0604020202020204"/>
              </a:defRPr>
            </a:pPr>
            <a:r>
              <a:rPr sz="1275" i="1">
                <a:solidFill>
                  <a:srgbClr val="111111"/>
                </a:solidFill>
                <a:latin typeface="Arial" panose="020B0604020202020204"/>
                <a:ea typeface="Arial" panose="020B0604020202020204"/>
                <a:cs typeface="Arial" panose="020B0604020202020204"/>
              </a:rPr>
              <a:t>GET render form</a:t>
            </a:r>
            <a:endParaRPr sz="1275" i="1">
              <a:solidFill>
                <a:srgbClr val="111111"/>
              </a:solidFill>
              <a:latin typeface="Arial" panose="020B0604020202020204"/>
              <a:ea typeface="Arial" panose="020B0604020202020204"/>
              <a:cs typeface="Arial" panose="020B0604020202020204"/>
            </a:endParaRPr>
          </a:p>
        </p:txBody>
      </p:sp>
      <p:sp>
        <p:nvSpPr>
          <p:cNvPr id="18" name="文本框 17"/>
          <p:cNvSpPr>
            <a:spLocks noGrp="1"/>
          </p:cNvSpPr>
          <p:nvPr/>
        </p:nvSpPr>
        <p:spPr>
          <a:xfrm>
            <a:off x="5115963" y="1516493"/>
            <a:ext cx="6522744" cy="2491740"/>
          </a:xfrm>
          <a:prstGeom prst="rect">
            <a:avLst/>
          </a:prstGeom>
          <a:noFill/>
        </p:spPr>
        <p:txBody>
          <a:bodyPr wrap="square">
            <a:spAutoFit/>
          </a:bodyPr>
          <a:lstStyle/>
          <a:p>
            <a:pPr>
              <a:lnSpc>
                <a:spcPct val="150000"/>
              </a:lnSpc>
              <a:buNone/>
              <a:defRPr sz="1500">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post.py route:</a:t>
            </a:r>
            <a:endParaRPr sz="1500" b="1">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1. query post by urlID</a:t>
            </a:r>
            <a:endParaRPr sz="1500">
              <a:solidFill>
                <a:srgbClr val="111111"/>
              </a:solidFill>
              <a:latin typeface="Arial" panose="020B0604020202020204"/>
              <a:ea typeface="Arial" panose="020B0604020202020204"/>
              <a:cs typeface="Arial" panose="020B0604020202020204"/>
            </a:endParaRPr>
          </a:p>
          <a:p>
            <a:pPr>
              <a:lnSpc>
                <a:spcPct val="150000"/>
              </a:lnSpc>
              <a:buNone/>
              <a:defRPr sz="1500">
                <a:solidFill>
                  <a:srgbClr val="111111"/>
                </a:solidFill>
                <a:latin typeface="Arial" panose="020B0604020202020204"/>
                <a:ea typeface="Arial" panose="020B0604020202020204"/>
                <a:cs typeface="Arial" panose="020B0604020202020204"/>
              </a:defRPr>
            </a:pPr>
            <a:r>
              <a:rPr sz="1500" i="1">
                <a:solidFill>
                  <a:srgbClr val="111111"/>
                </a:solidFill>
                <a:latin typeface="Arial" panose="020B0604020202020204"/>
                <a:ea typeface="Arial" panose="020B0604020202020204"/>
                <a:cs typeface="Arial" panose="020B0604020202020204"/>
              </a:rPr>
              <a:t>2. normalize slug</a:t>
            </a:r>
            <a:endParaRPr sz="1500" i="1">
              <a:solidFill>
                <a:srgbClr val="111111"/>
              </a:solidFill>
              <a:latin typeface="Arial" panose="020B0604020202020204"/>
              <a:ea typeface="Arial" panose="020B0604020202020204"/>
              <a:cs typeface="Arial" panose="020B0604020202020204"/>
            </a:endParaRPr>
          </a:p>
          <a:p>
            <a:pPr marL="285750" indent="-2857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3. update view count</a:t>
            </a:r>
            <a:endParaRPr sz="1500">
              <a:solidFill>
                <a:srgbClr val="111111"/>
              </a:solidFill>
              <a:latin typeface="Arial" panose="020B0604020202020204"/>
              <a:ea typeface="Arial" panose="020B0604020202020204"/>
              <a:cs typeface="Arial" panose="020B0604020202020204"/>
            </a:endParaRPr>
          </a:p>
          <a:p>
            <a:pPr>
              <a:lnSpc>
                <a:spcPct val="150000"/>
              </a:lnSpc>
              <a:buNone/>
              <a:defRPr sz="1500">
                <a:solidFill>
                  <a:srgbClr val="111111"/>
                </a:solidFill>
                <a:latin typeface="Arial" panose="020B0604020202020204"/>
                <a:ea typeface="Arial" panose="020B0604020202020204"/>
                <a:cs typeface="Arial" panose="020B0604020202020204"/>
              </a:defRPr>
            </a:pPr>
            <a:r>
              <a:rPr sz="1500" i="1">
                <a:solidFill>
                  <a:srgbClr val="111111"/>
                </a:solidFill>
                <a:latin typeface="Arial" panose="020B0604020202020204"/>
                <a:ea typeface="Arial" panose="020B0604020202020204"/>
                <a:cs typeface="Arial" panose="020B0604020202020204"/>
              </a:rPr>
              <a:t>4. handle delete/comment actions</a:t>
            </a:r>
            <a:endParaRPr sz="1500" i="1">
              <a:solidFill>
                <a:srgbClr val="111111"/>
              </a:solidFill>
              <a:latin typeface="Arial" panose="020B0604020202020204"/>
              <a:ea typeface="Arial" panose="020B0604020202020204"/>
              <a:cs typeface="Arial" panose="020B0604020202020204"/>
            </a:endParaRPr>
          </a:p>
          <a:p>
            <a:pPr>
              <a:lnSpc>
                <a:spcPct val="150000"/>
              </a:lnSpc>
              <a:buNone/>
              <a:defRPr sz="1500">
                <a:solidFill>
                  <a:srgbClr val="111111"/>
                </a:solidFill>
                <a:latin typeface="Arial" panose="020B0604020202020204"/>
                <a:ea typeface="Arial" panose="020B0604020202020204"/>
                <a:cs typeface="Arial" panose="020B0604020202020204"/>
              </a:defRPr>
            </a:pPr>
            <a:r>
              <a:rPr sz="1500" i="1">
                <a:solidFill>
                  <a:srgbClr val="111111"/>
                </a:solidFill>
                <a:latin typeface="Arial" panose="020B0604020202020204"/>
                <a:ea typeface="Arial" panose="020B0604020202020204"/>
                <a:cs typeface="Arial" panose="020B0604020202020204"/>
              </a:rPr>
              <a:t>5. optionally record analytics</a:t>
            </a:r>
            <a:endParaRPr sz="1500" i="1">
              <a:solidFill>
                <a:srgbClr val="111111"/>
              </a:solidFill>
              <a:latin typeface="Arial" panose="020B0604020202020204"/>
              <a:ea typeface="Arial" panose="020B0604020202020204"/>
              <a:cs typeface="Arial" panose="020B0604020202020204"/>
            </a:endParaRPr>
          </a:p>
          <a:p>
            <a:pPr>
              <a:lnSpc>
                <a:spcPct val="150000"/>
              </a:lnSpc>
              <a:buNone/>
              <a:defRPr sz="1500">
                <a:solidFill>
                  <a:srgbClr val="111111"/>
                </a:solidFill>
                <a:latin typeface="Arial" panose="020B0604020202020204"/>
                <a:ea typeface="Arial" panose="020B0604020202020204"/>
                <a:cs typeface="Arial" panose="020B0604020202020204"/>
              </a:defRPr>
            </a:pPr>
            <a:r>
              <a:rPr sz="1500" i="1">
                <a:solidFill>
                  <a:srgbClr val="111111"/>
                </a:solidFill>
                <a:latin typeface="Arial" panose="020B0604020202020204"/>
                <a:ea typeface="Arial" panose="020B0604020202020204"/>
                <a:cs typeface="Arial" panose="020B0604020202020204"/>
              </a:rPr>
              <a:t>6. render post page or safe error page</a:t>
            </a:r>
            <a:endParaRPr sz="1500" i="1">
              <a:solidFill>
                <a:srgbClr val="111111"/>
              </a:solidFill>
              <a:latin typeface="Arial" panose="020B0604020202020204"/>
              <a:ea typeface="Arial" panose="020B0604020202020204"/>
              <a:cs typeface="Arial" panose="020B0604020202020204"/>
            </a:endParaRPr>
          </a:p>
        </p:txBody>
      </p:sp>
      <p:sp>
        <p:nvSpPr>
          <p:cNvPr id="19" name="文本框 18"/>
          <p:cNvSpPr>
            <a:spLocks noGrp="1"/>
          </p:cNvSpPr>
          <p:nvPr/>
        </p:nvSpPr>
        <p:spPr>
          <a:xfrm>
            <a:off x="10068044" y="2642034"/>
            <a:ext cx="1526150" cy="285750"/>
          </a:xfrm>
          <a:prstGeom prst="rect">
            <a:avLst/>
          </a:prstGeom>
          <a:noFill/>
        </p:spPr>
        <p:txBody>
          <a:bodyPr wrap="square">
            <a:spAutoFit/>
          </a:bodyPr>
          <a:lstStyle/>
          <a:p>
            <a:pPr>
              <a:defRPr sz="1275" b="1">
                <a:solidFill>
                  <a:srgbClr val="111111"/>
                </a:solidFill>
                <a:latin typeface="Arial" panose="020B0604020202020204"/>
                <a:ea typeface="Arial" panose="020B0604020202020204"/>
                <a:cs typeface="Arial" panose="020B0604020202020204"/>
              </a:defRPr>
            </a:pPr>
            <a:r>
              <a:rPr sz="1275" b="1" i="1">
                <a:solidFill>
                  <a:srgbClr val="111111"/>
                </a:solidFill>
                <a:latin typeface="Arial" panose="020B0604020202020204"/>
                <a:ea typeface="Arial" panose="020B0604020202020204"/>
                <a:cs typeface="Arial" panose="020B0604020202020204"/>
              </a:rPr>
              <a:t>10 feasible paths</a:t>
            </a:r>
            <a:endParaRPr sz="1275" b="1" i="1">
              <a:solidFill>
                <a:srgbClr val="111111"/>
              </a:solidFill>
              <a:latin typeface="Arial" panose="020B0604020202020204"/>
              <a:ea typeface="Arial" panose="020B0604020202020204"/>
              <a:cs typeface="Arial" panose="020B0604020202020204"/>
            </a:endParaRPr>
          </a:p>
        </p:txBody>
      </p:sp>
      <p:sp>
        <p:nvSpPr>
          <p:cNvPr id="20" name="箭头: 右弧形 19"/>
          <p:cNvSpPr>
            <a:spLocks noGrp="1"/>
          </p:cNvSpPr>
          <p:nvPr/>
        </p:nvSpPr>
        <p:spPr>
          <a:xfrm>
            <a:off x="9677976" y="2369340"/>
            <a:ext cx="415451" cy="795876"/>
          </a:xfrm>
          <a:prstGeom prst="curvedLeftArrow">
            <a:avLst/>
          </a:prstGeom>
          <a:solidFill>
            <a:srgbClr val="4372C4"/>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1" name="箭头: 下 20"/>
          <p:cNvSpPr>
            <a:spLocks noGrp="1"/>
          </p:cNvSpPr>
          <p:nvPr/>
        </p:nvSpPr>
        <p:spPr>
          <a:xfrm>
            <a:off x="2098572" y="2319855"/>
            <a:ext cx="241909" cy="748797"/>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2" name="文本框 21"/>
          <p:cNvSpPr>
            <a:spLocks noGrp="1"/>
          </p:cNvSpPr>
          <p:nvPr/>
        </p:nvSpPr>
        <p:spPr>
          <a:xfrm>
            <a:off x="6873431" y="4026010"/>
            <a:ext cx="3098889" cy="411480"/>
          </a:xfrm>
          <a:prstGeom prst="rect">
            <a:avLst/>
          </a:prstGeom>
          <a:noFill/>
        </p:spPr>
        <p:txBody>
          <a:bodyPr wrap="square">
            <a:spAutoFit/>
          </a:bodyPr>
          <a:lstStyle/>
          <a:p>
            <a:pPr algn="ctr">
              <a:lnSpc>
                <a:spcPct val="150000"/>
              </a:lnSpc>
              <a:buNone/>
              <a:defRPr sz="1275">
                <a:solidFill>
                  <a:srgbClr val="111111"/>
                </a:solidFill>
                <a:latin typeface="Arial" panose="020B0604020202020204"/>
                <a:ea typeface="Arial" panose="020B0604020202020204"/>
                <a:cs typeface="Arial" panose="020B0604020202020204"/>
              </a:defRPr>
            </a:pPr>
            <a:r>
              <a:rPr sz="1275" i="1">
                <a:solidFill>
                  <a:srgbClr val="111111"/>
                </a:solidFill>
                <a:latin typeface="Arial" panose="020B0604020202020204"/>
                <a:ea typeface="Arial" panose="020B0604020202020204"/>
                <a:cs typeface="Arial" panose="020B0604020202020204"/>
              </a:rPr>
              <a:t>missing / existing post</a:t>
            </a:r>
            <a:endParaRPr sz="1275" i="1">
              <a:solidFill>
                <a:srgbClr val="111111"/>
              </a:solidFill>
              <a:latin typeface="Arial" panose="020B0604020202020204"/>
              <a:ea typeface="Arial" panose="020B0604020202020204"/>
              <a:cs typeface="Arial" panose="020B0604020202020204"/>
            </a:endParaRPr>
          </a:p>
        </p:txBody>
      </p:sp>
      <p:sp>
        <p:nvSpPr>
          <p:cNvPr id="23" name="矩形: 圆角 22"/>
          <p:cNvSpPr>
            <a:spLocks noGrp="1"/>
          </p:cNvSpPr>
          <p:nvPr/>
        </p:nvSpPr>
        <p:spPr>
          <a:xfrm>
            <a:off x="1207726" y="4893748"/>
            <a:ext cx="2065978" cy="638701"/>
          </a:xfrm>
          <a:prstGeom prst="roundRect">
            <a:avLst>
              <a:gd name="adj" fmla="val 9331"/>
            </a:avLst>
          </a:prstGeom>
          <a:solidFill>
            <a:srgbClr val="2F559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sz="1275" b="1">
                <a:solidFill>
                  <a:srgbClr val="111111"/>
                </a:solidFill>
                <a:latin typeface="Arial" panose="020B0604020202020204"/>
                <a:ea typeface="Arial" panose="020B0604020202020204"/>
                <a:cs typeface="Arial" panose="020B0604020202020204"/>
              </a:defRPr>
            </a:pPr>
            <a:r>
              <a:rPr sz="1275" b="1" i="1">
                <a:solidFill>
                  <a:srgbClr val="111111"/>
                </a:solidFill>
                <a:latin typeface="Arial" panose="020B0604020202020204"/>
                <a:ea typeface="Arial" panose="020B0604020202020204"/>
                <a:cs typeface="Arial" panose="020B0604020202020204"/>
              </a:rPr>
              <a:t>POST insert or reject</a:t>
            </a:r>
            <a:endParaRPr sz="1275" b="1" i="1">
              <a:solidFill>
                <a:srgbClr val="111111"/>
              </a:solidFill>
              <a:latin typeface="Arial" panose="020B0604020202020204"/>
              <a:ea typeface="Arial" panose="020B0604020202020204"/>
              <a:cs typeface="Arial" panose="020B0604020202020204"/>
            </a:endParaRPr>
          </a:p>
        </p:txBody>
      </p:sp>
      <p:sp>
        <p:nvSpPr>
          <p:cNvPr id="25" name="箭头: 下 24"/>
          <p:cNvSpPr>
            <a:spLocks noGrp="1"/>
          </p:cNvSpPr>
          <p:nvPr/>
        </p:nvSpPr>
        <p:spPr>
          <a:xfrm>
            <a:off x="8224205" y="3366721"/>
            <a:ext cx="292612" cy="5208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8" name="箭头: 下 27"/>
          <p:cNvSpPr>
            <a:spLocks noGrp="1"/>
          </p:cNvSpPr>
          <p:nvPr/>
        </p:nvSpPr>
        <p:spPr>
          <a:xfrm>
            <a:off x="8224205" y="4472685"/>
            <a:ext cx="292612" cy="5320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9" name="文本框 28"/>
          <p:cNvSpPr>
            <a:spLocks noGrp="1"/>
          </p:cNvSpPr>
          <p:nvPr/>
        </p:nvSpPr>
        <p:spPr>
          <a:xfrm>
            <a:off x="6967551" y="5074010"/>
            <a:ext cx="2972084" cy="411480"/>
          </a:xfrm>
          <a:prstGeom prst="rect">
            <a:avLst/>
          </a:prstGeom>
          <a:noFill/>
        </p:spPr>
        <p:txBody>
          <a:bodyPr wrap="square">
            <a:spAutoFit/>
          </a:bodyPr>
          <a:lstStyle/>
          <a:p>
            <a:pPr algn="ctr">
              <a:lnSpc>
                <a:spcPct val="150000"/>
              </a:lnSpc>
              <a:buNone/>
              <a:defRPr sz="1275">
                <a:solidFill>
                  <a:srgbClr val="111111"/>
                </a:solidFill>
                <a:latin typeface="Arial" panose="020B0604020202020204"/>
                <a:ea typeface="Arial" panose="020B0604020202020204"/>
                <a:cs typeface="Arial" panose="020B0604020202020204"/>
              </a:defRPr>
            </a:pPr>
            <a:r>
              <a:rPr sz="1275" i="1">
                <a:solidFill>
                  <a:srgbClr val="111111"/>
                </a:solidFill>
                <a:latin typeface="Arial" panose="020B0604020202020204"/>
                <a:ea typeface="Arial" panose="020B0604020202020204"/>
                <a:cs typeface="Arial" panose="020B0604020202020204"/>
              </a:rPr>
              <a:t>comment and analytics paths</a:t>
            </a:r>
            <a:endParaRPr sz="1275" i="1">
              <a:solidFill>
                <a:srgbClr val="111111"/>
              </a:solidFill>
              <a:latin typeface="Arial" panose="020B0604020202020204"/>
              <a:ea typeface="Arial" panose="020B0604020202020204"/>
              <a:cs typeface="Arial" panose="020B0604020202020204"/>
            </a:endParaRPr>
          </a:p>
        </p:txBody>
      </p:sp>
      <p:sp>
        <p:nvSpPr>
          <p:cNvPr id="32" name="箭头: 下 31"/>
          <p:cNvSpPr>
            <a:spLocks noGrp="1"/>
          </p:cNvSpPr>
          <p:nvPr/>
        </p:nvSpPr>
        <p:spPr>
          <a:xfrm>
            <a:off x="2098572" y="3842919"/>
            <a:ext cx="242216" cy="84709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3" name="箭头: 下 32"/>
          <p:cNvSpPr>
            <a:spLocks noGrp="1"/>
          </p:cNvSpPr>
          <p:nvPr/>
        </p:nvSpPr>
        <p:spPr>
          <a:xfrm rot="5400000">
            <a:off x="4029777" y="4635096"/>
            <a:ext cx="242216" cy="11568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34" name="文本框 33"/>
          <p:cNvSpPr>
            <a:spLocks noGrp="1"/>
          </p:cNvSpPr>
          <p:nvPr/>
        </p:nvSpPr>
        <p:spPr>
          <a:xfrm>
            <a:off x="8516817" y="4581004"/>
            <a:ext cx="1526150" cy="262890"/>
          </a:xfrm>
          <a:prstGeom prst="rect">
            <a:avLst/>
          </a:prstGeom>
          <a:noFill/>
        </p:spPr>
        <p:txBody>
          <a:bodyPr wrap="square">
            <a:spAutoFit/>
          </a:bodyPr>
          <a:lstStyle/>
          <a:p>
            <a:pPr>
              <a:defRPr sz="1125" b="1">
                <a:solidFill>
                  <a:srgbClr val="111111"/>
                </a:solidFill>
                <a:latin typeface="Arial" panose="020B0604020202020204"/>
                <a:ea typeface="Arial" panose="020B0604020202020204"/>
                <a:cs typeface="Arial" panose="020B0604020202020204"/>
              </a:defRPr>
            </a:pPr>
            <a:r>
              <a:rPr sz="1125" b="1">
                <a:solidFill>
                  <a:srgbClr val="111111"/>
                </a:solidFill>
                <a:latin typeface="Arial" panose="020B0604020202020204"/>
                <a:ea typeface="Arial" panose="020B0604020202020204"/>
                <a:cs typeface="Arial" panose="020B0604020202020204"/>
              </a:rPr>
              <a:t>guards</a:t>
            </a:r>
            <a:endParaRPr sz="1125" b="1">
              <a:solidFill>
                <a:srgbClr val="111111"/>
              </a:solidFill>
              <a:latin typeface="Arial" panose="020B0604020202020204"/>
              <a:ea typeface="Arial" panose="020B0604020202020204"/>
              <a:cs typeface="Arial" panose="020B0604020202020204"/>
            </a:endParaRPr>
          </a:p>
        </p:txBody>
      </p:sp>
      <p:sp>
        <p:nvSpPr>
          <p:cNvPr id="35" name="文本框 34"/>
          <p:cNvSpPr>
            <a:spLocks noGrp="1"/>
          </p:cNvSpPr>
          <p:nvPr/>
        </p:nvSpPr>
        <p:spPr>
          <a:xfrm>
            <a:off x="8516817" y="3441504"/>
            <a:ext cx="3242598" cy="285750"/>
          </a:xfrm>
          <a:prstGeom prst="rect">
            <a:avLst/>
          </a:prstGeom>
          <a:noFill/>
        </p:spPr>
        <p:txBody>
          <a:bodyPr wrap="square">
            <a:spAutoFit/>
          </a:bodyPr>
          <a:lstStyle/>
          <a:p>
            <a:pPr>
              <a:defRPr sz="1275">
                <a:solidFill>
                  <a:srgbClr val="111111"/>
                </a:solidFill>
                <a:latin typeface="Arial" panose="020B0604020202020204"/>
                <a:ea typeface="Arial" panose="020B0604020202020204"/>
                <a:cs typeface="Arial" panose="020B0604020202020204"/>
              </a:defRPr>
            </a:pPr>
            <a:r>
              <a:rPr sz="1275">
                <a:solidFill>
                  <a:srgbClr val="111111"/>
                </a:solidFill>
                <a:latin typeface="Arial" panose="020B0604020202020204"/>
                <a:ea typeface="Arial" panose="020B0604020202020204"/>
                <a:cs typeface="Arial" panose="020B0604020202020204"/>
              </a:rPr>
              <a:t>representative feasible path coverage</a:t>
            </a:r>
            <a:endParaRPr sz="1275">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nvPr>
        </p:nvSpPr>
        <p:spPr>
          <a:xfrm>
            <a:off x="138717"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Create Post Workflow</a:t>
            </a:r>
            <a:endParaRPr sz="2400" b="1">
              <a:solidFill>
                <a:srgbClr val="111111"/>
              </a:solidFill>
              <a:latin typeface="Arial" panose="020B0604020202020204"/>
              <a:ea typeface="Arial" panose="020B0604020202020204"/>
              <a:cs typeface="Arial" panose="020B0604020202020204"/>
            </a:endParaRPr>
          </a:p>
        </p:txBody>
      </p:sp>
      <p:sp>
        <p:nvSpPr>
          <p:cNvPr id="3" name="文本框 2"/>
          <p:cNvSpPr>
            <a:spLocks noGrp="1"/>
          </p:cNvSpPr>
          <p:nvPr/>
        </p:nvSpPr>
        <p:spPr>
          <a:xfrm>
            <a:off x="138717" y="840198"/>
            <a:ext cx="5498986" cy="502920"/>
          </a:xfrm>
          <a:prstGeom prst="rect">
            <a:avLst/>
          </a:prstGeom>
          <a:noFill/>
        </p:spPr>
        <p:txBody>
          <a:bodyPr wrap="square">
            <a:spAutoFit/>
          </a:bodyPr>
          <a:lstStyle/>
          <a:p>
            <a:pPr>
              <a:lnSpc>
                <a:spcPct val="150000"/>
              </a:lnSpc>
              <a:buNone/>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Four feasible paths:</a:t>
            </a:r>
            <a:endParaRPr sz="1800" b="1">
              <a:solidFill>
                <a:srgbClr val="111111"/>
              </a:solidFill>
              <a:latin typeface="Arial" panose="020B0604020202020204"/>
              <a:ea typeface="Arial" panose="020B0604020202020204"/>
              <a:cs typeface="Arial" panose="020B0604020202020204"/>
            </a:endParaRPr>
          </a:p>
        </p:txBody>
      </p:sp>
      <p:sp>
        <p:nvSpPr>
          <p:cNvPr id="10" name="文本框 9"/>
          <p:cNvSpPr>
            <a:spLocks noGrp="1"/>
          </p:cNvSpPr>
          <p:nvPr/>
        </p:nvSpPr>
        <p:spPr>
          <a:xfrm>
            <a:off x="618341" y="4029477"/>
            <a:ext cx="1535132" cy="285750"/>
          </a:xfrm>
          <a:prstGeom prst="rect">
            <a:avLst/>
          </a:prstGeom>
          <a:noFill/>
        </p:spPr>
        <p:txBody>
          <a:bodyPr wrap="square">
            <a:spAutoFit/>
          </a:bodyPr>
          <a:lstStyle/>
          <a:p>
            <a:pPr algn="ctr">
              <a:buNone/>
              <a:defRPr sz="1275" b="1">
                <a:solidFill>
                  <a:srgbClr val="111111"/>
                </a:solidFill>
                <a:latin typeface="Arial" panose="020B0604020202020204"/>
                <a:ea typeface="Arial" panose="020B0604020202020204"/>
                <a:cs typeface="Arial" panose="020B0604020202020204"/>
              </a:defRPr>
            </a:pPr>
            <a:r>
              <a:rPr sz="1275" b="1">
                <a:solidFill>
                  <a:srgbClr val="111111"/>
                </a:solidFill>
                <a:latin typeface="Arial" panose="020B0604020202020204"/>
                <a:ea typeface="Arial" panose="020B0604020202020204"/>
                <a:cs typeface="Arial" panose="020B0604020202020204"/>
              </a:rPr>
              <a:t>WB-Create-01</a:t>
            </a:r>
            <a:endParaRPr sz="1275" b="1">
              <a:solidFill>
                <a:srgbClr val="111111"/>
              </a:solidFill>
              <a:latin typeface="Arial" panose="020B0604020202020204"/>
              <a:ea typeface="Arial" panose="020B0604020202020204"/>
              <a:cs typeface="Arial" panose="020B0604020202020204"/>
            </a:endParaRPr>
          </a:p>
        </p:txBody>
      </p:sp>
      <p:sp>
        <p:nvSpPr>
          <p:cNvPr id="15" name="文本框 14"/>
          <p:cNvSpPr>
            <a:spLocks noGrp="1"/>
          </p:cNvSpPr>
          <p:nvPr/>
        </p:nvSpPr>
        <p:spPr>
          <a:xfrm>
            <a:off x="4034575" y="4029476"/>
            <a:ext cx="1535132" cy="285750"/>
          </a:xfrm>
          <a:prstGeom prst="rect">
            <a:avLst/>
          </a:prstGeom>
          <a:noFill/>
        </p:spPr>
        <p:txBody>
          <a:bodyPr wrap="square">
            <a:spAutoFit/>
          </a:bodyPr>
          <a:lstStyle/>
          <a:p>
            <a:pPr algn="ctr">
              <a:buNone/>
              <a:defRPr sz="1275" b="1">
                <a:solidFill>
                  <a:srgbClr val="111111"/>
                </a:solidFill>
                <a:latin typeface="Arial" panose="020B0604020202020204"/>
                <a:ea typeface="Arial" panose="020B0604020202020204"/>
                <a:cs typeface="Arial" panose="020B0604020202020204"/>
              </a:defRPr>
            </a:pPr>
            <a:r>
              <a:rPr sz="1275" b="1">
                <a:solidFill>
                  <a:srgbClr val="111111"/>
                </a:solidFill>
                <a:latin typeface="Arial" panose="020B0604020202020204"/>
                <a:ea typeface="Arial" panose="020B0604020202020204"/>
                <a:cs typeface="Arial" panose="020B0604020202020204"/>
              </a:rPr>
              <a:t>WB-Create-02</a:t>
            </a:r>
            <a:endParaRPr sz="1275" b="1">
              <a:solidFill>
                <a:srgbClr val="111111"/>
              </a:solidFill>
              <a:latin typeface="Arial" panose="020B0604020202020204"/>
              <a:ea typeface="Arial" panose="020B0604020202020204"/>
              <a:cs typeface="Arial" panose="020B0604020202020204"/>
            </a:endParaRPr>
          </a:p>
        </p:txBody>
      </p:sp>
      <p:sp>
        <p:nvSpPr>
          <p:cNvPr id="16" name="直接连接符 15"/>
          <p:cNvSpPr>
            <a:spLocks noGrp="1"/>
          </p:cNvSpPr>
          <p:nvPr/>
        </p:nvSpPr>
        <p:spPr>
          <a:xfrm>
            <a:off x="6390774" y="933182"/>
            <a:ext cx="0" cy="5328519"/>
          </a:xfrm>
          <a:prstGeom prst="line">
            <a:avLst/>
          </a:prstGeom>
          <a:ln w="19050">
            <a:prstDash val="dash"/>
          </a:ln>
        </p:spPr>
        <p:style>
          <a:lnRef idx="2">
            <a:schemeClr val="dk1"/>
          </a:lnRef>
          <a:fillRef idx="0">
            <a:schemeClr val="dk1"/>
          </a:fillRef>
          <a:effectRef idx="1">
            <a:schemeClr val="dk1"/>
          </a:effectRef>
          <a:fontRef idx="minor">
            <a:schemeClr val="tx1"/>
          </a:fontRef>
        </p:style>
      </p:sp>
      <p:sp>
        <p:nvSpPr>
          <p:cNvPr id="18" name="矩形: 圆角 17"/>
          <p:cNvSpPr>
            <a:spLocks noGrp="1"/>
          </p:cNvSpPr>
          <p:nvPr/>
        </p:nvSpPr>
        <p:spPr>
          <a:xfrm>
            <a:off x="6635414" y="1754875"/>
            <a:ext cx="5257799" cy="774461"/>
          </a:xfrm>
          <a:prstGeom prst="roundRect">
            <a:avLst>
              <a:gd name="adj" fmla="val 9331"/>
            </a:avLst>
          </a:prstGeom>
          <a:solidFill>
            <a:srgbClr val="B3C6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sz="1275">
                <a:solidFill>
                  <a:srgbClr val="111111"/>
                </a:solidFill>
                <a:latin typeface="Arial" panose="020B0604020202020204"/>
                <a:ea typeface="Arial" panose="020B0604020202020204"/>
                <a:cs typeface="Arial" panose="020B0604020202020204"/>
              </a:defRPr>
            </a:pPr>
            <a:r>
              <a:rPr sz="1275">
                <a:solidFill>
                  <a:srgbClr val="111111"/>
                </a:solidFill>
                <a:latin typeface="Arial" panose="020B0604020202020204"/>
                <a:ea typeface="Arial" panose="020B0604020202020204"/>
                <a:cs typeface="Arial" panose="020B0604020202020204"/>
              </a:rPr>
              <a:t>Unauthenticated access redirects to login.</a:t>
            </a:r>
            <a:endParaRPr sz="1275">
              <a:solidFill>
                <a:srgbClr val="111111"/>
              </a:solidFill>
              <a:latin typeface="Arial" panose="020B0604020202020204"/>
              <a:ea typeface="Arial" panose="020B0604020202020204"/>
              <a:cs typeface="Arial" panose="020B0604020202020204"/>
            </a:endParaRPr>
          </a:p>
        </p:txBody>
      </p:sp>
      <p:sp>
        <p:nvSpPr>
          <p:cNvPr id="19" name="矩形: 圆角 18"/>
          <p:cNvSpPr>
            <a:spLocks noGrp="1"/>
          </p:cNvSpPr>
          <p:nvPr/>
        </p:nvSpPr>
        <p:spPr>
          <a:xfrm>
            <a:off x="6635415" y="3210210"/>
            <a:ext cx="5257799" cy="774461"/>
          </a:xfrm>
          <a:prstGeom prst="roundRect">
            <a:avLst>
              <a:gd name="adj" fmla="val 9331"/>
            </a:avLst>
          </a:prstGeom>
          <a:solidFill>
            <a:srgbClr val="B3C6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sz="1275">
                <a:solidFill>
                  <a:srgbClr val="111111"/>
                </a:solidFill>
                <a:latin typeface="Arial" panose="020B0604020202020204"/>
                <a:ea typeface="Arial" panose="020B0604020202020204"/>
                <a:cs typeface="Arial" panose="020B0604020202020204"/>
              </a:defRPr>
            </a:pPr>
            <a:r>
              <a:rPr sz="1275">
                <a:solidFill>
                  <a:srgbClr val="111111"/>
                </a:solidFill>
                <a:latin typeface="Arial" panose="020B0604020202020204"/>
                <a:ea typeface="Arial" panose="020B0604020202020204"/>
                <a:cs typeface="Arial" panose="020B0604020202020204"/>
              </a:rPr>
              <a:t>Logged-in GET renders create page.</a:t>
            </a:r>
            <a:endParaRPr sz="1275">
              <a:solidFill>
                <a:srgbClr val="111111"/>
              </a:solidFill>
              <a:latin typeface="Arial" panose="020B0604020202020204"/>
              <a:ea typeface="Arial" panose="020B0604020202020204"/>
              <a:cs typeface="Arial" panose="020B0604020202020204"/>
            </a:endParaRPr>
          </a:p>
        </p:txBody>
      </p:sp>
      <p:sp>
        <p:nvSpPr>
          <p:cNvPr id="24" name="文本框 23"/>
          <p:cNvSpPr>
            <a:spLocks noGrp="1"/>
          </p:cNvSpPr>
          <p:nvPr/>
        </p:nvSpPr>
        <p:spPr>
          <a:xfrm>
            <a:off x="138718" y="1227935"/>
            <a:ext cx="5597601" cy="434340"/>
          </a:xfrm>
          <a:prstGeom prst="rect">
            <a:avLst/>
          </a:prstGeom>
          <a:noFill/>
        </p:spPr>
        <p:txBody>
          <a:bodyPr wrap="square">
            <a:spAutoFit/>
          </a:bodyPr>
          <a:lstStyle/>
          <a:p>
            <a:pPr>
              <a:lnSpc>
                <a:spcPct val="150000"/>
              </a:lnSpc>
              <a:buNone/>
              <a:defRPr sz="1500" b="1">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Result: 4 cases / 3 passed / 1 error</a:t>
            </a:r>
            <a:endParaRPr sz="1500" b="1">
              <a:solidFill>
                <a:srgbClr val="111111"/>
              </a:solidFill>
              <a:latin typeface="Arial" panose="020B0604020202020204"/>
              <a:ea typeface="Arial" panose="020B0604020202020204"/>
              <a:cs typeface="Arial" panose="020B0604020202020204"/>
            </a:endParaRPr>
          </a:p>
        </p:txBody>
      </p:sp>
      <p:sp>
        <p:nvSpPr>
          <p:cNvPr id="25" name="文本框 24"/>
          <p:cNvSpPr>
            <a:spLocks noGrp="1"/>
          </p:cNvSpPr>
          <p:nvPr/>
        </p:nvSpPr>
        <p:spPr>
          <a:xfrm>
            <a:off x="6546797" y="1225925"/>
            <a:ext cx="5003519" cy="502920"/>
          </a:xfrm>
          <a:prstGeom prst="rect">
            <a:avLst/>
          </a:prstGeom>
          <a:noFill/>
        </p:spPr>
        <p:txBody>
          <a:bodyPr wrap="square">
            <a:spAutoFit/>
          </a:bodyPr>
          <a:lstStyle/>
          <a:p>
            <a:pPr>
              <a:lnSpc>
                <a:spcPct val="150000"/>
              </a:lnSpc>
              <a:buNone/>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Execution focus:</a:t>
            </a:r>
            <a:endParaRPr sz="1800" b="1">
              <a:solidFill>
                <a:srgbClr val="111111"/>
              </a:solidFill>
              <a:latin typeface="Arial" panose="020B0604020202020204"/>
              <a:ea typeface="Arial" panose="020B0604020202020204"/>
              <a:cs typeface="Arial" panose="020B0604020202020204"/>
            </a:endParaRPr>
          </a:p>
        </p:txBody>
      </p:sp>
      <p:sp>
        <p:nvSpPr>
          <p:cNvPr id="26" name="矩形: 圆角 25"/>
          <p:cNvSpPr>
            <a:spLocks noGrp="1"/>
          </p:cNvSpPr>
          <p:nvPr/>
        </p:nvSpPr>
        <p:spPr>
          <a:xfrm>
            <a:off x="6635417" y="4715894"/>
            <a:ext cx="5257798" cy="774461"/>
          </a:xfrm>
          <a:prstGeom prst="roundRect">
            <a:avLst>
              <a:gd name="adj" fmla="val 9331"/>
            </a:avLst>
          </a:prstGeom>
          <a:solidFill>
            <a:srgbClr val="B3C6E7"/>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defRPr sz="1275">
                <a:solidFill>
                  <a:srgbClr val="111111"/>
                </a:solidFill>
                <a:latin typeface="Arial" panose="020B0604020202020204"/>
                <a:ea typeface="Arial" panose="020B0604020202020204"/>
                <a:cs typeface="Arial" panose="020B0604020202020204"/>
              </a:defRPr>
            </a:pPr>
            <a:r>
              <a:rPr sz="1275">
                <a:solidFill>
                  <a:srgbClr val="111111"/>
                </a:solidFill>
                <a:latin typeface="Arial" panose="020B0604020202020204"/>
                <a:ea typeface="Arial" panose="020B0604020202020204"/>
                <a:cs typeface="Arial" panose="020B0604020202020204"/>
              </a:rPr>
              <a:t>Valid POST crashes because generateurlID(postTitle) does not match helper definition.</a:t>
            </a:r>
            <a:endParaRPr sz="1275">
              <a:solidFill>
                <a:srgbClr val="111111"/>
              </a:solidFill>
              <a:latin typeface="Arial" panose="020B0604020202020204"/>
              <a:ea typeface="Arial" panose="020B0604020202020204"/>
              <a:cs typeface="Arial" panose="020B0604020202020204"/>
            </a:endParaRPr>
          </a:p>
        </p:txBody>
      </p:sp>
      <p:sp>
        <p:nvSpPr>
          <p:cNvPr id="27" name="箭头: 下 26"/>
          <p:cNvSpPr>
            <a:spLocks noGrp="1"/>
          </p:cNvSpPr>
          <p:nvPr/>
        </p:nvSpPr>
        <p:spPr>
          <a:xfrm>
            <a:off x="9118007" y="2615994"/>
            <a:ext cx="292612" cy="5208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8" name="箭头: 下 27"/>
          <p:cNvSpPr>
            <a:spLocks noGrp="1"/>
          </p:cNvSpPr>
          <p:nvPr/>
        </p:nvSpPr>
        <p:spPr>
          <a:xfrm>
            <a:off x="9118007" y="4101904"/>
            <a:ext cx="292612" cy="520814"/>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p>
        </p:txBody>
      </p:sp>
      <p:sp>
        <p:nvSpPr>
          <p:cNvPr id="29" name="圆角矩形 28"/>
          <p:cNvSpPr>
            <a:spLocks noGrp="1"/>
          </p:cNvSpPr>
          <p:nvPr/>
        </p:nvSpPr>
        <p:spPr>
          <a:xfrm>
            <a:off x="495300" y="1809750"/>
            <a:ext cx="2476500" cy="819150"/>
          </a:xfrm>
          <a:prstGeom prst="roundRect">
            <a:avLst>
              <a:gd name="adj" fmla="val 9302"/>
            </a:avLst>
          </a:prstGeom>
          <a:solidFill>
            <a:srgbClr val="F5F5F5"/>
          </a:solidFill>
          <a:ln w="9525">
            <a:solidFill>
              <a:srgbClr val="DADADA"/>
            </a:solidFill>
            <a:prstDash val="solid"/>
          </a:ln>
        </p:spPr>
        <p:txBody>
          <a:bodyPr anchor="t"/>
          <a:lstStyle/>
          <a:p>
            <a:pPr algn="ctr">
              <a:defRPr sz="1350" b="1">
                <a:solidFill>
                  <a:srgbClr val="111111"/>
                </a:solidFill>
                <a:latin typeface="Arial" panose="020B0604020202020204"/>
                <a:ea typeface="Arial" panose="020B0604020202020204"/>
                <a:cs typeface="Arial" panose="020B0604020202020204"/>
              </a:defRPr>
            </a:pPr>
            <a:r>
              <a:rPr sz="1350" b="1">
                <a:solidFill>
                  <a:srgbClr val="111111"/>
                </a:solidFill>
                <a:latin typeface="Arial" panose="020B0604020202020204"/>
                <a:ea typeface="Arial" panose="020B0604020202020204"/>
                <a:cs typeface="Arial" panose="020B0604020202020204"/>
              </a:rPr>
              <a:t>WB-Create-03</a:t>
            </a:r>
            <a:endParaRPr sz="1350" b="1">
              <a:solidFill>
                <a:srgbClr val="111111"/>
              </a:solidFill>
              <a:latin typeface="Arial" panose="020B0604020202020204"/>
              <a:ea typeface="Arial" panose="020B0604020202020204"/>
              <a:cs typeface="Arial" panose="020B0604020202020204"/>
            </a:endParaRPr>
          </a:p>
          <a:p>
            <a:pPr algn="ctr">
              <a:defRPr sz="1350" b="1">
                <a:solidFill>
                  <a:srgbClr val="111111"/>
                </a:solidFill>
                <a:latin typeface="Arial" panose="020B0604020202020204"/>
                <a:ea typeface="Arial" panose="020B0604020202020204"/>
                <a:cs typeface="Arial" panose="020B0604020202020204"/>
              </a:defRPr>
            </a:pPr>
            <a:r>
              <a:rPr sz="1350" b="1">
                <a:solidFill>
                  <a:srgbClr val="111111"/>
                </a:solidFill>
                <a:latin typeface="Arial" panose="020B0604020202020204"/>
                <a:ea typeface="Arial" panose="020B0604020202020204"/>
                <a:cs typeface="Arial" panose="020B0604020202020204"/>
              </a:rPr>
              <a:t>empty content rejected</a:t>
            </a:r>
            <a:endParaRPr sz="1350" b="1">
              <a:solidFill>
                <a:srgbClr val="111111"/>
              </a:solidFill>
              <a:latin typeface="Arial" panose="020B0604020202020204"/>
              <a:ea typeface="Arial" panose="020B0604020202020204"/>
              <a:cs typeface="Arial" panose="020B0604020202020204"/>
            </a:endParaRPr>
          </a:p>
        </p:txBody>
      </p:sp>
      <p:sp>
        <p:nvSpPr>
          <p:cNvPr id="30" name="圆角矩形 29"/>
          <p:cNvSpPr>
            <a:spLocks noGrp="1"/>
          </p:cNvSpPr>
          <p:nvPr/>
        </p:nvSpPr>
        <p:spPr>
          <a:xfrm>
            <a:off x="3429000" y="1809750"/>
            <a:ext cx="2476500" cy="819150"/>
          </a:xfrm>
          <a:prstGeom prst="roundRect">
            <a:avLst>
              <a:gd name="adj" fmla="val 9302"/>
            </a:avLst>
          </a:prstGeom>
          <a:solidFill>
            <a:srgbClr val="FFF1F1"/>
          </a:solidFill>
          <a:ln w="9525">
            <a:solidFill>
              <a:srgbClr val="C00000"/>
            </a:solidFill>
            <a:prstDash val="solid"/>
          </a:ln>
        </p:spPr>
        <p:txBody>
          <a:bodyPr anchor="t"/>
          <a:lstStyle/>
          <a:p>
            <a:pPr algn="ctr">
              <a:defRPr sz="1350" b="1">
                <a:solidFill>
                  <a:srgbClr val="111111"/>
                </a:solidFill>
                <a:latin typeface="Arial" panose="020B0604020202020204"/>
                <a:ea typeface="Arial" panose="020B0604020202020204"/>
                <a:cs typeface="Arial" panose="020B0604020202020204"/>
              </a:defRPr>
            </a:pPr>
            <a:r>
              <a:rPr sz="1350" b="1">
                <a:solidFill>
                  <a:srgbClr val="111111"/>
                </a:solidFill>
                <a:latin typeface="Arial" panose="020B0604020202020204"/>
                <a:ea typeface="Arial" panose="020B0604020202020204"/>
                <a:cs typeface="Arial" panose="020B0604020202020204"/>
              </a:rPr>
              <a:t>WB-Create-04</a:t>
            </a:r>
            <a:endParaRPr sz="1350" b="1">
              <a:solidFill>
                <a:srgbClr val="111111"/>
              </a:solidFill>
              <a:latin typeface="Arial" panose="020B0604020202020204"/>
              <a:ea typeface="Arial" panose="020B0604020202020204"/>
              <a:cs typeface="Arial" panose="020B0604020202020204"/>
            </a:endParaRPr>
          </a:p>
          <a:p>
            <a:pPr algn="ctr">
              <a:defRPr sz="1350" b="1">
                <a:solidFill>
                  <a:srgbClr val="111111"/>
                </a:solidFill>
                <a:latin typeface="Arial" panose="020B0604020202020204"/>
                <a:ea typeface="Arial" panose="020B0604020202020204"/>
                <a:cs typeface="Arial" panose="020B0604020202020204"/>
              </a:defRPr>
            </a:pPr>
            <a:r>
              <a:rPr sz="1350" b="1">
                <a:solidFill>
                  <a:srgbClr val="111111"/>
                </a:solidFill>
                <a:latin typeface="Arial" panose="020B0604020202020204"/>
                <a:ea typeface="Arial" panose="020B0604020202020204"/>
                <a:cs typeface="Arial" panose="020B0604020202020204"/>
              </a:rPr>
              <a:t>valid content error</a:t>
            </a:r>
            <a:endParaRPr sz="1350"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nvPr>
        </p:nvSpPr>
        <p:spPr>
          <a:xfrm>
            <a:off x="138717"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Post View and Comment</a:t>
            </a:r>
            <a:endParaRPr sz="2400" b="1">
              <a:solidFill>
                <a:srgbClr val="111111"/>
              </a:solidFill>
              <a:latin typeface="Arial" panose="020B0604020202020204"/>
              <a:ea typeface="Arial" panose="020B0604020202020204"/>
              <a:cs typeface="Arial" panose="020B0604020202020204"/>
            </a:endParaRPr>
          </a:p>
        </p:txBody>
      </p:sp>
      <p:sp>
        <p:nvSpPr>
          <p:cNvPr id="3" name="文本框 2"/>
          <p:cNvSpPr>
            <a:spLocks noGrp="1"/>
          </p:cNvSpPr>
          <p:nvPr/>
        </p:nvSpPr>
        <p:spPr>
          <a:xfrm>
            <a:off x="138718" y="840198"/>
            <a:ext cx="5498986" cy="502920"/>
          </a:xfrm>
          <a:prstGeom prst="rect">
            <a:avLst/>
          </a:prstGeom>
          <a:noFill/>
        </p:spPr>
        <p:txBody>
          <a:bodyPr wrap="square">
            <a:spAutoFit/>
          </a:bodyPr>
          <a:lstStyle/>
          <a:p>
            <a:pPr marL="342900" indent="-342900">
              <a:lnSpc>
                <a:spcPct val="150000"/>
              </a:lnSpc>
              <a:buAutoNum type="alphaUcPeriod" startAt="5"/>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Representative feasible paths:</a:t>
            </a:r>
            <a:endParaRPr sz="1800" b="1">
              <a:solidFill>
                <a:srgbClr val="111111"/>
              </a:solidFill>
              <a:latin typeface="Arial" panose="020B0604020202020204"/>
              <a:ea typeface="Arial" panose="020B0604020202020204"/>
              <a:cs typeface="Arial" panose="020B0604020202020204"/>
            </a:endParaRPr>
          </a:p>
        </p:txBody>
      </p:sp>
      <p:sp>
        <p:nvSpPr>
          <p:cNvPr id="4" name="文本框 3"/>
          <p:cNvSpPr>
            <a:spLocks noGrp="1"/>
          </p:cNvSpPr>
          <p:nvPr/>
        </p:nvSpPr>
        <p:spPr>
          <a:xfrm>
            <a:off x="136836" y="1217224"/>
            <a:ext cx="5813994" cy="4582473"/>
          </a:xfrm>
          <a:prstGeom prst="rect">
            <a:avLst/>
          </a:prstGeom>
          <a:noFill/>
        </p:spPr>
        <p:txBody>
          <a:bodyPr wrap="square">
            <a:spAutoFit/>
          </a:bodyPr>
          <a:lstStyle/>
          <a:p>
            <a:pPr>
              <a:lnSpc>
                <a:spcPct val="150000"/>
              </a:lnSpc>
              <a:buNone/>
              <a:defRPr sz="1500">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Path groups:</a:t>
            </a:r>
            <a:endParaRPr sz="1500" b="1">
              <a:solidFill>
                <a:srgbClr val="111111"/>
              </a:solidFill>
              <a:latin typeface="Arial" panose="020B0604020202020204"/>
              <a:ea typeface="Arial" panose="020B0604020202020204"/>
              <a:cs typeface="Arial" panose="020B0604020202020204"/>
            </a:endParaRPr>
          </a:p>
          <a:p>
            <a:pPr marL="171450" indent="-1714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missing post</a:t>
            </a:r>
            <a:endParaRPr sz="1500">
              <a:solidFill>
                <a:srgbClr val="111111"/>
              </a:solidFill>
              <a:latin typeface="Arial" panose="020B0604020202020204"/>
              <a:ea typeface="Arial" panose="020B0604020202020204"/>
              <a:cs typeface="Arial" panose="020B0604020202020204"/>
            </a:endParaRPr>
          </a:p>
          <a:p>
            <a:pPr marL="171450" indent="-1714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canonical slug redirect</a:t>
            </a:r>
            <a:endParaRPr sz="1500">
              <a:solidFill>
                <a:srgbClr val="111111"/>
              </a:solidFill>
              <a:latin typeface="Arial" panose="020B0604020202020204"/>
              <a:ea typeface="Arial" panose="020B0604020202020204"/>
              <a:cs typeface="Arial" panose="020B0604020202020204"/>
            </a:endParaRPr>
          </a:p>
          <a:p>
            <a:pPr marL="171450" indent="-171450">
              <a:lnSpc>
                <a:spcPct val="150000"/>
              </a:lnSpc>
              <a:buChar char="•"/>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normal GET view update</a:t>
            </a:r>
            <a:endParaRPr sz="1500">
              <a:solidFill>
                <a:srgbClr val="111111"/>
              </a:solidFill>
              <a:latin typeface="Arial" panose="020B0604020202020204"/>
              <a:ea typeface="Arial" panose="020B0604020202020204"/>
              <a:cs typeface="Arial" panose="020B0604020202020204"/>
            </a:endParaRPr>
          </a:p>
          <a:p>
            <a:pPr>
              <a:lnSpc>
                <a:spcPct val="150000"/>
              </a:lnSpc>
              <a:buNone/>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post deletion</a:t>
            </a:r>
            <a:endParaRPr sz="1500">
              <a:solidFill>
                <a:srgbClr val="111111"/>
              </a:solidFill>
              <a:latin typeface="Arial" panose="020B0604020202020204"/>
              <a:ea typeface="Arial" panose="020B0604020202020204"/>
              <a:cs typeface="Arial" panose="020B0604020202020204"/>
            </a:endParaRPr>
          </a:p>
          <a:p>
            <a:pPr>
              <a:lnSpc>
                <a:spcPct val="150000"/>
              </a:lnSpc>
              <a:buNone/>
              <a:defRPr sz="1500">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 comment deletion</a:t>
            </a:r>
            <a:endParaRPr sz="1500" b="1">
              <a:solidFill>
                <a:srgbClr val="111111"/>
              </a:solidFill>
              <a:latin typeface="Arial" panose="020B0604020202020204"/>
              <a:ea typeface="Arial" panose="020B0604020202020204"/>
              <a:cs typeface="Arial" panose="020B0604020202020204"/>
            </a:endParaRPr>
          </a:p>
          <a:p>
            <a:pPr marL="171450" indent="-171450">
              <a:lnSpc>
                <a:spcPct val="150000"/>
              </a:lnSpc>
              <a:buChar char="Ø"/>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logged-in comment submission</a:t>
            </a:r>
            <a:endParaRPr sz="1500">
              <a:solidFill>
                <a:srgbClr val="111111"/>
              </a:solidFill>
              <a:latin typeface="Arial" panose="020B0604020202020204"/>
              <a:ea typeface="Arial" panose="020B0604020202020204"/>
              <a:cs typeface="Arial" panose="020B0604020202020204"/>
            </a:endParaRPr>
          </a:p>
          <a:p>
            <a:pPr marL="171450" indent="-171450">
              <a:lnSpc>
                <a:spcPct val="150000"/>
              </a:lnSpc>
              <a:buChar char="Ø"/>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anonymous comment submission</a:t>
            </a:r>
            <a:endParaRPr sz="1500">
              <a:solidFill>
                <a:srgbClr val="111111"/>
              </a:solidFill>
              <a:latin typeface="Arial" panose="020B0604020202020204"/>
              <a:ea typeface="Arial" panose="020B0604020202020204"/>
              <a:cs typeface="Arial" panose="020B0604020202020204"/>
            </a:endParaRPr>
          </a:p>
          <a:p>
            <a:pPr marL="171450" indent="-171450">
              <a:lnSpc>
                <a:spcPct val="150000"/>
              </a:lnSpc>
              <a:buChar char="Ø"/>
              <a:defRPr sz="1500">
                <a:solidFill>
                  <a:srgbClr val="111111"/>
                </a:solidFill>
                <a:latin typeface="Arial" panose="020B0604020202020204"/>
                <a:ea typeface="Arial" panose="020B0604020202020204"/>
                <a:cs typeface="Arial" panose="020B0604020202020204"/>
              </a:defRPr>
            </a:pPr>
            <a:r>
              <a:rPr sz="1500">
                <a:solidFill>
                  <a:srgbClr val="111111"/>
                </a:solidFill>
                <a:latin typeface="Arial" panose="020B0604020202020204"/>
                <a:ea typeface="Arial" panose="020B0604020202020204"/>
                <a:cs typeface="Arial" panose="020B0604020202020204"/>
              </a:rPr>
              <a:t>- analytics enabled / disabled</a:t>
            </a:r>
            <a:endParaRPr sz="1500">
              <a:solidFill>
                <a:srgbClr val="111111"/>
              </a:solidFill>
              <a:latin typeface="Arial" panose="020B0604020202020204"/>
              <a:ea typeface="Arial" panose="020B0604020202020204"/>
              <a:cs typeface="Arial" panose="020B0604020202020204"/>
            </a:endParaRPr>
          </a:p>
        </p:txBody>
      </p:sp>
      <p:sp>
        <p:nvSpPr>
          <p:cNvPr id="10" name="文本框 9"/>
          <p:cNvSpPr>
            <a:spLocks noGrp="1"/>
          </p:cNvSpPr>
          <p:nvPr/>
        </p:nvSpPr>
        <p:spPr>
          <a:xfrm>
            <a:off x="7019110" y="4255783"/>
            <a:ext cx="3922840" cy="285750"/>
          </a:xfrm>
          <a:prstGeom prst="rect">
            <a:avLst/>
          </a:prstGeom>
          <a:noFill/>
        </p:spPr>
        <p:txBody>
          <a:bodyPr wrap="square">
            <a:spAutoFit/>
          </a:bodyPr>
          <a:lstStyle/>
          <a:p>
            <a:pPr algn="ctr">
              <a:buNone/>
              <a:defRPr sz="1275" b="1">
                <a:solidFill>
                  <a:srgbClr val="111111"/>
                </a:solidFill>
                <a:latin typeface="Arial" panose="020B0604020202020204"/>
                <a:ea typeface="Arial" panose="020B0604020202020204"/>
                <a:cs typeface="Arial" panose="020B0604020202020204"/>
              </a:defRPr>
            </a:pPr>
            <a:r>
              <a:rPr sz="1275" b="1">
                <a:solidFill>
                  <a:srgbClr val="111111"/>
                </a:solidFill>
                <a:latin typeface="Arial" panose="020B0604020202020204"/>
                <a:ea typeface="Arial" panose="020B0604020202020204"/>
                <a:cs typeface="Arial" panose="020B0604020202020204"/>
              </a:rPr>
              <a:t>Result summary</a:t>
            </a:r>
            <a:endParaRPr sz="1275" b="1">
              <a:solidFill>
                <a:srgbClr val="111111"/>
              </a:solidFill>
              <a:latin typeface="Arial" panose="020B0604020202020204"/>
              <a:ea typeface="Arial" panose="020B0604020202020204"/>
              <a:cs typeface="Arial" panose="020B0604020202020204"/>
            </a:endParaRPr>
          </a:p>
        </p:txBody>
      </p:sp>
      <p:sp>
        <p:nvSpPr>
          <p:cNvPr id="16" name="文本框 15"/>
          <p:cNvSpPr>
            <a:spLocks noGrp="1"/>
          </p:cNvSpPr>
          <p:nvPr/>
        </p:nvSpPr>
        <p:spPr>
          <a:xfrm>
            <a:off x="7019110" y="5966114"/>
            <a:ext cx="3922840" cy="285750"/>
          </a:xfrm>
          <a:prstGeom prst="rect">
            <a:avLst/>
          </a:prstGeom>
          <a:noFill/>
        </p:spPr>
        <p:txBody>
          <a:bodyPr wrap="square">
            <a:spAutoFit/>
          </a:bodyPr>
          <a:lstStyle/>
          <a:p>
            <a:pPr algn="ctr">
              <a:buNone/>
              <a:defRPr sz="1275" b="1">
                <a:solidFill>
                  <a:srgbClr val="111111"/>
                </a:solidFill>
                <a:latin typeface="Arial" panose="020B0604020202020204"/>
                <a:ea typeface="Arial" panose="020B0604020202020204"/>
                <a:cs typeface="Arial" panose="020B0604020202020204"/>
              </a:defRPr>
            </a:pPr>
            <a:r>
              <a:rPr sz="1275" b="1">
                <a:solidFill>
                  <a:srgbClr val="111111"/>
                </a:solidFill>
                <a:latin typeface="Arial" panose="020B0604020202020204"/>
                <a:ea typeface="Arial" panose="020B0604020202020204"/>
                <a:cs typeface="Arial" panose="020B0604020202020204"/>
              </a:rPr>
              <a:t>Defect evidence</a:t>
            </a:r>
            <a:endParaRPr sz="1275" b="1">
              <a:solidFill>
                <a:srgbClr val="111111"/>
              </a:solidFill>
              <a:latin typeface="Arial" panose="020B0604020202020204"/>
              <a:ea typeface="Arial" panose="020B0604020202020204"/>
              <a:cs typeface="Arial" panose="020B0604020202020204"/>
            </a:endParaRPr>
          </a:p>
        </p:txBody>
      </p:sp>
      <p:sp>
        <p:nvSpPr>
          <p:cNvPr id="17" name="圆角矩形 16"/>
          <p:cNvSpPr>
            <a:spLocks noGrp="1"/>
          </p:cNvSpPr>
          <p:nvPr/>
        </p:nvSpPr>
        <p:spPr>
          <a:xfrm>
            <a:off x="6667500" y="1524000"/>
            <a:ext cx="2190750" cy="838200"/>
          </a:xfrm>
          <a:prstGeom prst="roundRect">
            <a:avLst>
              <a:gd name="adj" fmla="val 9091"/>
            </a:avLst>
          </a:prstGeom>
          <a:solidFill>
            <a:srgbClr val="F5F5F5"/>
          </a:solidFill>
          <a:ln w="9525">
            <a:solidFill>
              <a:srgbClr val="DADADA"/>
            </a:solidFill>
            <a:prstDash val="solid"/>
          </a:ln>
        </p:spPr>
        <p:txBody>
          <a:bodyPr anchor="t"/>
          <a:lstStyle/>
          <a:p>
            <a:pPr algn="ctr">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10 cases</a:t>
            </a:r>
            <a:endParaRPr sz="1800" b="1">
              <a:solidFill>
                <a:srgbClr val="111111"/>
              </a:solidFill>
              <a:latin typeface="Arial" panose="020B0604020202020204"/>
              <a:ea typeface="Arial" panose="020B0604020202020204"/>
              <a:cs typeface="Arial" panose="020B0604020202020204"/>
            </a:endParaRPr>
          </a:p>
          <a:p>
            <a:pPr algn="ctr">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8 passed</a:t>
            </a:r>
            <a:endParaRPr sz="1800" b="1">
              <a:solidFill>
                <a:srgbClr val="111111"/>
              </a:solidFill>
              <a:latin typeface="Arial" panose="020B0604020202020204"/>
              <a:ea typeface="Arial" panose="020B0604020202020204"/>
              <a:cs typeface="Arial" panose="020B0604020202020204"/>
            </a:endParaRPr>
          </a:p>
        </p:txBody>
      </p:sp>
      <p:sp>
        <p:nvSpPr>
          <p:cNvPr id="18" name="圆角矩形 17"/>
          <p:cNvSpPr>
            <a:spLocks noGrp="1"/>
          </p:cNvSpPr>
          <p:nvPr/>
        </p:nvSpPr>
        <p:spPr>
          <a:xfrm>
            <a:off x="9334500" y="1524000"/>
            <a:ext cx="2190750" cy="838200"/>
          </a:xfrm>
          <a:prstGeom prst="roundRect">
            <a:avLst>
              <a:gd name="adj" fmla="val 9091"/>
            </a:avLst>
          </a:prstGeom>
          <a:solidFill>
            <a:srgbClr val="FFF1F1"/>
          </a:solidFill>
          <a:ln w="9525">
            <a:solidFill>
              <a:srgbClr val="C00000"/>
            </a:solidFill>
            <a:prstDash val="solid"/>
          </a:ln>
        </p:spPr>
        <p:txBody>
          <a:bodyPr anchor="t"/>
          <a:lstStyle/>
          <a:p>
            <a:pPr algn="ctr">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2 errors</a:t>
            </a:r>
            <a:endParaRPr sz="1800" b="1">
              <a:solidFill>
                <a:srgbClr val="111111"/>
              </a:solidFill>
              <a:latin typeface="Arial" panose="020B0604020202020204"/>
              <a:ea typeface="Arial" panose="020B0604020202020204"/>
              <a:cs typeface="Arial" panose="020B0604020202020204"/>
            </a:endParaRPr>
          </a:p>
          <a:p>
            <a:pPr algn="ctr">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0 failures</a:t>
            </a:r>
            <a:endParaRPr sz="1800" b="1">
              <a:solidFill>
                <a:srgbClr val="111111"/>
              </a:solidFill>
              <a:latin typeface="Arial" panose="020B0604020202020204"/>
              <a:ea typeface="Arial" panose="020B0604020202020204"/>
              <a:cs typeface="Arial" panose="020B0604020202020204"/>
            </a:endParaRPr>
          </a:p>
        </p:txBody>
      </p:sp>
      <p:sp>
        <p:nvSpPr>
          <p:cNvPr id="19" name="圆角矩形 18"/>
          <p:cNvSpPr>
            <a:spLocks noGrp="1"/>
          </p:cNvSpPr>
          <p:nvPr/>
        </p:nvSpPr>
        <p:spPr>
          <a:xfrm>
            <a:off x="6667500" y="3162300"/>
            <a:ext cx="4857750" cy="933450"/>
          </a:xfrm>
          <a:prstGeom prst="roundRect">
            <a:avLst>
              <a:gd name="adj" fmla="val 8163"/>
            </a:avLst>
          </a:prstGeom>
          <a:solidFill>
            <a:srgbClr val="F8F8F8"/>
          </a:solidFill>
          <a:ln w="9525">
            <a:solidFill>
              <a:srgbClr val="DADADA"/>
            </a:solidFill>
            <a:prstDash val="solid"/>
          </a:ln>
        </p:spPr>
        <p:txBody>
          <a:bodyPr anchor="t"/>
          <a:lstStyle/>
          <a:p>
            <a:pPr algn="ctr">
              <a:defRPr sz="1425" b="1">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WB-Post-01: missing post -&gt; TypeError on None</a:t>
            </a:r>
            <a:endParaRPr sz="1425" b="1">
              <a:solidFill>
                <a:srgbClr val="111111"/>
              </a:solidFill>
              <a:latin typeface="Arial" panose="020B0604020202020204"/>
              <a:ea typeface="Arial" panose="020B0604020202020204"/>
              <a:cs typeface="Arial" panose="020B0604020202020204"/>
            </a:endParaRPr>
          </a:p>
          <a:p>
            <a:pPr algn="ctr">
              <a:defRPr sz="1425" b="1">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WB-Post-07: anonymous comment -&gt; KeyError userName</a:t>
            </a:r>
            <a:endParaRPr sz="1425" b="1">
              <a:solidFill>
                <a:srgbClr val="111111"/>
              </a:solidFill>
              <a:latin typeface="Arial" panose="020B0604020202020204"/>
              <a:ea typeface="Arial" panose="020B0604020202020204"/>
              <a:cs typeface="Arial" panose="020B0604020202020204"/>
            </a:endParaRPr>
          </a:p>
        </p:txBody>
      </p:sp>
      <p:sp>
        <p:nvSpPr>
          <p:cNvPr id="20" name="圆角矩形 19"/>
          <p:cNvSpPr>
            <a:spLocks noGrp="1"/>
          </p:cNvSpPr>
          <p:nvPr/>
        </p:nvSpPr>
        <p:spPr>
          <a:xfrm>
            <a:off x="6667500" y="4857750"/>
            <a:ext cx="4857750" cy="876300"/>
          </a:xfrm>
          <a:prstGeom prst="roundRect">
            <a:avLst>
              <a:gd name="adj" fmla="val 8696"/>
            </a:avLst>
          </a:prstGeom>
          <a:solidFill>
            <a:srgbClr val="F8F8F8"/>
          </a:solidFill>
          <a:ln w="9525">
            <a:solidFill>
              <a:srgbClr val="DADADA"/>
            </a:solidFill>
            <a:prstDash val="solid"/>
          </a:ln>
        </p:spPr>
        <p:txBody>
          <a:bodyPr anchor="t"/>
          <a:lstStyle/>
          <a:p>
            <a:pPr algn="ctr">
              <a:defRPr sz="1575" b="1">
                <a:solidFill>
                  <a:srgbClr val="111111"/>
                </a:solidFill>
                <a:latin typeface="Arial" panose="020B0604020202020204"/>
                <a:ea typeface="Arial" panose="020B0604020202020204"/>
                <a:cs typeface="Arial" panose="020B0604020202020204"/>
              </a:defRPr>
            </a:pPr>
            <a:r>
              <a:rPr sz="1575" b="1">
                <a:solidFill>
                  <a:srgbClr val="111111"/>
                </a:solidFill>
                <a:latin typeface="Arial" panose="020B0604020202020204"/>
                <a:ea typeface="Arial" panose="020B0604020202020204"/>
                <a:cs typeface="Arial" panose="020B0604020202020204"/>
              </a:rPr>
              <a:t>Root cause: route data and session values are used before guard checks.</a:t>
            </a:r>
            <a:endParaRPr sz="1575"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3"/>
          </p:nvPr>
        </p:nvSpPr>
        <p:spPr>
          <a:xfrm>
            <a:off x="138717" y="257139"/>
            <a:ext cx="4133801" cy="583059"/>
          </a:xfrm>
        </p:spPr>
        <p:txBody>
          <a:bodyPr/>
          <a:lstStyle/>
          <a:p>
            <a:pPr>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Defect Summary</a:t>
            </a:r>
            <a:endParaRPr sz="2400" b="1">
              <a:solidFill>
                <a:srgbClr val="111111"/>
              </a:solidFill>
              <a:latin typeface="Arial" panose="020B0604020202020204"/>
              <a:ea typeface="Arial" panose="020B0604020202020204"/>
              <a:cs typeface="Arial" panose="020B0604020202020204"/>
            </a:endParaRPr>
          </a:p>
        </p:txBody>
      </p:sp>
      <p:sp>
        <p:nvSpPr>
          <p:cNvPr id="3" name="文本框 2"/>
          <p:cNvSpPr>
            <a:spLocks noGrp="1"/>
          </p:cNvSpPr>
          <p:nvPr/>
        </p:nvSpPr>
        <p:spPr>
          <a:xfrm>
            <a:off x="138718" y="840198"/>
            <a:ext cx="6099656" cy="502920"/>
          </a:xfrm>
          <a:prstGeom prst="rect">
            <a:avLst/>
          </a:prstGeom>
          <a:noFill/>
        </p:spPr>
        <p:txBody>
          <a:bodyPr wrap="square">
            <a:spAutoFit/>
          </a:bodyPr>
          <a:lstStyle/>
          <a:p>
            <a:pPr marL="342900" indent="-342900">
              <a:lnSpc>
                <a:spcPct val="150000"/>
              </a:lnSpc>
              <a:buAutoNum type="alphaUcPeriod" startAt="3"/>
              <a:defRPr sz="1800" b="1">
                <a:solidFill>
                  <a:srgbClr val="111111"/>
                </a:solidFill>
                <a:latin typeface="Arial" panose="020B0604020202020204"/>
                <a:ea typeface="Arial" panose="020B0604020202020204"/>
                <a:cs typeface="Arial" panose="020B0604020202020204"/>
              </a:defRPr>
            </a:pPr>
            <a:r>
              <a:rPr sz="1800" b="1">
                <a:solidFill>
                  <a:srgbClr val="111111"/>
                </a:solidFill>
                <a:latin typeface="Arial" panose="020B0604020202020204"/>
                <a:ea typeface="Arial" panose="020B0604020202020204"/>
                <a:cs typeface="Arial" panose="020B0604020202020204"/>
              </a:rPr>
              <a:t>Main defects and regression plan:</a:t>
            </a:r>
            <a:endParaRPr sz="1800" b="1">
              <a:solidFill>
                <a:srgbClr val="111111"/>
              </a:solidFill>
              <a:latin typeface="Arial" panose="020B0604020202020204"/>
              <a:ea typeface="Arial" panose="020B0604020202020204"/>
              <a:cs typeface="Arial" panose="020B0604020202020204"/>
            </a:endParaRPr>
          </a:p>
        </p:txBody>
      </p:sp>
      <p:sp>
        <p:nvSpPr>
          <p:cNvPr id="4" name="文本框 3"/>
          <p:cNvSpPr>
            <a:spLocks noGrp="1"/>
          </p:cNvSpPr>
          <p:nvPr/>
        </p:nvSpPr>
        <p:spPr>
          <a:xfrm>
            <a:off x="138717" y="4622037"/>
            <a:ext cx="11820035" cy="1489318"/>
          </a:xfrm>
          <a:prstGeom prst="rect">
            <a:avLst/>
          </a:prstGeom>
          <a:noFill/>
        </p:spPr>
        <p:txBody>
          <a:bodyPr wrap="square">
            <a:spAutoFit/>
          </a:bodyPr>
          <a:lstStyle/>
          <a:p>
            <a:pPr>
              <a:lnSpc>
                <a:spcPct val="150000"/>
              </a:lnSpc>
              <a:buNone/>
              <a:defRPr sz="1575">
                <a:solidFill>
                  <a:srgbClr val="111111"/>
                </a:solidFill>
                <a:latin typeface="Arial" panose="020B0604020202020204"/>
                <a:ea typeface="Arial" panose="020B0604020202020204"/>
                <a:cs typeface="Arial" panose="020B0604020202020204"/>
              </a:defRPr>
            </a:pPr>
            <a:r>
              <a:rPr sz="1575" b="1">
                <a:solidFill>
                  <a:srgbClr val="111111"/>
                </a:solidFill>
                <a:latin typeface="Arial" panose="020B0604020202020204"/>
                <a:ea typeface="Arial" panose="020B0604020202020204"/>
                <a:cs typeface="Arial" panose="020B0604020202020204"/>
              </a:rPr>
              <a:t>Regression direction:</a:t>
            </a:r>
            <a:endParaRPr sz="1575" b="1">
              <a:solidFill>
                <a:srgbClr val="111111"/>
              </a:solidFill>
              <a:latin typeface="Arial" panose="020B0604020202020204"/>
              <a:ea typeface="Arial" panose="020B0604020202020204"/>
              <a:cs typeface="Arial" panose="020B0604020202020204"/>
            </a:endParaRPr>
          </a:p>
          <a:p>
            <a:pPr marL="171450" indent="-171450">
              <a:lnSpc>
                <a:spcPct val="150000"/>
              </a:lnSpc>
              <a:buChar char="Ø"/>
              <a:defRPr sz="1575">
                <a:solidFill>
                  <a:srgbClr val="111111"/>
                </a:solidFill>
                <a:latin typeface="Arial" panose="020B0604020202020204"/>
                <a:ea typeface="Arial" panose="020B0604020202020204"/>
                <a:cs typeface="Arial" panose="020B0604020202020204"/>
              </a:defRPr>
            </a:pPr>
            <a:r>
              <a:rPr sz="1575">
                <a:solidFill>
                  <a:srgbClr val="111111"/>
                </a:solidFill>
                <a:latin typeface="Arial" panose="020B0604020202020204"/>
                <a:ea typeface="Arial" panose="020B0604020202020204"/>
                <a:cs typeface="Arial" panose="020B0604020202020204"/>
              </a:rPr>
              <a:t>After fixes, rerun the same suites to verify that invalid signup data is rejected, valid posts can be published, missing posts render safely, and anonymous comments are handled without server errors.</a:t>
            </a:r>
            <a:endParaRPr sz="1575">
              <a:solidFill>
                <a:srgbClr val="111111"/>
              </a:solidFill>
              <a:latin typeface="Arial" panose="020B0604020202020204"/>
              <a:ea typeface="Arial" panose="020B0604020202020204"/>
              <a:cs typeface="Arial" panose="020B0604020202020204"/>
            </a:endParaRPr>
          </a:p>
        </p:txBody>
      </p:sp>
      <p:sp>
        <p:nvSpPr>
          <p:cNvPr id="10" name="文本框 9"/>
          <p:cNvSpPr>
            <a:spLocks noGrp="1"/>
          </p:cNvSpPr>
          <p:nvPr/>
        </p:nvSpPr>
        <p:spPr>
          <a:xfrm>
            <a:off x="3727860" y="4273445"/>
            <a:ext cx="4736279" cy="285750"/>
          </a:xfrm>
          <a:prstGeom prst="rect">
            <a:avLst/>
          </a:prstGeom>
          <a:noFill/>
        </p:spPr>
        <p:txBody>
          <a:bodyPr wrap="square">
            <a:spAutoFit/>
          </a:bodyPr>
          <a:lstStyle/>
          <a:p>
            <a:pPr algn="ctr">
              <a:buNone/>
              <a:defRPr sz="1275" b="1">
                <a:solidFill>
                  <a:srgbClr val="111111"/>
                </a:solidFill>
                <a:latin typeface="Arial" panose="020B0604020202020204"/>
                <a:ea typeface="Arial" panose="020B0604020202020204"/>
                <a:cs typeface="Arial" panose="020B0604020202020204"/>
              </a:defRPr>
            </a:pPr>
            <a:r>
              <a:rPr sz="1275" b="1">
                <a:solidFill>
                  <a:srgbClr val="111111"/>
                </a:solidFill>
                <a:latin typeface="Arial" panose="020B0604020202020204"/>
                <a:ea typeface="Arial" panose="020B0604020202020204"/>
                <a:cs typeface="Arial" panose="020B0604020202020204"/>
              </a:rPr>
              <a:t>Reusable regression suite</a:t>
            </a:r>
            <a:endParaRPr sz="1275" b="1">
              <a:solidFill>
                <a:srgbClr val="111111"/>
              </a:solidFill>
              <a:latin typeface="Arial" panose="020B0604020202020204"/>
              <a:ea typeface="Arial" panose="020B0604020202020204"/>
              <a:cs typeface="Arial" panose="020B0604020202020204"/>
            </a:endParaRPr>
          </a:p>
        </p:txBody>
      </p:sp>
      <p:sp>
        <p:nvSpPr>
          <p:cNvPr id="11" name="圆角矩形 10"/>
          <p:cNvSpPr>
            <a:spLocks noGrp="1"/>
          </p:cNvSpPr>
          <p:nvPr/>
        </p:nvSpPr>
        <p:spPr>
          <a:xfrm>
            <a:off x="876300" y="1504950"/>
            <a:ext cx="2381250" cy="952500"/>
          </a:xfrm>
          <a:prstGeom prst="roundRect">
            <a:avLst>
              <a:gd name="adj" fmla="val 8000"/>
            </a:avLst>
          </a:prstGeom>
          <a:solidFill>
            <a:srgbClr val="FFF1F1"/>
          </a:solidFill>
          <a:ln w="9525">
            <a:solidFill>
              <a:srgbClr val="C00000"/>
            </a:solidFill>
            <a:prstDash val="solid"/>
          </a:ln>
        </p:spPr>
        <p:txBody>
          <a:bodyPr anchor="t"/>
          <a:lstStyle/>
          <a:p>
            <a:pPr algn="ctr">
              <a:defRPr sz="1500" b="1">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D-BB-01</a:t>
            </a:r>
            <a:endParaRPr sz="1500" b="1">
              <a:solidFill>
                <a:srgbClr val="111111"/>
              </a:solidFill>
              <a:latin typeface="Arial" panose="020B0604020202020204"/>
              <a:ea typeface="Arial" panose="020B0604020202020204"/>
              <a:cs typeface="Arial" panose="020B0604020202020204"/>
            </a:endParaRPr>
          </a:p>
          <a:p>
            <a:pPr algn="ctr">
              <a:defRPr sz="1500" b="1">
                <a:solidFill>
                  <a:srgbClr val="111111"/>
                </a:solidFill>
                <a:latin typeface="Arial" panose="020B0604020202020204"/>
                <a:ea typeface="Arial" panose="020B0604020202020204"/>
                <a:cs typeface="Arial" panose="020B0604020202020204"/>
              </a:defRPr>
            </a:pPr>
            <a:r>
              <a:rPr sz="1500" b="1">
                <a:solidFill>
                  <a:srgbClr val="111111"/>
                </a:solidFill>
                <a:latin typeface="Arial" panose="020B0604020202020204"/>
                <a:ea typeface="Arial" panose="020B0604020202020204"/>
                <a:cs typeface="Arial" panose="020B0604020202020204"/>
              </a:rPr>
              <a:t>Signup validation missing</a:t>
            </a:r>
            <a:endParaRPr sz="1500" b="1">
              <a:solidFill>
                <a:srgbClr val="111111"/>
              </a:solidFill>
              <a:latin typeface="Arial" panose="020B0604020202020204"/>
              <a:ea typeface="Arial" panose="020B0604020202020204"/>
              <a:cs typeface="Arial" panose="020B0604020202020204"/>
            </a:endParaRPr>
          </a:p>
        </p:txBody>
      </p:sp>
      <p:sp>
        <p:nvSpPr>
          <p:cNvPr id="12" name="圆角矩形 11"/>
          <p:cNvSpPr>
            <a:spLocks noGrp="1"/>
          </p:cNvSpPr>
          <p:nvPr/>
        </p:nvSpPr>
        <p:spPr>
          <a:xfrm>
            <a:off x="3571875" y="1504950"/>
            <a:ext cx="2381250" cy="952500"/>
          </a:xfrm>
          <a:prstGeom prst="roundRect">
            <a:avLst>
              <a:gd name="adj" fmla="val 8000"/>
            </a:avLst>
          </a:prstGeom>
          <a:solidFill>
            <a:srgbClr val="FFF1F1"/>
          </a:solidFill>
          <a:ln w="9525">
            <a:solidFill>
              <a:srgbClr val="C00000"/>
            </a:solidFill>
            <a:prstDash val="solid"/>
          </a:ln>
        </p:spPr>
        <p:txBody>
          <a:bodyPr anchor="t"/>
          <a:lstStyle/>
          <a:p>
            <a:pPr algn="ctr">
              <a:defRPr sz="1425" b="1">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D-WB-01</a:t>
            </a:r>
            <a:endParaRPr sz="1425" b="1">
              <a:solidFill>
                <a:srgbClr val="111111"/>
              </a:solidFill>
              <a:latin typeface="Arial" panose="020B0604020202020204"/>
              <a:ea typeface="Arial" panose="020B0604020202020204"/>
              <a:cs typeface="Arial" panose="020B0604020202020204"/>
            </a:endParaRPr>
          </a:p>
          <a:p>
            <a:pPr algn="ctr">
              <a:defRPr sz="1425" b="1">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createPost helper mismatch</a:t>
            </a:r>
            <a:endParaRPr sz="1425" b="1">
              <a:solidFill>
                <a:srgbClr val="111111"/>
              </a:solidFill>
              <a:latin typeface="Arial" panose="020B0604020202020204"/>
              <a:ea typeface="Arial" panose="020B0604020202020204"/>
              <a:cs typeface="Arial" panose="020B0604020202020204"/>
            </a:endParaRPr>
          </a:p>
        </p:txBody>
      </p:sp>
      <p:sp>
        <p:nvSpPr>
          <p:cNvPr id="13" name="圆角矩形 12"/>
          <p:cNvSpPr>
            <a:spLocks noGrp="1"/>
          </p:cNvSpPr>
          <p:nvPr/>
        </p:nvSpPr>
        <p:spPr>
          <a:xfrm>
            <a:off x="6267450" y="1504950"/>
            <a:ext cx="2381250" cy="952500"/>
          </a:xfrm>
          <a:prstGeom prst="roundRect">
            <a:avLst>
              <a:gd name="adj" fmla="val 8000"/>
            </a:avLst>
          </a:prstGeom>
          <a:solidFill>
            <a:srgbClr val="FFF1F1"/>
          </a:solidFill>
          <a:ln w="9525">
            <a:solidFill>
              <a:srgbClr val="C00000"/>
            </a:solidFill>
            <a:prstDash val="solid"/>
          </a:ln>
        </p:spPr>
        <p:txBody>
          <a:bodyPr anchor="t"/>
          <a:lstStyle/>
          <a:p>
            <a:pPr algn="ctr">
              <a:defRPr sz="1425" b="1">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D-WB-02</a:t>
            </a:r>
            <a:endParaRPr sz="1425" b="1">
              <a:solidFill>
                <a:srgbClr val="111111"/>
              </a:solidFill>
              <a:latin typeface="Arial" panose="020B0604020202020204"/>
              <a:ea typeface="Arial" panose="020B0604020202020204"/>
              <a:cs typeface="Arial" panose="020B0604020202020204"/>
            </a:endParaRPr>
          </a:p>
          <a:p>
            <a:pPr algn="ctr">
              <a:defRPr sz="1425" b="1">
                <a:solidFill>
                  <a:srgbClr val="111111"/>
                </a:solidFill>
                <a:latin typeface="Arial" panose="020B0604020202020204"/>
                <a:ea typeface="Arial" panose="020B0604020202020204"/>
                <a:cs typeface="Arial" panose="020B0604020202020204"/>
              </a:defRPr>
            </a:pPr>
            <a:r>
              <a:rPr sz="1425" b="1">
                <a:solidFill>
                  <a:srgbClr val="111111"/>
                </a:solidFill>
                <a:latin typeface="Arial" panose="020B0604020202020204"/>
                <a:ea typeface="Arial" panose="020B0604020202020204"/>
                <a:cs typeface="Arial" panose="020B0604020202020204"/>
              </a:rPr>
              <a:t>missing post None check</a:t>
            </a:r>
            <a:endParaRPr sz="1425" b="1">
              <a:solidFill>
                <a:srgbClr val="111111"/>
              </a:solidFill>
              <a:latin typeface="Arial" panose="020B0604020202020204"/>
              <a:ea typeface="Arial" panose="020B0604020202020204"/>
              <a:cs typeface="Arial" panose="020B0604020202020204"/>
            </a:endParaRPr>
          </a:p>
        </p:txBody>
      </p:sp>
      <p:sp>
        <p:nvSpPr>
          <p:cNvPr id="14" name="圆角矩形 13"/>
          <p:cNvSpPr>
            <a:spLocks noGrp="1"/>
          </p:cNvSpPr>
          <p:nvPr/>
        </p:nvSpPr>
        <p:spPr>
          <a:xfrm>
            <a:off x="8963025" y="1504950"/>
            <a:ext cx="2381250" cy="952500"/>
          </a:xfrm>
          <a:prstGeom prst="roundRect">
            <a:avLst>
              <a:gd name="adj" fmla="val 8000"/>
            </a:avLst>
          </a:prstGeom>
          <a:solidFill>
            <a:srgbClr val="FFF1F1"/>
          </a:solidFill>
          <a:ln w="9525">
            <a:solidFill>
              <a:srgbClr val="C00000"/>
            </a:solidFill>
            <a:prstDash val="solid"/>
          </a:ln>
        </p:spPr>
        <p:txBody>
          <a:bodyPr anchor="t"/>
          <a:lstStyle/>
          <a:p>
            <a:pPr algn="ctr">
              <a:defRPr sz="1350" b="1">
                <a:solidFill>
                  <a:srgbClr val="111111"/>
                </a:solidFill>
                <a:latin typeface="Arial" panose="020B0604020202020204"/>
                <a:ea typeface="Arial" panose="020B0604020202020204"/>
                <a:cs typeface="Arial" panose="020B0604020202020204"/>
              </a:defRPr>
            </a:pPr>
            <a:r>
              <a:rPr sz="1350" b="1">
                <a:solidFill>
                  <a:srgbClr val="111111"/>
                </a:solidFill>
                <a:latin typeface="Arial" panose="020B0604020202020204"/>
                <a:ea typeface="Arial" panose="020B0604020202020204"/>
                <a:cs typeface="Arial" panose="020B0604020202020204"/>
              </a:rPr>
              <a:t>D-WB-03</a:t>
            </a:r>
            <a:endParaRPr sz="1350" b="1">
              <a:solidFill>
                <a:srgbClr val="111111"/>
              </a:solidFill>
              <a:latin typeface="Arial" panose="020B0604020202020204"/>
              <a:ea typeface="Arial" panose="020B0604020202020204"/>
              <a:cs typeface="Arial" panose="020B0604020202020204"/>
            </a:endParaRPr>
          </a:p>
          <a:p>
            <a:pPr algn="ctr">
              <a:defRPr sz="1350" b="1">
                <a:solidFill>
                  <a:srgbClr val="111111"/>
                </a:solidFill>
                <a:latin typeface="Arial" panose="020B0604020202020204"/>
                <a:ea typeface="Arial" panose="020B0604020202020204"/>
                <a:cs typeface="Arial" panose="020B0604020202020204"/>
              </a:defRPr>
            </a:pPr>
            <a:r>
              <a:rPr sz="1350" b="1">
                <a:solidFill>
                  <a:srgbClr val="111111"/>
                </a:solidFill>
                <a:latin typeface="Arial" panose="020B0604020202020204"/>
                <a:ea typeface="Arial" panose="020B0604020202020204"/>
                <a:cs typeface="Arial" panose="020B0604020202020204"/>
              </a:rPr>
              <a:t>anonymous comment session check</a:t>
            </a:r>
            <a:endParaRPr sz="1350"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1"/>
          </p:nvPr>
        </p:nvSpPr>
        <p:spPr>
          <a:xfrm>
            <a:off x="854124" y="5181271"/>
            <a:ext cx="10483750" cy="551648"/>
          </a:xfrm>
        </p:spPr>
        <p:txBody>
          <a:bodyPr/>
          <a:lstStyle/>
          <a:p>
            <a:pPr algn="ctr">
              <a:lnSpc>
                <a:spcPct val="100000"/>
              </a:lnSpc>
              <a:buNone/>
              <a:defRPr sz="2400" b="1">
                <a:solidFill>
                  <a:srgbClr val="111111"/>
                </a:solidFill>
                <a:latin typeface="Arial" panose="020B0604020202020204"/>
                <a:ea typeface="Arial" panose="020B0604020202020204"/>
                <a:cs typeface="Arial" panose="020B0604020202020204"/>
              </a:defRPr>
            </a:pPr>
            <a:r>
              <a:rPr sz="2400" b="1">
                <a:solidFill>
                  <a:srgbClr val="111111"/>
                </a:solidFill>
                <a:latin typeface="Arial" panose="020B0604020202020204"/>
                <a:ea typeface="Arial" panose="020B0604020202020204"/>
                <a:cs typeface="Arial" panose="020B0604020202020204"/>
              </a:rPr>
              <a:t>Thanks For Your Attention!</a:t>
            </a:r>
            <a:endParaRPr sz="2400" b="1">
              <a:solidFill>
                <a:srgbClr val="111111"/>
              </a:solidFill>
              <a:latin typeface="Arial" panose="020B0604020202020204"/>
              <a:ea typeface="Arial" panose="020B0604020202020204"/>
              <a:cs typeface="Arial" panose="020B0604020202020204"/>
            </a:endParaRPr>
          </a:p>
        </p:txBody>
      </p:sp>
      <p:sp>
        <p:nvSpPr>
          <p:cNvPr id="4" name="矩形 3"/>
          <p:cNvSpPr>
            <a:spLocks noGrp="1"/>
          </p:cNvSpPr>
          <p:nvPr/>
        </p:nvSpPr>
        <p:spPr>
          <a:xfrm>
            <a:off x="3933681" y="6221314"/>
            <a:ext cx="4324637" cy="383032"/>
          </a:xfrm>
          <a:prstGeom prst="rect">
            <a:avLst/>
          </a:prstGeom>
        </p:spPr>
        <p:txBody>
          <a:bodyPr wrap="square">
            <a:spAutoFit/>
          </a:bodyPr>
          <a:lstStyle/>
          <a:p>
            <a:pPr algn="ctr">
              <a:lnSpc>
                <a:spcPct val="90000"/>
              </a:lnSpc>
              <a:spcBef>
                <a:spcPts val="1000"/>
              </a:spcBef>
              <a:buNone/>
              <a:defRPr sz="1050">
                <a:solidFill>
                  <a:srgbClr val="333333"/>
                </a:solidFill>
                <a:latin typeface="Arial" panose="020B0604020202020204"/>
                <a:ea typeface="Arial" panose="020B0604020202020204"/>
                <a:cs typeface="Arial" panose="020B0604020202020204"/>
              </a:defRPr>
            </a:pPr>
            <a:r>
              <a:rPr sz="1050">
                <a:solidFill>
                  <a:srgbClr val="333333"/>
                </a:solidFill>
                <a:latin typeface="Arial" panose="020B0604020202020204"/>
                <a:ea typeface="Arial" panose="020B0604020202020204"/>
                <a:cs typeface="Arial" panose="020B0604020202020204"/>
              </a:rPr>
              <a:t>B3 Testing Part | Setup and Post Components</a:t>
            </a:r>
            <a:endParaRPr sz="1050">
              <a:solidFill>
                <a:srgbClr val="333333"/>
              </a:solidFill>
              <a:latin typeface="Arial" panose="020B0604020202020204"/>
              <a:ea typeface="Arial" panose="020B0604020202020204"/>
              <a:cs typeface="Arial" panose="020B0604020202020204"/>
            </a:endParaRPr>
          </a:p>
        </p:txBody>
      </p:sp>
      <p:sp>
        <p:nvSpPr>
          <p:cNvPr id="7" name="内容占位符 1"/>
          <p:cNvSpPr>
            <a:spLocks noGrp="1"/>
          </p:cNvSpPr>
          <p:nvPr>
            <p:ph idx="10"/>
          </p:nvPr>
        </p:nvSpPr>
        <p:spPr>
          <a:xfrm>
            <a:off x="364017" y="4028608"/>
            <a:ext cx="11463953" cy="925357"/>
          </a:xfrm>
        </p:spPr>
        <p:txBody>
          <a:bodyPr/>
          <a:lstStyle/>
          <a:p>
            <a:pPr algn="ctr">
              <a:defRPr sz="1950" b="1">
                <a:solidFill>
                  <a:srgbClr val="111111"/>
                </a:solidFill>
                <a:latin typeface="Arial" panose="020B0604020202020204"/>
                <a:ea typeface="Arial" panose="020B0604020202020204"/>
                <a:cs typeface="Arial" panose="020B0604020202020204"/>
              </a:defRPr>
            </a:pPr>
            <a:r>
              <a:rPr sz="1950" b="1">
                <a:solidFill>
                  <a:srgbClr val="111111"/>
                </a:solidFill>
                <a:latin typeface="Arial" panose="020B0604020202020204"/>
                <a:ea typeface="Arial" panose="020B0604020202020204"/>
                <a:cs typeface="Arial" panose="020B0604020202020204"/>
              </a:rPr>
              <a:t>Main takeaway: route-level tests exposed validation gaps, helper-call mismatch, and unsafe post/comment guard paths.</a:t>
            </a:r>
            <a:endParaRPr sz="1950" b="1">
              <a:solidFill>
                <a:srgbClr val="111111"/>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4180</Words>
  <Application>WPS 演示</Application>
  <PresentationFormat>Converted Presentation</PresentationFormat>
  <Paragraphs>217</Paragraphs>
  <Slides>11</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11</vt:i4>
      </vt:variant>
    </vt:vector>
  </HeadingPairs>
  <TitlesOfParts>
    <vt:vector size="22" baseType="lpstr">
      <vt:lpstr>Arial</vt:lpstr>
      <vt:lpstr>宋体</vt:lpstr>
      <vt:lpstr>Wingdings</vt:lpstr>
      <vt:lpstr>Arial</vt:lpstr>
      <vt:lpstr>微软雅黑 Light</vt:lpstr>
      <vt:lpstr>微软雅黑</vt:lpstr>
      <vt:lpstr>Arial Unicode MS</vt:lpstr>
      <vt:lpstr>等线</vt:lpstr>
      <vt:lpstr>Arial Unicode MS</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WPS_1631405943</cp:lastModifiedBy>
  <cp:revision>15</cp:revision>
  <dcterms:created xsi:type="dcterms:W3CDTF">2026-06-16T02:22:20Z</dcterms:created>
  <dcterms:modified xsi:type="dcterms:W3CDTF">2026-06-16T02:46:44Z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A5B58BF550F640AE92CF294C6D1AF721_12</vt:lpwstr>
  </property>
  <property fmtid="{D5CDD505-2E9C-101B-9397-08002B2CF9AE}" pid="3" name="KSOProductBuildVer">
    <vt:lpwstr>2052-12.1.0.26375</vt:lpwstr>
  </property>
</Properties>
</file>
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emf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emf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emf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emf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开头/结尾">
    <p:spTree>
      <p:nvGrpSpPr>
        <p:cNvPr id="1" name=""/>
        <p:cNvGrpSpPr/>
        <p:nvPr/>
      </p:nvGrpSpPr>
      <p:grpSpPr/>
      <p:pic>
        <p:nvPicPr>
          <p:cNvPr id="2" name="图片 10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t="13773"/>
          <a:stretch>
            <a:fillRect/>
          </a:stretch>
        </p:blipFill>
        <p:spPr>
          <a:xfrm>
            <a:off x="-1" y="0"/>
            <a:ext cx="12232294" cy="6857998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-2" y="150608"/>
            <a:ext cx="12192000" cy="6857999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任意多边形: 形状 7"/>
          <p:cNvSpPr>
            <a:spLocks noGrp="1"/>
          </p:cNvSpPr>
          <p:nvPr/>
        </p:nvSpPr>
        <p:spPr>
          <a:xfrm>
            <a:off x="-11595" y="1"/>
            <a:ext cx="12203590" cy="3777915"/>
          </a:xfrm>
          <a:custGeom>
            <a:avLst/>
            <a:gdLst/>
            <a:ahLst/>
            <a:cxnLst/>
            <a:rect l="l" t="t" r="r" b="b"/>
            <a:pathLst>
              <a:path w="12192000" h="3820891">
                <a:moveTo>
                  <a:pt x="0" y="0"/>
                </a:moveTo>
                <a:lnTo>
                  <a:pt x="12192000" y="0"/>
                </a:lnTo>
                <a:lnTo>
                  <a:pt x="12192000" y="2822842"/>
                </a:lnTo>
                <a:lnTo>
                  <a:pt x="11920340" y="2925857"/>
                </a:lnTo>
                <a:cubicBezTo>
                  <a:pt x="10382026" y="3481957"/>
                  <a:pt x="8338529" y="3820891"/>
                  <a:pt x="6096000" y="3820891"/>
                </a:cubicBezTo>
                <a:cubicBezTo>
                  <a:pt x="3853472" y="3820891"/>
                  <a:pt x="1809974" y="3481957"/>
                  <a:pt x="271660" y="2925857"/>
                </a:cubicBezTo>
                <a:lnTo>
                  <a:pt x="0" y="2822842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alpha val="80000"/>
                </a:schemeClr>
              </a:gs>
              <a:gs pos="100000">
                <a:schemeClr val="accent1">
                  <a:lumMod val="75000"/>
                  <a:alpha val="8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pic>
        <p:nvPicPr>
          <p:cNvPr id="10" name="Picture 56"/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b="27571"/>
          <a:stretch>
            <a:fillRect/>
          </a:stretch>
        </p:blipFill>
        <p:spPr>
          <a:xfrm>
            <a:off x="3782466" y="1491745"/>
            <a:ext cx="4615467" cy="1392396"/>
          </a:xfrm>
          <a:prstGeom prst="rect">
            <a:avLst/>
          </a:prstGeom>
        </p:spPr>
      </p:pic>
      <p:sp>
        <p:nvSpPr>
          <p:cNvPr id="16" name="内容占位符 15"/>
          <p:cNvSpPr>
            <a:spLocks noGrp="1"/>
          </p:cNvSpPr>
          <p:nvPr>
            <p:ph idx="10" hasCustomPrompt="1"/>
          </p:nvPr>
        </p:nvSpPr>
        <p:spPr>
          <a:xfrm>
            <a:off x="1339750" y="4460684"/>
            <a:ext cx="9552791" cy="5905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 b="1" i="0" spc="140">
                <a:solidFill>
                  <a:srgbClr val="4571C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>
              <a:buNone/>
            </a:pPr>
            <a:r>
              <a:t>这里是你的论文标题</a:t>
            </a:r>
          </a:p>
        </p:txBody>
      </p:sp>
      <p:sp>
        <p:nvSpPr>
          <p:cNvPr id="17" name="内容占位符 15"/>
          <p:cNvSpPr>
            <a:spLocks noGrp="1"/>
          </p:cNvSpPr>
          <p:nvPr>
            <p:ph idx="11" hasCustomPrompt="1"/>
          </p:nvPr>
        </p:nvSpPr>
        <p:spPr>
          <a:xfrm>
            <a:off x="854123" y="5190094"/>
            <a:ext cx="10483750" cy="3128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1800" b="1">
                <a:solidFill>
                  <a:srgbClr val="3F70C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>
              <a:buNone/>
            </a:pPr>
            <a:r>
              <a:t>Here is the</a:t>
            </a:r>
            <a:r>
              <a:t> </a:t>
            </a:r>
            <a:r>
              <a:t>English name of your thesis</a:t>
            </a:r>
            <a:r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/>
      <p:sp>
        <p:nvSpPr>
          <p:cNvPr id="8" name="任意多边形: 形状 59"/>
          <p:cNvSpPr>
            <a:spLocks noGrp="1"/>
          </p:cNvSpPr>
          <p:nvPr/>
        </p:nvSpPr>
        <p:spPr>
          <a:xfrm flipH="1">
            <a:off x="0" y="-6692"/>
            <a:ext cx="12218637" cy="944537"/>
          </a:xfrm>
          <a:custGeom>
            <a:avLst/>
            <a:gdLst/>
            <a:ahLst/>
            <a:cxnLst/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pic>
        <p:nvPicPr>
          <p:cNvPr id="9" name="Picture 56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b="27571"/>
          <a:stretch>
            <a:fillRect/>
          </a:stretch>
        </p:blipFill>
        <p:spPr>
          <a:xfrm>
            <a:off x="9779933" y="101739"/>
            <a:ext cx="2412066" cy="727673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0" y="6435969"/>
            <a:ext cx="12191999" cy="42202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11" name="图片 12"/>
          <p:cNvPicPr>
            <a:picLocks noChangeAspect="1"/>
          </p:cNvPicPr>
          <p:nvPr/>
        </p:nvPicPr>
        <p:blipFill rotWithShape="1">
          <a:blip r:embed="rId3">
            <a:alphaModFix amt="70000"/>
            <a:biLevel thresh="25000"/>
          </a:blip>
          <a:srcRect l="14490" t="16343" r="14599" b="10660"/>
          <a:stretch>
            <a:fillRect/>
          </a:stretch>
        </p:blipFill>
        <p:spPr>
          <a:xfrm>
            <a:off x="11604432" y="6383584"/>
            <a:ext cx="512911" cy="5279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标题">
    <p:spTree>
      <p:nvGrpSpPr>
        <p:cNvPr id="1" name=""/>
        <p:cNvGrpSpPr/>
        <p:nvPr/>
      </p:nvGrpSpPr>
      <p:grpSpPr/>
      <p:pic>
        <p:nvPicPr>
          <p:cNvPr id="2" name="图片 25"/>
          <p:cNvPicPr>
            <a:picLocks noChangeAspect="1"/>
          </p:cNvPicPr>
          <p:nvPr/>
        </p:nvPicPr>
        <p:blipFill rotWithShape="1">
          <a:blip r:embed="rId2">
            <a:alphaModFix amt="8000"/>
          </a:blip>
          <a:srcRect t="13773"/>
          <a:stretch>
            <a:fillRect/>
          </a:stretch>
        </p:blipFill>
        <p:spPr>
          <a:xfrm>
            <a:off x="-1" y="-6693"/>
            <a:ext cx="12192001" cy="6823516"/>
          </a:xfrm>
          <a:prstGeom prst="rect">
            <a:avLst/>
          </a:prstGeom>
        </p:spPr>
      </p:pic>
      <p:sp>
        <p:nvSpPr>
          <p:cNvPr id="20" name="任意多边形: 形状 59"/>
          <p:cNvSpPr>
            <a:spLocks noGrp="1"/>
          </p:cNvSpPr>
          <p:nvPr/>
        </p:nvSpPr>
        <p:spPr>
          <a:xfrm flipH="1">
            <a:off x="0" y="-6692"/>
            <a:ext cx="12218637" cy="944537"/>
          </a:xfrm>
          <a:custGeom>
            <a:avLst/>
            <a:gdLst/>
            <a:ahLst/>
            <a:cxnLst/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</a:p>
        </p:txBody>
      </p:sp>
      <p:pic>
        <p:nvPicPr>
          <p:cNvPr id="21" name="Picture 56"/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b="27571"/>
          <a:stretch>
            <a:fillRect/>
          </a:stretch>
        </p:blipFill>
        <p:spPr>
          <a:xfrm>
            <a:off x="9779933" y="101739"/>
            <a:ext cx="2412066" cy="72767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0" y="6435969"/>
            <a:ext cx="12191999" cy="42202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2822" y="6530593"/>
            <a:ext cx="3856892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计算机科学与技术学院</a:t>
            </a:r>
            <a:endParaRPr sz="1400" b="0" i="0" spc="130">
              <a:solidFill>
                <a:srgbClr val="FFFFF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pic>
        <p:nvPicPr>
          <p:cNvPr id="24" name="图片 24"/>
          <p:cNvPicPr>
            <a:picLocks noChangeAspect="1"/>
          </p:cNvPicPr>
          <p:nvPr/>
        </p:nvPicPr>
        <p:blipFill rotWithShape="1">
          <a:blip r:embed="rId4">
            <a:alphaModFix amt="70000"/>
            <a:biLevel thresh="25000"/>
          </a:blip>
          <a:srcRect l="14490" t="16343" r="14599" b="10660"/>
          <a:stretch>
            <a:fillRect/>
          </a:stretch>
        </p:blipFill>
        <p:spPr>
          <a:xfrm>
            <a:off x="11604432" y="6383584"/>
            <a:ext cx="512911" cy="527997"/>
          </a:xfrm>
          <a:prstGeom prst="rect">
            <a:avLst/>
          </a:prstGeom>
        </p:spPr>
      </p:pic>
      <p:sp>
        <p:nvSpPr>
          <p:cNvPr id="28" name="直接连接符 60"/>
          <p:cNvSpPr>
            <a:spLocks noGrp="1"/>
          </p:cNvSpPr>
          <p:nvPr/>
        </p:nvSpPr>
        <p:spPr>
          <a:xfrm>
            <a:off x="4920183" y="1862466"/>
            <a:ext cx="0" cy="3053779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内容占位符 15"/>
          <p:cNvSpPr>
            <a:spLocks noGrp="1"/>
          </p:cNvSpPr>
          <p:nvPr>
            <p:ph idx="11" hasCustomPrompt="1"/>
          </p:nvPr>
        </p:nvSpPr>
        <p:spPr>
          <a:xfrm>
            <a:off x="5647764" y="2125856"/>
            <a:ext cx="4668814" cy="7991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5400" b="1" i="0" spc="140">
                <a:solidFill>
                  <a:srgbClr val="4571C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>
              <a:buNone/>
            </a:pPr>
            <a:r>
              <a:t>小标题小标题</a:t>
            </a:r>
          </a:p>
        </p:txBody>
      </p:sp>
      <p:sp>
        <p:nvSpPr>
          <p:cNvPr id="35" name="内容占位符 15"/>
          <p:cNvSpPr>
            <a:spLocks noGrp="1"/>
          </p:cNvSpPr>
          <p:nvPr>
            <p:ph idx="12" hasCustomPrompt="1"/>
          </p:nvPr>
        </p:nvSpPr>
        <p:spPr>
          <a:xfrm>
            <a:off x="5647763" y="3438083"/>
            <a:ext cx="4937651" cy="1905776"/>
          </a:xfrm>
          <a:prstGeom prst="rect">
            <a:avLst/>
          </a:prstGeom>
        </p:spPr>
        <p:txBody>
          <a:bodyPr>
            <a:noAutofit/>
          </a:bodyPr>
          <a:lstStyle>
            <a:lvl1pPr marL="405130" indent="-405130" algn="l">
              <a:buChar char="ü"/>
              <a:defRPr sz="2800" b="1" i="0" spc="140">
                <a:solidFill>
                  <a:srgbClr val="4571C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>
              <a:buNone/>
            </a:pPr>
            <a:r>
              <a:t>第一个小小标题</a:t>
            </a:r>
          </a:p>
          <a:p>
            <a:pPr>
              <a:buNone/>
            </a:pPr>
            <a:r>
              <a:t>第二个小小标题</a:t>
            </a:r>
          </a:p>
          <a:p>
            <a:pPr>
              <a:buNone/>
            </a:pPr>
            <a:r>
              <a:t>第三个小小标题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研究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0" y="6435969"/>
            <a:ext cx="12191999" cy="42202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2822" y="6530593"/>
            <a:ext cx="3856892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计算机科学与技术学院</a:t>
            </a:r>
            <a:endParaRPr sz="1400" b="0" i="0" spc="130">
              <a:solidFill>
                <a:srgbClr val="FFFFF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pic>
        <p:nvPicPr>
          <p:cNvPr id="23" name="图片 23"/>
          <p:cNvPicPr>
            <a:picLocks noChangeAspect="1"/>
          </p:cNvPicPr>
          <p:nvPr/>
        </p:nvPicPr>
        <p:blipFill rotWithShape="1">
          <a:blip r:embed="rId2">
            <a:alphaModFix amt="70000"/>
            <a:biLevel thresh="25000"/>
          </a:blip>
          <a:srcRect l="14490" t="16343" r="14599" b="10660"/>
          <a:stretch>
            <a:fillRect/>
          </a:stretch>
        </p:blipFill>
        <p:spPr>
          <a:xfrm>
            <a:off x="11604432" y="6383584"/>
            <a:ext cx="512911" cy="527997"/>
          </a:xfrm>
          <a:prstGeom prst="rect">
            <a:avLst/>
          </a:prstGeom>
        </p:spPr>
      </p:pic>
      <p:pic>
        <p:nvPicPr>
          <p:cNvPr id="24" name="Picture 56"/>
          <p:cNvPicPr>
            <a:picLocks noChangeAspect="1"/>
          </p:cNvPicPr>
          <p:nvPr/>
        </p:nvPicPr>
        <p:blipFill rotWithShape="1">
          <a:blip r:embed="rId3">
            <a:alphaModFix amt="13000"/>
            <a:duotone>
              <a:schemeClr val="accent3">
                <a:shade val="45000"/>
                <a:satMod val="135000"/>
              </a:schemeClr>
              <a:prstClr val="white"/>
            </a:duotone>
            <a:lum bright="40000" contrast="-40000"/>
          </a:blip>
          <a:srcRect l="7855" t="10763" r="81917" b="39424"/>
          <a:stretch>
            <a:fillRect/>
          </a:stretch>
        </p:blipFill>
        <p:spPr>
          <a:xfrm>
            <a:off x="9219814" y="277078"/>
            <a:ext cx="2972185" cy="6029347"/>
          </a:xfrm>
          <a:prstGeom prst="rect">
            <a:avLst/>
          </a:prstGeom>
        </p:spPr>
      </p:pic>
      <p:sp>
        <p:nvSpPr>
          <p:cNvPr id="29" name="文本占位符 24"/>
          <p:cNvSpPr>
            <a:spLocks noGrp="1"/>
          </p:cNvSpPr>
          <p:nvPr>
            <p:ph type="body" idx="13" hasCustomPrompt="1"/>
          </p:nvPr>
        </p:nvSpPr>
        <p:spPr>
          <a:xfrm>
            <a:off x="178185" y="225909"/>
            <a:ext cx="4133801" cy="58305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600" b="1" i="0">
                <a:solidFill>
                  <a:srgbClr val="4372C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algn="l">
              <a:spcBef>
                <a:spcPts val="0"/>
              </a:spcBef>
              <a:spcAft>
                <a:spcPts val="0"/>
              </a:spcAft>
              <a:buNone/>
            </a:pPr>
            <a:r>
              <a:t>同济大学软件学院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视点三维重建"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-22073" y="0"/>
            <a:ext cx="198104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graphicFrame>
        <p:nvGraphicFramePr>
          <p:cNvPr id="16" name="表格 15"/>
          <p:cNvGraphicFramePr/>
          <p:nvPr/>
        </p:nvGraphicFramePr>
        <p:xfrm>
          <a:off x="-11035" y="1353710"/>
          <a:ext cx="1970006" cy="440876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70006"/>
              </a:tblGrid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研究背景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多视点三维重建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无监督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深度学习构建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901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实验与成果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总结与展望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7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62" y="151120"/>
            <a:ext cx="1054249" cy="1058183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0" y="6435969"/>
            <a:ext cx="12191999" cy="42202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2822" y="6530593"/>
            <a:ext cx="3856892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这里可以</a:t>
            </a:r>
            <a:r>
              <a:rPr sz="1400" b="0" i="0" spc="13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是</a:t>
            </a:r>
            <a:r>
              <a:rPr sz="1400" b="0" i="0" spc="13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你的论文标题</a:t>
            </a:r>
            <a:endParaRPr sz="1400" b="0" i="0" spc="130">
              <a:solidFill>
                <a:srgbClr val="FFFFF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pic>
        <p:nvPicPr>
          <p:cNvPr id="23" name="图片 23"/>
          <p:cNvPicPr>
            <a:picLocks noChangeAspect="1"/>
          </p:cNvPicPr>
          <p:nvPr/>
        </p:nvPicPr>
        <p:blipFill rotWithShape="1">
          <a:blip r:embed="rId3">
            <a:alphaModFix amt="70000"/>
            <a:biLevel thresh="25000"/>
          </a:blip>
          <a:srcRect l="14490" t="16343" r="14599" b="10660"/>
          <a:stretch>
            <a:fillRect/>
          </a:stretch>
        </p:blipFill>
        <p:spPr>
          <a:xfrm>
            <a:off x="11604432" y="6383584"/>
            <a:ext cx="512911" cy="527997"/>
          </a:xfrm>
          <a:prstGeom prst="rect">
            <a:avLst/>
          </a:prstGeom>
        </p:spPr>
      </p:pic>
      <p:sp>
        <p:nvSpPr>
          <p:cNvPr id="25" name="等腰三角形 9"/>
          <p:cNvSpPr>
            <a:spLocks noGrp="1"/>
          </p:cNvSpPr>
          <p:nvPr/>
        </p:nvSpPr>
        <p:spPr>
          <a:xfrm rot="16200000">
            <a:off x="1813599" y="2611430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6" name="Picture 56"/>
          <p:cNvPicPr>
            <a:picLocks noChangeAspect="1"/>
          </p:cNvPicPr>
          <p:nvPr/>
        </p:nvPicPr>
        <p:blipFill rotWithShape="1">
          <a:blip r:embed="rId4">
            <a:alphaModFix amt="13000"/>
            <a:duotone>
              <a:schemeClr val="accent3">
                <a:shade val="45000"/>
                <a:satMod val="135000"/>
              </a:schemeClr>
              <a:prstClr val="white"/>
            </a:duotone>
            <a:lum bright="40000" contrast="-40000"/>
          </a:blip>
          <a:srcRect l="7855" t="10763" r="81917" b="39424"/>
          <a:stretch>
            <a:fillRect/>
          </a:stretch>
        </p:blipFill>
        <p:spPr>
          <a:xfrm>
            <a:off x="9219814" y="277078"/>
            <a:ext cx="2972185" cy="6029347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9750790" y="6519075"/>
            <a:ext cx="1981044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本科毕业设计 张喆</a:t>
            </a:r>
            <a:endParaRPr sz="1400" b="0" i="0" spc="130">
              <a:solidFill>
                <a:srgbClr val="FFFFF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3" name="五边形 2"/>
          <p:cNvSpPr>
            <a:spLocks noGrp="1"/>
          </p:cNvSpPr>
          <p:nvPr/>
        </p:nvSpPr>
        <p:spPr>
          <a:xfrm flipH="1">
            <a:off x="11416673" y="5802370"/>
            <a:ext cx="775326" cy="504056"/>
          </a:xfrm>
          <a:prstGeom prst="homePlate">
            <a:avLst/>
          </a:prstGeom>
          <a:gradFill rotWithShape="1">
            <a:gsLst>
              <a:gs pos="0">
                <a:srgbClr val="33599E"/>
              </a:gs>
              <a:gs pos="99000">
                <a:srgbClr val="2E5697"/>
              </a:gs>
            </a:gsLst>
            <a:lin ang="0" scaled="1"/>
            <a:tileRect/>
          </a:gradFill>
          <a:ln w="25400" cmpd="sng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4" name="文本占位符 24"/>
          <p:cNvSpPr>
            <a:spLocks noGrp="1"/>
          </p:cNvSpPr>
          <p:nvPr>
            <p:ph type="body" idx="13" hasCustomPrompt="1"/>
          </p:nvPr>
        </p:nvSpPr>
        <p:spPr>
          <a:xfrm>
            <a:off x="2215044" y="388681"/>
            <a:ext cx="4133801" cy="58305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600" b="1" i="0">
                <a:solidFill>
                  <a:srgbClr val="4372C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algn="l">
              <a:spcBef>
                <a:spcPts val="0"/>
              </a:spcBef>
              <a:spcAft>
                <a:spcPts val="0"/>
              </a:spcAft>
              <a:buNone/>
            </a:pPr>
            <a:r>
              <a:t>同济大学软件学院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监督深度学习构建"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-22073" y="0"/>
            <a:ext cx="198104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graphicFrame>
        <p:nvGraphicFramePr>
          <p:cNvPr id="16" name="表格 15"/>
          <p:cNvGraphicFramePr/>
          <p:nvPr/>
        </p:nvGraphicFramePr>
        <p:xfrm>
          <a:off x="-11035" y="1353710"/>
          <a:ext cx="1970006" cy="440876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70006"/>
              </a:tblGrid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研究背景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多视点三维重建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无监督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深度学习构建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901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实验与成果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总结与展望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7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62" y="151120"/>
            <a:ext cx="1054249" cy="1058183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0" y="6435969"/>
            <a:ext cx="12191999" cy="42202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2822" y="6530593"/>
            <a:ext cx="3856892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这里可以是你的论文标题</a:t>
            </a:r>
            <a:endParaRPr sz="1400" b="0" i="0" spc="130">
              <a:solidFill>
                <a:srgbClr val="FFFFF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pic>
        <p:nvPicPr>
          <p:cNvPr id="23" name="图片 23"/>
          <p:cNvPicPr>
            <a:picLocks noChangeAspect="1"/>
          </p:cNvPicPr>
          <p:nvPr/>
        </p:nvPicPr>
        <p:blipFill rotWithShape="1">
          <a:blip r:embed="rId3">
            <a:alphaModFix amt="70000"/>
            <a:biLevel thresh="25000"/>
          </a:blip>
          <a:srcRect l="14490" t="16343" r="14599" b="10660"/>
          <a:stretch>
            <a:fillRect/>
          </a:stretch>
        </p:blipFill>
        <p:spPr>
          <a:xfrm>
            <a:off x="11604432" y="6383584"/>
            <a:ext cx="512911" cy="527997"/>
          </a:xfrm>
          <a:prstGeom prst="rect">
            <a:avLst/>
          </a:prstGeom>
        </p:spPr>
      </p:pic>
      <p:sp>
        <p:nvSpPr>
          <p:cNvPr id="25" name="等腰三角形 9"/>
          <p:cNvSpPr>
            <a:spLocks noGrp="1"/>
          </p:cNvSpPr>
          <p:nvPr/>
        </p:nvSpPr>
        <p:spPr>
          <a:xfrm rot="16200000">
            <a:off x="1813599" y="3482801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6" name="Picture 56"/>
          <p:cNvPicPr>
            <a:picLocks noChangeAspect="1"/>
          </p:cNvPicPr>
          <p:nvPr/>
        </p:nvPicPr>
        <p:blipFill rotWithShape="1">
          <a:blip r:embed="rId4">
            <a:alphaModFix amt="13000"/>
            <a:duotone>
              <a:schemeClr val="accent3">
                <a:shade val="45000"/>
                <a:satMod val="135000"/>
              </a:schemeClr>
              <a:prstClr val="white"/>
            </a:duotone>
            <a:lum bright="40000" contrast="-40000"/>
          </a:blip>
          <a:srcRect l="7855" t="10763" r="81917" b="39424"/>
          <a:stretch>
            <a:fillRect/>
          </a:stretch>
        </p:blipFill>
        <p:spPr>
          <a:xfrm>
            <a:off x="9219814" y="277078"/>
            <a:ext cx="2972185" cy="6029347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9750790" y="6519075"/>
            <a:ext cx="1981044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本科毕业设计 张喆</a:t>
            </a:r>
            <a:endParaRPr sz="1400" b="0" i="0" spc="130">
              <a:solidFill>
                <a:srgbClr val="FFFFF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3" name="五边形 2"/>
          <p:cNvSpPr>
            <a:spLocks noGrp="1"/>
          </p:cNvSpPr>
          <p:nvPr/>
        </p:nvSpPr>
        <p:spPr>
          <a:xfrm flipH="1">
            <a:off x="11416673" y="5802370"/>
            <a:ext cx="775326" cy="504056"/>
          </a:xfrm>
          <a:prstGeom prst="homePlate">
            <a:avLst/>
          </a:prstGeom>
          <a:gradFill rotWithShape="1">
            <a:gsLst>
              <a:gs pos="0">
                <a:srgbClr val="33599E"/>
              </a:gs>
              <a:gs pos="99000">
                <a:srgbClr val="2E5697"/>
              </a:gs>
            </a:gsLst>
            <a:lin ang="0" scaled="1"/>
            <a:tileRect/>
          </a:gradFill>
          <a:ln w="25400" cmpd="sng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4" name="文本占位符 24"/>
          <p:cNvSpPr>
            <a:spLocks noGrp="1"/>
          </p:cNvSpPr>
          <p:nvPr>
            <p:ph type="body" idx="13" hasCustomPrompt="1"/>
          </p:nvPr>
        </p:nvSpPr>
        <p:spPr>
          <a:xfrm>
            <a:off x="2215044" y="388681"/>
            <a:ext cx="4133801" cy="58305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600" b="1" i="0">
                <a:solidFill>
                  <a:srgbClr val="4372C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algn="l">
              <a:spcBef>
                <a:spcPts val="0"/>
              </a:spcBef>
              <a:spcAft>
                <a:spcPts val="0"/>
              </a:spcAft>
              <a:buNone/>
            </a:pPr>
            <a:r>
              <a:t>同济大学软件学院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实验与成果"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-22073" y="0"/>
            <a:ext cx="198104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graphicFrame>
        <p:nvGraphicFramePr>
          <p:cNvPr id="16" name="表格 15"/>
          <p:cNvGraphicFramePr/>
          <p:nvPr/>
        </p:nvGraphicFramePr>
        <p:xfrm>
          <a:off x="-11035" y="1353710"/>
          <a:ext cx="1970006" cy="440876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70006"/>
              </a:tblGrid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研究背景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多视点三维重建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无监督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深度学习构建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901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实验与成果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总结与展望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7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62" y="151120"/>
            <a:ext cx="1054249" cy="1058183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0" y="6435969"/>
            <a:ext cx="12191999" cy="42202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2822" y="6530593"/>
            <a:ext cx="3856892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这里可以</a:t>
            </a:r>
            <a:r>
              <a:rPr sz="1400" b="0" i="0" spc="13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是</a:t>
            </a:r>
            <a:r>
              <a:rPr sz="1400" b="0" i="0" spc="13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你的论文标题</a:t>
            </a:r>
            <a:endParaRPr sz="1400" b="0" i="0" spc="130">
              <a:solidFill>
                <a:srgbClr val="FFFFF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pic>
        <p:nvPicPr>
          <p:cNvPr id="23" name="图片 23"/>
          <p:cNvPicPr>
            <a:picLocks noChangeAspect="1"/>
          </p:cNvPicPr>
          <p:nvPr/>
        </p:nvPicPr>
        <p:blipFill rotWithShape="1">
          <a:blip r:embed="rId3">
            <a:alphaModFix amt="70000"/>
            <a:biLevel thresh="25000"/>
          </a:blip>
          <a:srcRect l="14490" t="16343" r="14599" b="10660"/>
          <a:stretch>
            <a:fillRect/>
          </a:stretch>
        </p:blipFill>
        <p:spPr>
          <a:xfrm>
            <a:off x="11604432" y="6383584"/>
            <a:ext cx="512911" cy="527997"/>
          </a:xfrm>
          <a:prstGeom prst="rect">
            <a:avLst/>
          </a:prstGeom>
        </p:spPr>
      </p:pic>
      <p:sp>
        <p:nvSpPr>
          <p:cNvPr id="25" name="等腰三角形 9"/>
          <p:cNvSpPr>
            <a:spLocks noGrp="1"/>
          </p:cNvSpPr>
          <p:nvPr/>
        </p:nvSpPr>
        <p:spPr>
          <a:xfrm rot="16200000">
            <a:off x="1813599" y="4364930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6" name="Picture 56"/>
          <p:cNvPicPr>
            <a:picLocks noChangeAspect="1"/>
          </p:cNvPicPr>
          <p:nvPr/>
        </p:nvPicPr>
        <p:blipFill rotWithShape="1">
          <a:blip r:embed="rId4">
            <a:alphaModFix amt="13000"/>
            <a:duotone>
              <a:schemeClr val="accent3">
                <a:shade val="45000"/>
                <a:satMod val="135000"/>
              </a:schemeClr>
              <a:prstClr val="white"/>
            </a:duotone>
            <a:lum bright="40000" contrast="-40000"/>
          </a:blip>
          <a:srcRect l="7855" t="10763" r="81917" b="39424"/>
          <a:stretch>
            <a:fillRect/>
          </a:stretch>
        </p:blipFill>
        <p:spPr>
          <a:xfrm>
            <a:off x="9219814" y="277078"/>
            <a:ext cx="2972185" cy="6029347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9750790" y="6519075"/>
            <a:ext cx="1981044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本科毕业设计 张喆</a:t>
            </a:r>
            <a:endParaRPr sz="1400" b="0" i="0" spc="130">
              <a:solidFill>
                <a:srgbClr val="FFFFF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3" name="五边形 2"/>
          <p:cNvSpPr>
            <a:spLocks noGrp="1"/>
          </p:cNvSpPr>
          <p:nvPr/>
        </p:nvSpPr>
        <p:spPr>
          <a:xfrm flipH="1">
            <a:off x="11416673" y="5802370"/>
            <a:ext cx="775326" cy="504056"/>
          </a:xfrm>
          <a:prstGeom prst="homePlate">
            <a:avLst/>
          </a:prstGeom>
          <a:gradFill rotWithShape="1">
            <a:gsLst>
              <a:gs pos="0">
                <a:srgbClr val="33599E"/>
              </a:gs>
              <a:gs pos="99000">
                <a:srgbClr val="2E5697"/>
              </a:gs>
            </a:gsLst>
            <a:lin ang="0" scaled="1"/>
            <a:tileRect/>
          </a:gradFill>
          <a:ln w="25400" cmpd="sng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4" name="文本占位符 24"/>
          <p:cNvSpPr>
            <a:spLocks noGrp="1"/>
          </p:cNvSpPr>
          <p:nvPr>
            <p:ph type="body" idx="13" hasCustomPrompt="1"/>
          </p:nvPr>
        </p:nvSpPr>
        <p:spPr>
          <a:xfrm>
            <a:off x="2215044" y="388681"/>
            <a:ext cx="4133801" cy="58305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600" b="1" i="0">
                <a:solidFill>
                  <a:srgbClr val="4372C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algn="l">
              <a:spcBef>
                <a:spcPts val="0"/>
              </a:spcBef>
              <a:spcAft>
                <a:spcPts val="0"/>
              </a:spcAft>
              <a:buNone/>
            </a:pPr>
            <a:r>
              <a:t>同济大学软件学院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工作总结"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-22073" y="0"/>
            <a:ext cx="198104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graphicFrame>
        <p:nvGraphicFramePr>
          <p:cNvPr id="16" name="表格 15"/>
          <p:cNvGraphicFramePr/>
          <p:nvPr/>
        </p:nvGraphicFramePr>
        <p:xfrm>
          <a:off x="-11035" y="1353710"/>
          <a:ext cx="1970006" cy="440876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70006"/>
              </a:tblGrid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研究背景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多视点三维重建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无监督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深度学习构建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901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实验与成果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工作总结</a:t>
                      </a:r>
                      <a:endParaRPr sz="1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7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62" y="151120"/>
            <a:ext cx="1054249" cy="1058183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0" y="6435969"/>
            <a:ext cx="12191999" cy="42202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2822" y="6530593"/>
            <a:ext cx="3856892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这里可以</a:t>
            </a:r>
            <a:r>
              <a:rPr sz="1400" b="0" i="0" spc="13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是</a:t>
            </a:r>
            <a:r>
              <a:rPr sz="1400" b="0" i="0" spc="13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你的论文标题</a:t>
            </a:r>
            <a:endParaRPr sz="1400" b="0" i="0" spc="130">
              <a:solidFill>
                <a:srgbClr val="FFFFF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pic>
        <p:nvPicPr>
          <p:cNvPr id="23" name="图片 23"/>
          <p:cNvPicPr>
            <a:picLocks noChangeAspect="1"/>
          </p:cNvPicPr>
          <p:nvPr/>
        </p:nvPicPr>
        <p:blipFill rotWithShape="1">
          <a:blip r:embed="rId3">
            <a:alphaModFix amt="70000"/>
            <a:biLevel thresh="25000"/>
          </a:blip>
          <a:srcRect l="14490" t="16343" r="14599" b="10660"/>
          <a:stretch>
            <a:fillRect/>
          </a:stretch>
        </p:blipFill>
        <p:spPr>
          <a:xfrm>
            <a:off x="11604432" y="6383584"/>
            <a:ext cx="512911" cy="527997"/>
          </a:xfrm>
          <a:prstGeom prst="rect">
            <a:avLst/>
          </a:prstGeom>
        </p:spPr>
      </p:pic>
      <p:sp>
        <p:nvSpPr>
          <p:cNvPr id="25" name="等腰三角形 9"/>
          <p:cNvSpPr>
            <a:spLocks noGrp="1"/>
          </p:cNvSpPr>
          <p:nvPr/>
        </p:nvSpPr>
        <p:spPr>
          <a:xfrm rot="16200000">
            <a:off x="1813599" y="5253260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6" name="Picture 56"/>
          <p:cNvPicPr>
            <a:picLocks noChangeAspect="1"/>
          </p:cNvPicPr>
          <p:nvPr/>
        </p:nvPicPr>
        <p:blipFill rotWithShape="1">
          <a:blip r:embed="rId4">
            <a:alphaModFix amt="13000"/>
            <a:duotone>
              <a:schemeClr val="accent3">
                <a:shade val="45000"/>
                <a:satMod val="135000"/>
              </a:schemeClr>
              <a:prstClr val="white"/>
            </a:duotone>
            <a:lum bright="40000" contrast="-40000"/>
          </a:blip>
          <a:srcRect l="7855" t="10763" r="81917" b="39424"/>
          <a:stretch>
            <a:fillRect/>
          </a:stretch>
        </p:blipFill>
        <p:spPr>
          <a:xfrm>
            <a:off x="9219814" y="277078"/>
            <a:ext cx="2972185" cy="6029347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9750790" y="6519075"/>
            <a:ext cx="1981044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本科毕业设计 张喆</a:t>
            </a:r>
            <a:endParaRPr sz="1400" b="0" i="0" spc="130">
              <a:solidFill>
                <a:srgbClr val="FFFFF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3" name="五边形 2"/>
          <p:cNvSpPr>
            <a:spLocks noGrp="1"/>
          </p:cNvSpPr>
          <p:nvPr/>
        </p:nvSpPr>
        <p:spPr>
          <a:xfrm flipH="1">
            <a:off x="11416673" y="5802370"/>
            <a:ext cx="775326" cy="504056"/>
          </a:xfrm>
          <a:prstGeom prst="homePlate">
            <a:avLst/>
          </a:prstGeom>
          <a:gradFill rotWithShape="1">
            <a:gsLst>
              <a:gs pos="0">
                <a:srgbClr val="33599E"/>
              </a:gs>
              <a:gs pos="99000">
                <a:srgbClr val="2E5697"/>
              </a:gs>
            </a:gsLst>
            <a:lin ang="0" scaled="1"/>
            <a:tileRect/>
          </a:gradFill>
          <a:ln w="25400" cmpd="sng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4" name="文本占位符 24"/>
          <p:cNvSpPr>
            <a:spLocks noGrp="1"/>
          </p:cNvSpPr>
          <p:nvPr>
            <p:ph type="body" idx="13" hasCustomPrompt="1"/>
          </p:nvPr>
        </p:nvSpPr>
        <p:spPr>
          <a:xfrm>
            <a:off x="2215044" y="388681"/>
            <a:ext cx="4133801" cy="58305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600" b="1" i="0">
                <a:solidFill>
                  <a:srgbClr val="4372C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algn="l">
              <a:spcBef>
                <a:spcPts val="0"/>
              </a:spcBef>
              <a:spcAft>
                <a:spcPts val="0"/>
              </a:spcAft>
              <a:buNone/>
            </a:pPr>
            <a:r>
              <a:t>同济大学软件学院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关于模板">
    <p:spTree>
      <p:nvGrpSpPr>
        <p:cNvPr id="1" name=""/>
        <p:cNvGrpSpPr/>
        <p:nvPr/>
      </p:nvGrpSpPr>
      <p:grpSpPr/>
      <p:pic>
        <p:nvPicPr>
          <p:cNvPr id="2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6" y="21712"/>
            <a:ext cx="864499" cy="789325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0" hasCustomPrompt="1"/>
          </p:nvPr>
        </p:nvSpPr>
        <p:spPr>
          <a:xfrm>
            <a:off x="927185" y="214048"/>
            <a:ext cx="1807873" cy="4046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spc="110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 spc="110">
                <a:ln>
                  <a:noFill/>
                </a:ln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资源和示例</a:t>
            </a:r>
            <a:endParaRPr sz="2000" b="1" i="0" u="none" cap="none" spc="110">
              <a:ln>
                <a:noFill/>
              </a:ln>
              <a:solidFill>
                <a:srgbClr val="005B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0"/>
          </p:nvPr>
        </p:nvSpPr>
        <p:spPr>
          <a:xfrm>
            <a:off x="364017" y="4028608"/>
            <a:ext cx="11463953" cy="1806707"/>
          </a:xfrm>
        </p:spPr>
        <p:txBody>
          <a:bodyPr/>
          <a:lstStyle/>
          <a:p>
            <a:pPr>
              <a:buNone/>
              <a:def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Component Testing for FlaskBlog</a:t>
            </a:r>
            <a:endParaRPr sz="21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lnSpc>
                <a:spcPct val="150000"/>
              </a:lnSpc>
              <a:buNone/>
              <a:def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Setup and Post Workflows</a:t>
            </a:r>
            <a:endParaRPr sz="21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Assignment B3 | Software Testing</a:t>
            </a:r>
            <a:endParaRPr sz="21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33681" y="6221314"/>
            <a:ext cx="4324637" cy="383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None/>
              <a:defRPr sz="1125">
                <a:solidFill>
                  <a:srgbClr val="3333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3333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Testing Part | 8 body slides</a:t>
            </a:r>
            <a:endParaRPr sz="1125">
              <a:solidFill>
                <a:srgbClr val="3333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1"/>
          </p:nvPr>
        </p:nvSpPr>
        <p:spPr>
          <a:xfrm>
            <a:off x="5361288" y="1483684"/>
            <a:ext cx="6520125" cy="3982961"/>
          </a:xfrm>
        </p:spPr>
        <p:txBody>
          <a:bodyPr/>
          <a:lstStyle/>
          <a:p>
            <a:pPr marL="914400" indent="-914400">
              <a:lnSpc>
                <a:spcPct val="150000"/>
              </a:lnSpc>
              <a:buAutoNum type="circleNumDbPlain"/>
              <a:defRPr sz="195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 Scope and risk link</a:t>
            </a:r>
            <a:endParaRPr sz="195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14400" indent="-914400">
              <a:lnSpc>
                <a:spcPct val="150000"/>
              </a:lnSpc>
              <a:buAutoNum type="circleNumDbPlain"/>
              <a:defRPr sz="195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 Setup: black-box design</a:t>
            </a:r>
            <a:endParaRPr sz="195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14400" indent="-914400">
              <a:lnSpc>
                <a:spcPct val="150000"/>
              </a:lnSpc>
              <a:buAutoNum type="circleNumDbPlain"/>
              <a:defRPr sz="195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 Setup: execution and defect</a:t>
            </a:r>
            <a:endParaRPr sz="195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14400" indent="-914400">
              <a:lnSpc>
                <a:spcPct val="150000"/>
              </a:lnSpc>
              <a:buAutoNum type="circleNumDbPlain"/>
              <a:defRPr sz="195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4. Post: white-box design</a:t>
            </a:r>
            <a:endParaRPr sz="195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14400" indent="-914400">
              <a:lnSpc>
                <a:spcPct val="150000"/>
              </a:lnSpc>
              <a:buAutoNum type="circleNumDbPlain"/>
              <a:defRPr sz="195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5. Post: execution and defect summary</a:t>
            </a:r>
            <a:endParaRPr sz="195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996592" y="2921167"/>
            <a:ext cx="371884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Contents</a:t>
            </a:r>
            <a:endParaRPr sz="28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矩形: 圆角 20"/>
          <p:cNvSpPr>
            <a:spLocks noGrp="1"/>
          </p:cNvSpPr>
          <p:nvPr/>
        </p:nvSpPr>
        <p:spPr>
          <a:xfrm>
            <a:off x="160020" y="1125220"/>
            <a:ext cx="11866880" cy="1647190"/>
          </a:xfrm>
          <a:prstGeom prst="roundRect">
            <a:avLst>
              <a:gd name="adj" fmla="val 203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buNone/>
            </a:pPr>
          </a:p>
        </p:txBody>
      </p:sp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146890" y="257139"/>
            <a:ext cx="4133801" cy="583059"/>
          </a:xfrm>
        </p:spPr>
        <p:txBody>
          <a:bodyPr/>
          <a:lstStyle/>
          <a:p>
            <a:pPr>
              <a:buNone/>
              <a:defRPr sz="24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Testing Scope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4655986" y="1701074"/>
            <a:ext cx="7506418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har char="•"/>
              <a:defRPr sz="1575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Selected according to high-priority product risks: signup validation, login/session behavior, post creation, and post/comment route reliability.</a:t>
            </a:r>
            <a:endParaRPr sz="160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297173" y="1772942"/>
            <a:ext cx="1905367" cy="638701"/>
          </a:xfrm>
          <a:prstGeom prst="roundRect">
            <a:avLst>
              <a:gd name="adj" fmla="val 9331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2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User </a:t>
            </a:r>
            <a:r>
              <a:rPr sz="1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authentication</a:t>
            </a:r>
            <a:endParaRPr sz="1400" b="1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Signup / Login</a:t>
            </a:r>
            <a:endParaRPr sz="1400" b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矩形: 圆角 16"/>
          <p:cNvSpPr>
            <a:spLocks noGrp="1"/>
          </p:cNvSpPr>
          <p:nvPr/>
        </p:nvSpPr>
        <p:spPr>
          <a:xfrm>
            <a:off x="2351375" y="1772942"/>
            <a:ext cx="1905367" cy="638701"/>
          </a:xfrm>
          <a:prstGeom prst="roundRect">
            <a:avLst>
              <a:gd name="adj" fmla="val 9331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2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Post Component</a:t>
            </a:r>
            <a:endParaRPr sz="1400" b="1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Create / </a:t>
            </a:r>
            <a:r>
              <a:rPr lang="en-US" sz="1400" b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Post</a:t>
            </a:r>
            <a:endParaRPr lang="en-US" sz="1400" b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146685" y="1116330"/>
            <a:ext cx="6472555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 sz="17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Detailed component testing covers </a:t>
            </a:r>
            <a:r>
              <a:rPr sz="18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two major modules:</a:t>
            </a:r>
            <a:endParaRPr sz="18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文本框 24"/>
          <p:cNvSpPr>
            <a:spLocks noGrp="1"/>
          </p:cNvSpPr>
          <p:nvPr/>
        </p:nvSpPr>
        <p:spPr>
          <a:xfrm>
            <a:off x="191135" y="3429000"/>
            <a:ext cx="11835765" cy="24663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Char char="•"/>
              <a:defRPr sz="1575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Test level:</a:t>
            </a:r>
            <a:r>
              <a:rPr sz="160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route-level component testing using Flask test_client, isolated SQLite test databases, and patched route dependencies where needed.</a:t>
            </a:r>
            <a:endParaRPr sz="160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5750" indent="-285750">
              <a:lnSpc>
                <a:spcPct val="150000"/>
              </a:lnSpc>
              <a:buChar char="•"/>
              <a:defRPr sz="1575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Evidence checked:</a:t>
            </a:r>
            <a:r>
              <a:rPr sz="160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HTTP status codes and redirect locations, returned page responses from patched template-rendering branches, SQLite database side effects, Flask session state, and defect evidence from unexpected test errors.</a:t>
            </a:r>
            <a:endParaRPr sz="160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5750" indent="-285750">
              <a:lnSpc>
                <a:spcPct val="150000"/>
              </a:lnSpc>
              <a:buChar char="•"/>
              <a:defRPr sz="1575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Detailed testing scope: </a:t>
            </a:r>
            <a:r>
              <a:rPr sz="160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this section covers the selected authentication components, especially signup and login, and blog post components, especially create post and post view/comment handling.</a:t>
            </a:r>
            <a:endParaRPr sz="160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146685" y="257175"/>
            <a:ext cx="7420610" cy="582930"/>
          </a:xfrm>
        </p:spPr>
        <p:txBody>
          <a:bodyPr/>
          <a:lstStyle/>
          <a:p>
            <a:pPr algn="l"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00">
                <a:solidFill>
                  <a:srgbClr val="17202A"/>
                </a:solidFill>
                <a:latin typeface="Aptos"/>
                <a:ea typeface="Aptos"/>
                <a:cs typeface="Aptos"/>
                <a:sym typeface="+mn-ea"/>
              </a:rPr>
              <a:t>Route-level component tests with Flask test_client</a:t>
            </a:r>
            <a:endParaRPr sz="240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335280" y="1277620"/>
            <a:ext cx="3286125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335280" y="1277620"/>
            <a:ext cx="76200" cy="1390650"/>
          </a:xfrm>
          <a:prstGeom prst="rect">
            <a:avLst/>
          </a:prstGeom>
          <a:solidFill>
            <a:srgbClr val="0E7C7B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44830" y="1449070"/>
            <a:ext cx="2905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test_client does</a:t>
            </a:r>
            <a:endParaRPr sz="1350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44830" y="1791970"/>
            <a:ext cx="2905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It creates an in-process HTTP request context. The route is called through Flask routing, but no real browser, server process, or network socket is needed.</a:t>
            </a:r>
            <a:endParaRPr sz="1050" b="0">
              <a:solidFill>
                <a:srgbClr val="5D6D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35280" y="2877820"/>
            <a:ext cx="3286125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35280" y="2877820"/>
            <a:ext cx="76200" cy="1390650"/>
          </a:xfrm>
          <a:prstGeom prst="rect">
            <a:avLst/>
          </a:prstGeom>
          <a:solidFill>
            <a:srgbClr val="183A59"/>
          </a:solidFill>
          <a:ln w="11430">
            <a:solidFill>
              <a:srgbClr val="183A5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44830" y="3049270"/>
            <a:ext cx="2905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Isolation strategy</a:t>
            </a:r>
            <a:endParaRPr sz="1350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44830" y="3392170"/>
            <a:ext cx="2905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Each test builds a small Flask app, registers selected Blueprints, patches database paths and helper functions, and uses temporary SQLite files.</a:t>
            </a:r>
            <a:endParaRPr sz="1050" b="0">
              <a:solidFill>
                <a:srgbClr val="5D6D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35280" y="4478020"/>
            <a:ext cx="3286125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335280" y="4478020"/>
            <a:ext cx="76200" cy="1143000"/>
          </a:xfrm>
          <a:prstGeom prst="rect">
            <a:avLst/>
          </a:prstGeom>
          <a:solidFill>
            <a:srgbClr val="F2A541"/>
          </a:solidFill>
          <a:ln w="11430">
            <a:solidFill>
              <a:srgbClr val="F2A54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44830" y="4649470"/>
            <a:ext cx="2905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Assertions</a:t>
            </a:r>
            <a:endParaRPr sz="1350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44830" y="4992370"/>
            <a:ext cx="2905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Status codes, redirect locations, selected response text, database rows, session values, and unexpected test errors.</a:t>
            </a:r>
            <a:endParaRPr sz="1050" b="0">
              <a:solidFill>
                <a:srgbClr val="5D6D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316730" y="1725295"/>
            <a:ext cx="1381125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0E7C7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 case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payload + session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221730" y="1725295"/>
            <a:ext cx="1381125" cy="742950"/>
          </a:xfrm>
          <a:prstGeom prst="roundRect">
            <a:avLst>
              <a:gd name="adj" fmla="val 10256"/>
            </a:avLst>
          </a:prstGeom>
          <a:solidFill>
            <a:srgbClr val="E9F7F5"/>
          </a:solidFill>
          <a:ln w="11430">
            <a:solidFill>
              <a:srgbClr val="0E7C7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Flask app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+ test_client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126730" y="1725295"/>
            <a:ext cx="1381125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0E7C7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selected route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Blueprint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10031730" y="1725295"/>
            <a:ext cx="1381125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0E7C7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isolated SQLite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+ patched deps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5697855" y="2096770"/>
            <a:ext cx="523875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7602855" y="2096770"/>
            <a:ext cx="523875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9507855" y="2096770"/>
            <a:ext cx="523875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0717530" y="2468245"/>
            <a:ext cx="0" cy="695325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31" name="圆角矩形 30"/>
          <p:cNvSpPr>
            <a:spLocks noGrp="1"/>
          </p:cNvSpPr>
          <p:nvPr/>
        </p:nvSpPr>
        <p:spPr>
          <a:xfrm>
            <a:off x="9603105" y="3163570"/>
            <a:ext cx="1809750" cy="742950"/>
          </a:xfrm>
          <a:prstGeom prst="roundRect">
            <a:avLst>
              <a:gd name="adj" fmla="val 10256"/>
            </a:avLst>
          </a:prstGeom>
          <a:solidFill>
            <a:srgbClr val="FFF5E1"/>
          </a:solidFill>
          <a:ln w="11430">
            <a:solidFill>
              <a:srgbClr val="F2A541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assertions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response / DB / session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316730" y="4249420"/>
            <a:ext cx="1524000" cy="32385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Component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840730" y="4249420"/>
            <a:ext cx="5334000" cy="32385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Loaded modules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316730" y="4573270"/>
            <a:ext cx="1524000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79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Signup</a:t>
            </a:r>
            <a:endParaRPr sz="79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840730" y="4573270"/>
            <a:ext cx="5334000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79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routes.signup, SignUpForm, settings, users DB</a:t>
            </a:r>
            <a:endParaRPr sz="79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316730" y="4897120"/>
            <a:ext cx="1524000" cy="3238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79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Login</a:t>
            </a:r>
            <a:endParaRPr sz="79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840730" y="4897120"/>
            <a:ext cx="5334000" cy="3238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79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routes.login, LoginForm, users DB, Flask session</a:t>
            </a:r>
            <a:endParaRPr sz="79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316730" y="5220970"/>
            <a:ext cx="1524000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79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CreatePost</a:t>
            </a:r>
            <a:endParaRPr sz="79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840730" y="5220970"/>
            <a:ext cx="5334000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79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routes.createPost, CreatePostForm, posts DB, URL-ID helper</a:t>
            </a:r>
            <a:endParaRPr sz="79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316730" y="5544820"/>
            <a:ext cx="1524000" cy="3238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79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</a:t>
            </a:r>
            <a:endParaRPr sz="79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840730" y="5544820"/>
            <a:ext cx="5334000" cy="3238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79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routes.post, CommentForm, Delete, posts/comments/analytics DB</a:t>
            </a:r>
            <a:endParaRPr sz="79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316730" y="4249420"/>
            <a:ext cx="6858000" cy="1619250"/>
          </a:xfrm>
          <a:prstGeom prst="rect">
            <a:avLst/>
          </a:prstGeom>
          <a:noFill/>
          <a:ln w="11430">
            <a:solidFill>
              <a:srgbClr val="D6DEE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146685" y="257175"/>
            <a:ext cx="8642985" cy="582930"/>
          </a:xfrm>
        </p:spPr>
        <p:txBody>
          <a:bodyPr/>
          <a:lstStyle/>
          <a:p>
            <a:pPr algn="l"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00">
                <a:solidFill>
                  <a:srgbClr val="17202A"/>
                </a:solidFill>
                <a:latin typeface="Aptos"/>
                <a:ea typeface="Aptos"/>
                <a:cs typeface="Aptos"/>
                <a:sym typeface="+mn-ea"/>
              </a:rPr>
              <a:t>Black-box design: equivalence classes + boundary values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274320" y="1055370"/>
            <a:ext cx="1714500" cy="1066800"/>
          </a:xfrm>
          <a:prstGeom prst="roundRect">
            <a:avLst>
              <a:gd name="adj" fmla="val 7143"/>
            </a:avLst>
          </a:prstGeom>
          <a:solidFill>
            <a:srgbClr val="183A59"/>
          </a:solidFill>
          <a:ln w="11430">
            <a:solidFill>
              <a:srgbClr val="183A59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45770" y="1226820"/>
            <a:ext cx="1371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24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26720" y="168402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signup test cases</a:t>
            </a:r>
            <a:endParaRPr sz="97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179320" y="1055370"/>
            <a:ext cx="1714500" cy="1066800"/>
          </a:xfrm>
          <a:prstGeom prst="roundRect">
            <a:avLst>
              <a:gd name="adj" fmla="val 7143"/>
            </a:avLst>
          </a:prstGeom>
          <a:solidFill>
            <a:srgbClr val="0E7C7B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350770" y="1226820"/>
            <a:ext cx="1371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14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331720" y="168402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equivalence representatives</a:t>
            </a:r>
            <a:endParaRPr sz="97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084320" y="1055370"/>
            <a:ext cx="1714500" cy="1066800"/>
          </a:xfrm>
          <a:prstGeom prst="roundRect">
            <a:avLst>
              <a:gd name="adj" fmla="val 7143"/>
            </a:avLst>
          </a:prstGeom>
          <a:solidFill>
            <a:srgbClr val="F2A541"/>
          </a:solidFill>
          <a:ln w="11430">
            <a:solidFill>
              <a:srgbClr val="F2A54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255770" y="1226820"/>
            <a:ext cx="1371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236720" y="168402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 boundary representatives</a:t>
            </a:r>
            <a:endParaRPr sz="97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122670" y="1188720"/>
            <a:ext cx="476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Single-fault assumption: one invalid condition is changed from a valid baseline while the other fields stay valid.</a:t>
            </a:r>
            <a:endParaRPr sz="13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74320" y="2598420"/>
            <a:ext cx="1428750" cy="428625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703070" y="2598420"/>
            <a:ext cx="3381375" cy="428625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 classes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084445" y="2598420"/>
            <a:ext cx="5810250" cy="428625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Invalid classes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74320" y="3027045"/>
            <a:ext cx="142875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Username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703070" y="3027045"/>
            <a:ext cx="3381375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ASCII, length 4-25, unique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084445" y="3027045"/>
            <a:ext cx="581025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empty; &lt;4; &gt;25; non-ASCII; duplicate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74320" y="3455670"/>
            <a:ext cx="1428750" cy="428625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Email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703070" y="3455670"/>
            <a:ext cx="3381375" cy="428625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 format, length 6-50, unique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084445" y="3455670"/>
            <a:ext cx="5810250" cy="428625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empty; bad format; &lt;6; &gt;50; duplicate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74320" y="3884295"/>
            <a:ext cx="142875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Password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703070" y="3884295"/>
            <a:ext cx="3381375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length &gt;= 8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084445" y="3884295"/>
            <a:ext cx="581025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empty; length &lt; 8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74320" y="4312920"/>
            <a:ext cx="1428750" cy="428625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Confirm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703070" y="4312920"/>
            <a:ext cx="3381375" cy="428625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same as password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084445" y="4312920"/>
            <a:ext cx="5810250" cy="428625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different from password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74320" y="2598420"/>
            <a:ext cx="10620375" cy="2143125"/>
          </a:xfrm>
          <a:prstGeom prst="rect">
            <a:avLst/>
          </a:prstGeom>
          <a:noFill/>
          <a:ln w="11430">
            <a:solidFill>
              <a:srgbClr val="D6DEE6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274320" y="4998720"/>
            <a:ext cx="2095500" cy="30480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Field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369820" y="4998720"/>
            <a:ext cx="1970405" cy="30480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Boundary values used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74320" y="5303520"/>
            <a:ext cx="209550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Username length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2369820" y="5303520"/>
            <a:ext cx="1970405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3, 4, 5, 20, 24, 25, 26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74320" y="5608320"/>
            <a:ext cx="2095500" cy="30480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Email length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369820" y="5608320"/>
            <a:ext cx="1970405" cy="30480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5, 6, 7, 28, 49, 50, 51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274320" y="5913120"/>
            <a:ext cx="209550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Password length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2369820" y="5913120"/>
            <a:ext cx="1970405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7, 8, 9, 15</a:t>
            </a:r>
            <a:endParaRPr sz="90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74320" y="4998720"/>
            <a:ext cx="4065905" cy="1219200"/>
          </a:xfrm>
          <a:prstGeom prst="rect">
            <a:avLst/>
          </a:prstGeom>
          <a:noFill/>
          <a:ln w="11430">
            <a:solidFill>
              <a:srgbClr val="D6DEE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146685" y="257175"/>
            <a:ext cx="6402070" cy="582930"/>
          </a:xfrm>
        </p:spPr>
        <p:txBody>
          <a:bodyPr/>
          <a:lstStyle/>
          <a:p>
            <a:pPr algn="l"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00">
                <a:solidFill>
                  <a:srgbClr val="17202A"/>
                </a:solidFill>
                <a:latin typeface="Aptos"/>
                <a:ea typeface="Aptos"/>
                <a:cs typeface="Aptos"/>
                <a:sym typeface="+mn-ea"/>
              </a:rPr>
              <a:t>All failed signup cases and observed results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421005" y="1124585"/>
            <a:ext cx="1524000" cy="1066800"/>
          </a:xfrm>
          <a:prstGeom prst="roundRect">
            <a:avLst>
              <a:gd name="adj" fmla="val 7143"/>
            </a:avLst>
          </a:prstGeom>
          <a:solidFill>
            <a:srgbClr val="2E8B57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92455" y="1296035"/>
            <a:ext cx="1181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17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3405" y="1753235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passed</a:t>
            </a:r>
            <a:endParaRPr sz="97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135505" y="1124585"/>
            <a:ext cx="1524000" cy="1066800"/>
          </a:xfrm>
          <a:prstGeom prst="roundRect">
            <a:avLst>
              <a:gd name="adj" fmla="val 7143"/>
            </a:avLst>
          </a:prstGeom>
          <a:solidFill>
            <a:srgbClr val="C0392B"/>
          </a:solidFill>
          <a:ln w="11430">
            <a:solidFill>
              <a:srgbClr val="C0392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306955" y="1296035"/>
            <a:ext cx="1181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87905" y="1753235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failed</a:t>
            </a:r>
            <a:endParaRPr sz="97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850005" y="1124585"/>
            <a:ext cx="1524000" cy="1066800"/>
          </a:xfrm>
          <a:prstGeom prst="roundRect">
            <a:avLst>
              <a:gd name="adj" fmla="val 7143"/>
            </a:avLst>
          </a:prstGeom>
          <a:solidFill>
            <a:srgbClr val="5D6D7E"/>
          </a:solidFill>
          <a:ln w="11430">
            <a:solidFill>
              <a:srgbClr val="5D6D7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021455" y="1296035"/>
            <a:ext cx="1181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02405" y="1753235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errors</a:t>
            </a:r>
            <a:endParaRPr sz="97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24245" y="1196975"/>
            <a:ext cx="268033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 rate: 70.8%</a:t>
            </a:r>
            <a:endParaRPr sz="2250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64250" y="161607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Signup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064250" y="1825625"/>
            <a:ext cx="4381500" cy="209550"/>
          </a:xfrm>
          <a:prstGeom prst="roundRect">
            <a:avLst>
              <a:gd name="adj" fmla="val 50000"/>
            </a:avLst>
          </a:prstGeom>
          <a:solidFill>
            <a:srgbClr val="EAEFF5"/>
          </a:solidFill>
          <a:ln w="11430">
            <a:solidFill>
              <a:srgbClr val="EAEFF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064250" y="1825625"/>
            <a:ext cx="3103563" cy="209550"/>
          </a:xfrm>
          <a:prstGeom prst="rect">
            <a:avLst/>
          </a:prstGeom>
          <a:solidFill>
            <a:srgbClr val="2E8B57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67813" y="1825625"/>
            <a:ext cx="1277938" cy="209550"/>
          </a:xfrm>
          <a:prstGeom prst="rect">
            <a:avLst/>
          </a:prstGeom>
          <a:solidFill>
            <a:srgbClr val="C0392B"/>
          </a:solidFill>
          <a:ln w="11430">
            <a:solidFill>
              <a:srgbClr val="C0392B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064250" y="206121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17/24 passed</a:t>
            </a:r>
            <a:endParaRPr sz="975" b="0">
              <a:solidFill>
                <a:srgbClr val="5D6D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21005" y="2934335"/>
            <a:ext cx="857250" cy="33000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278255" y="2934335"/>
            <a:ext cx="2476500" cy="33000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Focus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754755" y="2934335"/>
            <a:ext cx="2857500" cy="33000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12255" y="2934335"/>
            <a:ext cx="1428750" cy="33000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Actual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21005" y="3294335"/>
            <a:ext cx="857250" cy="33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BB-03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278255" y="3294335"/>
            <a:ext cx="2476500" cy="33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username length 3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754755" y="3294335"/>
            <a:ext cx="2857500" cy="33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reject + no insert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12255" y="3294335"/>
            <a:ext cx="1428750" cy="33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inserted user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21005" y="3624335"/>
            <a:ext cx="857250" cy="33000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BB-04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278255" y="3624335"/>
            <a:ext cx="2476500" cy="33000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username length 26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754755" y="3624335"/>
            <a:ext cx="2857500" cy="33000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reject + no insert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12255" y="3624335"/>
            <a:ext cx="1428750" cy="33000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inserted user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21005" y="3954335"/>
            <a:ext cx="857250" cy="33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BB-08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278255" y="3954335"/>
            <a:ext cx="2476500" cy="33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invalid email format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754755" y="3954335"/>
            <a:ext cx="2857500" cy="33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reject + no insert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612255" y="3954335"/>
            <a:ext cx="1428750" cy="33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inserted user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21005" y="4284335"/>
            <a:ext cx="857250" cy="33000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BB-09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278255" y="4284335"/>
            <a:ext cx="2476500" cy="33000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email length 5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754755" y="4284335"/>
            <a:ext cx="2857500" cy="33000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reject + no insert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612255" y="4284335"/>
            <a:ext cx="1428750" cy="33000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inserted user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21005" y="4614335"/>
            <a:ext cx="857250" cy="33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BB-10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278255" y="4614335"/>
            <a:ext cx="2476500" cy="33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email length 51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754755" y="4614335"/>
            <a:ext cx="2857500" cy="33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reject + no insert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612255" y="4614335"/>
            <a:ext cx="1428750" cy="33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inserted user</a:t>
            </a:r>
            <a:endParaRPr sz="865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421005" y="2934335"/>
            <a:ext cx="7620000" cy="2400300"/>
          </a:xfrm>
          <a:prstGeom prst="rect">
            <a:avLst/>
          </a:prstGeom>
          <a:noFill/>
          <a:ln w="11430">
            <a:solidFill>
              <a:srgbClr val="D6DEE6"/>
            </a:solidFill>
            <a:prstDash val="solid"/>
          </a:ln>
        </p:spPr>
      </p:sp>
      <p:sp>
        <p:nvSpPr>
          <p:cNvPr id="51" name="圆角矩形 50"/>
          <p:cNvSpPr>
            <a:spLocks noGrp="1"/>
          </p:cNvSpPr>
          <p:nvPr/>
        </p:nvSpPr>
        <p:spPr>
          <a:xfrm>
            <a:off x="8707755" y="2934335"/>
            <a:ext cx="27813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8707755" y="2934335"/>
            <a:ext cx="76200" cy="2000250"/>
          </a:xfrm>
          <a:prstGeom prst="rect">
            <a:avLst/>
          </a:prstGeom>
          <a:solidFill>
            <a:srgbClr val="0E7C7B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8917305" y="3105785"/>
            <a:ext cx="2400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 asserted</a:t>
            </a:r>
            <a:endParaRPr sz="1350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8917305" y="3448685"/>
            <a:ext cx="24003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response.status_code</a:t>
            </a:r>
            <a:endParaRPr sz="1050" b="0">
              <a:solidFill>
                <a:srgbClr val="5D6D7E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user count in isolated users DB</a:t>
            </a:r>
            <a:endParaRPr sz="1050" b="0">
              <a:solidFill>
                <a:srgbClr val="5D6D7E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redirect after accepted signup</a:t>
            </a:r>
            <a:endParaRPr sz="1050" b="0">
              <a:solidFill>
                <a:srgbClr val="5D6D7E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failed assertions as defect evidence</a:t>
            </a:r>
            <a:endParaRPr sz="1050" b="0">
              <a:solidFill>
                <a:srgbClr val="5D6D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5" name="failed-case-cell-55"/>
          <p:cNvSpPr>
            <a:spLocks noGrp="1"/>
          </p:cNvSpPr>
          <p:nvPr/>
        </p:nvSpPr>
        <p:spPr>
          <a:xfrm>
            <a:off x="421005" y="4944335"/>
            <a:ext cx="857250" cy="33000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BB-12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6" name="failed-case-cell-56"/>
          <p:cNvSpPr>
            <a:spLocks noGrp="1"/>
          </p:cNvSpPr>
          <p:nvPr/>
        </p:nvSpPr>
        <p:spPr>
          <a:xfrm>
            <a:off x="1278255" y="4944335"/>
            <a:ext cx="2476500" cy="33000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empty password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7" name="failed-case-cell-57"/>
          <p:cNvSpPr>
            <a:spLocks noGrp="1"/>
          </p:cNvSpPr>
          <p:nvPr/>
        </p:nvSpPr>
        <p:spPr>
          <a:xfrm>
            <a:off x="3754755" y="4944335"/>
            <a:ext cx="2857500" cy="33000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reject + no insert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8" name="failed-case-cell-58"/>
          <p:cNvSpPr>
            <a:spLocks noGrp="1"/>
          </p:cNvSpPr>
          <p:nvPr/>
        </p:nvSpPr>
        <p:spPr>
          <a:xfrm>
            <a:off x="6612255" y="4944335"/>
            <a:ext cx="1428750" cy="33000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inserted user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9" name="failed-case-cell-59"/>
          <p:cNvSpPr>
            <a:spLocks noGrp="1"/>
          </p:cNvSpPr>
          <p:nvPr/>
        </p:nvSpPr>
        <p:spPr>
          <a:xfrm>
            <a:off x="421005" y="5274335"/>
            <a:ext cx="857250" cy="33000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BB-13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0" name="failed-case-cell-60"/>
          <p:cNvSpPr>
            <a:spLocks noGrp="1"/>
          </p:cNvSpPr>
          <p:nvPr/>
        </p:nvSpPr>
        <p:spPr>
          <a:xfrm>
            <a:off x="1278255" y="5274335"/>
            <a:ext cx="2476500" cy="33000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password length 7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1" name="failed-case-cell-61"/>
          <p:cNvSpPr>
            <a:spLocks noGrp="1"/>
          </p:cNvSpPr>
          <p:nvPr/>
        </p:nvSpPr>
        <p:spPr>
          <a:xfrm>
            <a:off x="3754755" y="5274335"/>
            <a:ext cx="2857500" cy="33000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reject + no insert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2" name="failed-case-cell-62"/>
          <p:cNvSpPr>
            <a:spLocks noGrp="1"/>
          </p:cNvSpPr>
          <p:nvPr/>
        </p:nvSpPr>
        <p:spPr>
          <a:xfrm>
            <a:off x="6612255" y="5274335"/>
            <a:ext cx="1428750" cy="33000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inserted user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146685" y="257175"/>
            <a:ext cx="7447915" cy="582930"/>
          </a:xfrm>
        </p:spPr>
        <p:txBody>
          <a:bodyPr/>
          <a:lstStyle/>
          <a:p>
            <a:pPr algn="l"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00">
                <a:sym typeface="+mn-ea"/>
              </a:rPr>
              <a:t>Invalid input was inserted into the users database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272415" y="1216025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FDEDEC"/>
          </a:solidFill>
          <a:ln w="11430">
            <a:solidFill>
              <a:srgbClr val="FDEDEC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C039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392B"/>
                </a:solidFill>
                <a:latin typeface="Aptos"/>
                <a:ea typeface="Aptos"/>
                <a:cs typeface="Aptos"/>
              </a:rPr>
              <a:t>D-BB-01</a:t>
            </a:r>
            <a:endParaRPr sz="900" b="1">
              <a:solidFill>
                <a:srgbClr val="C039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415415" y="1196975"/>
            <a:ext cx="704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Signup backend does not enforce WTForms validation</a:t>
            </a:r>
            <a:endParaRPr sz="18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81965" y="2282825"/>
            <a:ext cx="2190750" cy="781050"/>
          </a:xfrm>
          <a:prstGeom prst="roundRect">
            <a:avLst>
              <a:gd name="adj" fmla="val 9756"/>
            </a:avLst>
          </a:prstGeom>
          <a:solidFill>
            <a:srgbClr val="FDEDEC"/>
          </a:solidFill>
          <a:ln w="11430">
            <a:solidFill>
              <a:srgbClr val="C0392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Invalid input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short username / bad email / empty password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3434715" y="2282825"/>
            <a:ext cx="21907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Route creates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SignUpForm(request.form)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387465" y="2282825"/>
            <a:ext cx="1809750" cy="781050"/>
          </a:xfrm>
          <a:prstGeom prst="roundRect">
            <a:avLst>
              <a:gd name="adj" fmla="val 9756"/>
            </a:avLst>
          </a:prstGeom>
          <a:solidFill>
            <a:srgbClr val="FFF5E1"/>
          </a:solidFill>
          <a:ln w="11430">
            <a:solidFill>
              <a:srgbClr val="F2A541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form.validate()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not called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9054465" y="2282825"/>
            <a:ext cx="2095500" cy="781050"/>
          </a:xfrm>
          <a:prstGeom prst="roundRect">
            <a:avLst>
              <a:gd name="adj" fmla="val 9756"/>
            </a:avLst>
          </a:prstGeom>
          <a:solidFill>
            <a:srgbClr val="FDEDEC"/>
          </a:solidFill>
          <a:ln w="11430">
            <a:solidFill>
              <a:srgbClr val="C0392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INSERT executes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user count becomes 1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2672715" y="2673350"/>
            <a:ext cx="76200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5625465" y="2673350"/>
            <a:ext cx="76200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8197215" y="2673350"/>
            <a:ext cx="85725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58" name="圆角矩形 57"/>
          <p:cNvSpPr>
            <a:spLocks noGrp="1"/>
          </p:cNvSpPr>
          <p:nvPr/>
        </p:nvSpPr>
        <p:spPr>
          <a:xfrm>
            <a:off x="481965" y="3940175"/>
            <a:ext cx="31432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481965" y="3940175"/>
            <a:ext cx="76200" cy="1390650"/>
          </a:xfrm>
          <a:prstGeom prst="rect">
            <a:avLst/>
          </a:prstGeom>
          <a:solidFill>
            <a:srgbClr val="C0392B"/>
          </a:solidFill>
          <a:ln w="11430">
            <a:solidFill>
              <a:srgbClr val="C0392B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691515" y="4111625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Observed evidence</a:t>
            </a:r>
            <a:endParaRPr sz="1350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691515" y="4454525"/>
            <a:ext cx="2762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Seven negative signup cases expected no insertion, but DB assertions found one inserted user. Examples: BB-03, BB-04, BB-08, BB-09, BB-10, BB-12, BB-13.</a:t>
            </a:r>
            <a:endParaRPr sz="1050" b="0">
              <a:solidFill>
                <a:srgbClr val="5D6D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4291965" y="3940175"/>
            <a:ext cx="31432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4291965" y="3940175"/>
            <a:ext cx="76200" cy="1390650"/>
          </a:xfrm>
          <a:prstGeom prst="rect">
            <a:avLst/>
          </a:prstGeom>
          <a:solidFill>
            <a:srgbClr val="F2A541"/>
          </a:solidFill>
          <a:ln w="11430">
            <a:solidFill>
              <a:srgbClr val="F2A541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4501515" y="4111625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Root cause</a:t>
            </a:r>
            <a:endParaRPr sz="1350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4501515" y="4454525"/>
            <a:ext cx="2762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WTForms validation rules exist in SignUpForm.py, but route-level processing does not consistently apply them before database insertion.</a:t>
            </a:r>
            <a:endParaRPr sz="1050" b="0">
              <a:solidFill>
                <a:srgbClr val="5D6D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8101965" y="3940175"/>
            <a:ext cx="31432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8101965" y="3940175"/>
            <a:ext cx="76200" cy="1390650"/>
          </a:xfrm>
          <a:prstGeom prst="rect">
            <a:avLst/>
          </a:prstGeom>
          <a:solidFill>
            <a:srgbClr val="2E8B57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8311515" y="4111625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Improvement</a:t>
            </a:r>
            <a:endParaRPr sz="1350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8311515" y="4454525"/>
            <a:ext cx="276923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Call form.validate() before inserting. Return the signup page and keep the users table unchanged when validation fails.</a:t>
            </a:r>
            <a:endParaRPr sz="1050" b="0">
              <a:solidFill>
                <a:srgbClr val="5D6D7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146685" y="257175"/>
            <a:ext cx="7447915" cy="582930"/>
          </a:xfrm>
        </p:spPr>
        <p:txBody>
          <a:bodyPr/>
          <a:lstStyle/>
          <a:p>
            <a:pPr algn="l"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00">
                <a:sym typeface="+mn-ea"/>
              </a:rPr>
              <a:t>White-box design from post.py decision flow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91135" y="1072515"/>
            <a:ext cx="1019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The route is tested by feasible path coverage, because several decisions return immediately and cannot be combined into one request.</a:t>
            </a:r>
            <a:endParaRPr sz="1275" b="0">
              <a:solidFill>
                <a:srgbClr val="5D6D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362585" y="1882140"/>
            <a:ext cx="15240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0E7C7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GET/POST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/post/&lt;urlID&gt;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419985" y="188214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0E7C7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query posts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by urlID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382135" y="1834515"/>
            <a:ext cx="1333500" cy="704850"/>
          </a:xfrm>
          <a:prstGeom prst="roundRect">
            <a:avLst>
              <a:gd name="adj" fmla="val 10811"/>
            </a:avLst>
          </a:prstGeom>
          <a:solidFill>
            <a:srgbClr val="E9F7F5"/>
          </a:solidFill>
          <a:ln w="11430">
            <a:solidFill>
              <a:srgbClr val="0E7C7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 exists?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382135" y="312039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FDEDEC"/>
          </a:solidFill>
          <a:ln w="11430">
            <a:solidFill>
              <a:srgbClr val="C0392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not-found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path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363335" y="1834515"/>
            <a:ext cx="1428750" cy="704850"/>
          </a:xfrm>
          <a:prstGeom prst="roundRect">
            <a:avLst>
              <a:gd name="adj" fmla="val 10811"/>
            </a:avLst>
          </a:prstGeom>
          <a:solidFill>
            <a:srgbClr val="E9F7F5"/>
          </a:solidFill>
          <a:ln w="11430">
            <a:solidFill>
              <a:srgbClr val="0E7C7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slug correct?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363335" y="3120390"/>
            <a:ext cx="1524000" cy="609600"/>
          </a:xfrm>
          <a:prstGeom prst="roundRect">
            <a:avLst>
              <a:gd name="adj" fmla="val 12500"/>
            </a:avLst>
          </a:prstGeom>
          <a:solidFill>
            <a:srgbClr val="EEF5FF"/>
          </a:solidFill>
          <a:ln w="11430">
            <a:solidFill>
              <a:srgbClr val="183A59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redirect to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canonical slug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477885" y="188214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0E7C7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load post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+ views++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477885" y="304419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E9F7F5"/>
          </a:solidFill>
          <a:ln w="11430">
            <a:solidFill>
              <a:srgbClr val="0E7C7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request method?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572885" y="4453890"/>
            <a:ext cx="1619250" cy="666750"/>
          </a:xfrm>
          <a:prstGeom prst="roundRect">
            <a:avLst>
              <a:gd name="adj" fmla="val 11429"/>
            </a:avLst>
          </a:prstGeom>
          <a:solidFill>
            <a:srgbClr val="FFF5E1"/>
          </a:solidFill>
          <a:ln w="11430">
            <a:solidFill>
              <a:srgbClr val="F2A541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 action: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delete / comment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73210" y="4453890"/>
            <a:ext cx="1762125" cy="666750"/>
          </a:xfrm>
          <a:prstGeom prst="roundRect">
            <a:avLst>
              <a:gd name="adj" fmla="val 11429"/>
            </a:avLst>
          </a:prstGeom>
          <a:solidFill>
            <a:srgbClr val="EAF7EF"/>
          </a:solidFill>
          <a:ln w="11430">
            <a:solidFill>
              <a:srgbClr val="2E8B57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GET path: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comments + analytics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839335" y="5368290"/>
            <a:ext cx="1714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0E7C7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render post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or redirect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1886585" y="2186940"/>
            <a:ext cx="5334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3848735" y="2186940"/>
            <a:ext cx="5334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5715635" y="2186940"/>
            <a:ext cx="6477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5029835" y="2539365"/>
            <a:ext cx="0" cy="581025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7792085" y="2186940"/>
            <a:ext cx="6858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7077710" y="2539365"/>
            <a:ext cx="0" cy="581025"/>
          </a:xfrm>
          <a:prstGeom prst="line">
            <a:avLst/>
          </a:prstGeom>
          <a:noFill/>
          <a:ln w="19050">
            <a:solidFill>
              <a:srgbClr val="183A59"/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9192260" y="2491740"/>
            <a:ext cx="0" cy="55245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7382510" y="3634740"/>
            <a:ext cx="1095375" cy="81915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9906635" y="3634740"/>
            <a:ext cx="152400" cy="819150"/>
          </a:xfrm>
          <a:prstGeom prst="line">
            <a:avLst/>
          </a:prstGeom>
          <a:noFill/>
          <a:ln w="19050">
            <a:solidFill>
              <a:srgbClr val="2E8B57"/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6553835" y="5120640"/>
            <a:ext cx="828675" cy="47625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6553835" y="5120640"/>
            <a:ext cx="3505200" cy="47625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4505960" y="4004945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FDEDEC"/>
          </a:solidFill>
          <a:ln w="11430">
            <a:solidFill>
              <a:srgbClr val="FDEDEC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C039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392B"/>
                </a:solidFill>
                <a:latin typeface="Aptos"/>
                <a:ea typeface="Aptos"/>
                <a:cs typeface="Aptos"/>
              </a:rPr>
              <a:t>WB-Post-01</a:t>
            </a:r>
            <a:endParaRPr sz="900" b="1">
              <a:solidFill>
                <a:srgbClr val="C039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6601460" y="4004945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 w="11430">
            <a:solidFill>
              <a:srgbClr val="EEF5FF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83A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3A59"/>
                </a:solidFill>
                <a:latin typeface="Aptos"/>
                <a:ea typeface="Aptos"/>
                <a:cs typeface="Aptos"/>
              </a:rPr>
              <a:t>WB-Post-02</a:t>
            </a:r>
            <a:endParaRPr sz="900" b="1">
              <a:solidFill>
                <a:srgbClr val="183A5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9982835" y="388239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EAF7EF"/>
          </a:solidFill>
          <a:ln w="11430">
            <a:solidFill>
              <a:srgbClr val="EAF7EF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WB-Post-03-10</a:t>
            </a:r>
            <a:endParaRPr sz="900" b="1">
              <a:solidFill>
                <a:srgbClr val="2E8B5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146685" y="257175"/>
            <a:ext cx="7447915" cy="582930"/>
          </a:xfrm>
        </p:spPr>
        <p:txBody>
          <a:bodyPr/>
          <a:lstStyle/>
          <a:p>
            <a:pPr algn="l"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00">
                <a:sym typeface="+mn-ea"/>
              </a:rPr>
              <a:t>Representative white-box cases and test outcomes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506730" y="1143000"/>
            <a:ext cx="1524000" cy="1066800"/>
          </a:xfrm>
          <a:prstGeom prst="roundRect">
            <a:avLst>
              <a:gd name="adj" fmla="val 7143"/>
            </a:avLst>
          </a:prstGeom>
          <a:solidFill>
            <a:srgbClr val="183A59"/>
          </a:solidFill>
          <a:ln w="11430">
            <a:solidFill>
              <a:srgbClr val="183A59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78180" y="1314450"/>
            <a:ext cx="1181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9130" y="177165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 test cases</a:t>
            </a:r>
            <a:endParaRPr sz="97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2221230" y="1143000"/>
            <a:ext cx="1524000" cy="1066800"/>
          </a:xfrm>
          <a:prstGeom prst="roundRect">
            <a:avLst>
              <a:gd name="adj" fmla="val 7143"/>
            </a:avLst>
          </a:prstGeom>
          <a:solidFill>
            <a:srgbClr val="2E8B57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392680" y="1314450"/>
            <a:ext cx="1181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373630" y="177165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passed</a:t>
            </a:r>
            <a:endParaRPr sz="97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3935730" y="1143000"/>
            <a:ext cx="1524000" cy="1066800"/>
          </a:xfrm>
          <a:prstGeom prst="roundRect">
            <a:avLst>
              <a:gd name="adj" fmla="val 7143"/>
            </a:avLst>
          </a:prstGeom>
          <a:solidFill>
            <a:srgbClr val="F2A541"/>
          </a:solidFill>
          <a:ln w="11430">
            <a:solidFill>
              <a:srgbClr val="F2A541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107180" y="1314450"/>
            <a:ext cx="1181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088130" y="177165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errors</a:t>
            </a:r>
            <a:endParaRPr sz="97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384290" y="1143000"/>
            <a:ext cx="278193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 rate: 80.0%</a:t>
            </a:r>
            <a:endParaRPr sz="2250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456045" y="155702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6511925" y="1772920"/>
            <a:ext cx="4381500" cy="209550"/>
          </a:xfrm>
          <a:prstGeom prst="roundRect">
            <a:avLst>
              <a:gd name="adj" fmla="val 50000"/>
            </a:avLst>
          </a:prstGeom>
          <a:solidFill>
            <a:srgbClr val="EAEFF5"/>
          </a:solidFill>
          <a:ln w="11430">
            <a:solidFill>
              <a:srgbClr val="EAEFF5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511925" y="1771650"/>
            <a:ext cx="3505200" cy="209550"/>
          </a:xfrm>
          <a:prstGeom prst="rect">
            <a:avLst/>
          </a:prstGeom>
          <a:solidFill>
            <a:srgbClr val="2E8B57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0017125" y="1771650"/>
            <a:ext cx="876300" cy="209550"/>
          </a:xfrm>
          <a:prstGeom prst="rect">
            <a:avLst/>
          </a:prstGeom>
          <a:solidFill>
            <a:srgbClr val="F2A541"/>
          </a:solidFill>
          <a:ln w="11430">
            <a:solidFill>
              <a:srgbClr val="F2A541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506730" y="2933700"/>
            <a:ext cx="1143000" cy="32385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649730" y="2933700"/>
            <a:ext cx="2762250" cy="32385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Covered path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411980" y="2933700"/>
            <a:ext cx="3952875" cy="32385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 evidence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364855" y="2933700"/>
            <a:ext cx="2762250" cy="32385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506730" y="3257550"/>
            <a:ext cx="1143000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WB-Post-01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649730" y="3257550"/>
            <a:ext cx="2762250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missing post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4411980" y="3257550"/>
            <a:ext cx="3952875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notFound branch returns safely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364855" y="3257550"/>
            <a:ext cx="2762250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error: TypeError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506730" y="3581400"/>
            <a:ext cx="1143000" cy="3238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WB-Post-02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649730" y="3581400"/>
            <a:ext cx="2762250" cy="3238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missing/wrong slug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4411980" y="3581400"/>
            <a:ext cx="3952875" cy="3238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302 to canonical URL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364855" y="3581400"/>
            <a:ext cx="2762250" cy="3238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06730" y="3905250"/>
            <a:ext cx="1143000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WB-Post-03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1649730" y="3905250"/>
            <a:ext cx="2762250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 GET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4411980" y="3905250"/>
            <a:ext cx="3952875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 page + views increment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8364855" y="3905250"/>
            <a:ext cx="2762250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506730" y="4229100"/>
            <a:ext cx="1143000" cy="3238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WB-Post-06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1649730" y="4229100"/>
            <a:ext cx="2762250" cy="3238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logged-in comment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4411980" y="4229100"/>
            <a:ext cx="3952875" cy="3238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comment row inserted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8364855" y="4229100"/>
            <a:ext cx="2762250" cy="3238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506730" y="4552950"/>
            <a:ext cx="1143000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WB-Post-07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1649730" y="4552950"/>
            <a:ext cx="2762250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anonymous comment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4411980" y="4552950"/>
            <a:ext cx="3952875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safe rejection; no insert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8364855" y="4552950"/>
            <a:ext cx="2762250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error: KeyError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506730" y="4876800"/>
            <a:ext cx="1143000" cy="3238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WB-Post-08/09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1649730" y="4876800"/>
            <a:ext cx="2762250" cy="3238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analytics success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4411980" y="4876800"/>
            <a:ext cx="3952875" cy="3238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analytics row inserted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8364855" y="4876800"/>
            <a:ext cx="2762250" cy="3238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506730" y="5200650"/>
            <a:ext cx="1143000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WB-Post-10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1649730" y="5200650"/>
            <a:ext cx="2762250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analytics failure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4411980" y="5200650"/>
            <a:ext cx="3952875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page still returns; no row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8364855" y="5200650"/>
            <a:ext cx="2762250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</a:t>
            </a:r>
            <a:endParaRPr sz="81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506730" y="2933700"/>
            <a:ext cx="10620375" cy="2590800"/>
          </a:xfrm>
          <a:prstGeom prst="rect">
            <a:avLst/>
          </a:prstGeom>
          <a:noFill/>
          <a:ln w="11430">
            <a:solidFill>
              <a:srgbClr val="D6DEE6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6456045" y="2063115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8/10 passed</a:t>
            </a:r>
            <a:endParaRPr sz="975" b="0">
              <a:solidFill>
                <a:srgbClr val="5D6D7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335280" y="260985"/>
            <a:ext cx="7447915" cy="582930"/>
          </a:xfrm>
        </p:spPr>
        <p:txBody>
          <a:bodyPr/>
          <a:lstStyle/>
          <a:p>
            <a:pPr algn="l"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00">
                <a:sym typeface="+mn-ea"/>
              </a:rPr>
              <a:t>Unsafe optional data is used before guard checks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29895" y="1409700"/>
            <a:ext cx="1009650" cy="285750"/>
          </a:xfrm>
          <a:prstGeom prst="roundRect">
            <a:avLst>
              <a:gd name="adj" fmla="val 50000"/>
            </a:avLst>
          </a:prstGeom>
          <a:solidFill>
            <a:srgbClr val="FDEDEC"/>
          </a:solidFill>
          <a:ln w="11430">
            <a:solidFill>
              <a:srgbClr val="FDEDEC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C039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392B"/>
                </a:solidFill>
                <a:latin typeface="Aptos"/>
                <a:ea typeface="Aptos"/>
                <a:cs typeface="Aptos"/>
              </a:rPr>
              <a:t>D-WB-02</a:t>
            </a:r>
            <a:endParaRPr sz="900" b="1">
              <a:solidFill>
                <a:srgbClr val="C039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240145" y="1409700"/>
            <a:ext cx="1009650" cy="285750"/>
          </a:xfrm>
          <a:prstGeom prst="roundRect">
            <a:avLst>
              <a:gd name="adj" fmla="val 50000"/>
            </a:avLst>
          </a:prstGeom>
          <a:solidFill>
            <a:srgbClr val="FDEDEC"/>
          </a:solidFill>
          <a:ln w="11430">
            <a:solidFill>
              <a:srgbClr val="FDEDEC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C039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392B"/>
                </a:solidFill>
                <a:latin typeface="Aptos"/>
                <a:ea typeface="Aptos"/>
                <a:cs typeface="Aptos"/>
              </a:rPr>
              <a:t>D-WB-03</a:t>
            </a:r>
            <a:endParaRPr sz="900" b="1">
              <a:solidFill>
                <a:srgbClr val="C039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29895" y="18288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Missing post URL</a:t>
            </a:r>
            <a:endParaRPr sz="172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40145" y="18288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Anonymous comment submission</a:t>
            </a:r>
            <a:endParaRPr sz="172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07340" y="2552700"/>
            <a:ext cx="1714500" cy="723900"/>
          </a:xfrm>
          <a:prstGeom prst="roundRect">
            <a:avLst>
              <a:gd name="adj" fmla="val 10526"/>
            </a:avLst>
          </a:prstGeom>
          <a:solidFill>
            <a:srgbClr val="FDEDEC"/>
          </a:solidFill>
          <a:ln w="11430">
            <a:solidFill>
              <a:srgbClr val="C0392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cursor.fetchone()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returns None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2459990" y="2552700"/>
            <a:ext cx="1619250" cy="723900"/>
          </a:xfrm>
          <a:prstGeom prst="roundRect">
            <a:avLst>
              <a:gd name="adj" fmla="val 10526"/>
            </a:avLst>
          </a:prstGeom>
          <a:solidFill>
            <a:srgbClr val="FFF5E1"/>
          </a:solidFill>
          <a:ln w="11430">
            <a:solidFill>
              <a:srgbClr val="F2A541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str(urlID) in posts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517390" y="2552700"/>
            <a:ext cx="1619250" cy="723900"/>
          </a:xfrm>
          <a:prstGeom prst="roundRect">
            <a:avLst>
              <a:gd name="adj" fmla="val 10526"/>
            </a:avLst>
          </a:prstGeom>
          <a:solidFill>
            <a:srgbClr val="FDEDEC"/>
          </a:solidFill>
          <a:ln w="11430">
            <a:solidFill>
              <a:srgbClr val="C0392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TypeError before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notFound render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021840" y="2914650"/>
            <a:ext cx="43815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4079240" y="2914650"/>
            <a:ext cx="43815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6240145" y="2552700"/>
            <a:ext cx="1714500" cy="723900"/>
          </a:xfrm>
          <a:prstGeom prst="roundRect">
            <a:avLst>
              <a:gd name="adj" fmla="val 10526"/>
            </a:avLst>
          </a:prstGeom>
          <a:solidFill>
            <a:srgbClr val="FDEDEC"/>
          </a:solidFill>
          <a:ln w="11430">
            <a:solidFill>
              <a:srgbClr val="C0392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 comment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without login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392795" y="2552700"/>
            <a:ext cx="1809750" cy="723900"/>
          </a:xfrm>
          <a:prstGeom prst="roundRect">
            <a:avLst>
              <a:gd name="adj" fmla="val 10526"/>
            </a:avLst>
          </a:prstGeom>
          <a:solidFill>
            <a:srgbClr val="FFF5E1"/>
          </a:solidFill>
          <a:ln w="11430">
            <a:solidFill>
              <a:srgbClr val="F2A541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uses session["userName"]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0602595" y="2552700"/>
            <a:ext cx="1162050" cy="723900"/>
          </a:xfrm>
          <a:prstGeom prst="roundRect">
            <a:avLst>
              <a:gd name="adj" fmla="val 10526"/>
            </a:avLst>
          </a:prstGeom>
          <a:solidFill>
            <a:srgbClr val="FDEDEC"/>
          </a:solidFill>
          <a:ln w="11430">
            <a:solidFill>
              <a:srgbClr val="C0392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KeyError before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safe rejection</a:t>
            </a:r>
            <a:endParaRPr sz="9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7954645" y="2914650"/>
            <a:ext cx="43815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0202545" y="2914650"/>
            <a:ext cx="40005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429895" y="4076700"/>
            <a:ext cx="4953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29895" y="4076700"/>
            <a:ext cx="76200" cy="1333500"/>
          </a:xfrm>
          <a:prstGeom prst="rect">
            <a:avLst/>
          </a:prstGeom>
          <a:solidFill>
            <a:srgbClr val="2E8B57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39445" y="424815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Suggested improvement</a:t>
            </a:r>
            <a:endParaRPr sz="1350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39445" y="4591050"/>
            <a:ext cx="4572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Check `posts is None` before membership/slug logic. If no matching row exists, render the not-found page directly.</a:t>
            </a:r>
            <a:endParaRPr sz="1050" b="0">
              <a:solidFill>
                <a:srgbClr val="5D6D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240145" y="4076700"/>
            <a:ext cx="4953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240145" y="4076700"/>
            <a:ext cx="76200" cy="1333500"/>
          </a:xfrm>
          <a:prstGeom prst="rect">
            <a:avLst/>
          </a:prstGeom>
          <a:solidFill>
            <a:srgbClr val="2E8B57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449695" y="424815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Suggested improvement</a:t>
            </a:r>
            <a:endParaRPr sz="1350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449695" y="4591050"/>
            <a:ext cx="4572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Before inserting a comment, check whether `userName` exists in session. Redirect to login or reject safely without inserting a row.</a:t>
            </a:r>
            <a:endParaRPr sz="1050" b="0">
              <a:solidFill>
                <a:srgbClr val="5D6D7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335280" y="260985"/>
            <a:ext cx="7447915" cy="582930"/>
          </a:xfrm>
        </p:spPr>
        <p:txBody>
          <a:bodyPr/>
          <a:lstStyle/>
          <a:p>
            <a:pPr algn="l"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00">
                <a:sym typeface="+mn-ea"/>
              </a:rPr>
              <a:t>Unsafe optional data is used before guard checks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495300" y="1124585"/>
            <a:ext cx="1714500" cy="1066800"/>
          </a:xfrm>
          <a:prstGeom prst="roundRect">
            <a:avLst>
              <a:gd name="adj" fmla="val 7143"/>
            </a:avLst>
          </a:prstGeom>
          <a:solidFill>
            <a:srgbClr val="183A59"/>
          </a:solidFill>
          <a:ln w="11430">
            <a:solidFill>
              <a:srgbClr val="183A59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296035"/>
            <a:ext cx="1371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52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753235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total test cases</a:t>
            </a:r>
            <a:endParaRPr sz="97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2400300" y="1124585"/>
            <a:ext cx="1714500" cy="1066800"/>
          </a:xfrm>
          <a:prstGeom prst="roundRect">
            <a:avLst>
              <a:gd name="adj" fmla="val 7143"/>
            </a:avLst>
          </a:prstGeom>
          <a:solidFill>
            <a:srgbClr val="2E8B57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571750" y="1296035"/>
            <a:ext cx="1371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42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552700" y="1753235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passed</a:t>
            </a:r>
            <a:endParaRPr sz="97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305300" y="1124585"/>
            <a:ext cx="1714500" cy="1066800"/>
          </a:xfrm>
          <a:prstGeom prst="roundRect">
            <a:avLst>
              <a:gd name="adj" fmla="val 7143"/>
            </a:avLst>
          </a:prstGeom>
          <a:solidFill>
            <a:srgbClr val="C0392B"/>
          </a:solidFill>
          <a:ln w="11430">
            <a:solidFill>
              <a:srgbClr val="C0392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476750" y="1296035"/>
            <a:ext cx="1371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457700" y="1753235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failed</a:t>
            </a:r>
            <a:endParaRPr sz="97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210300" y="1124585"/>
            <a:ext cx="1714500" cy="1066800"/>
          </a:xfrm>
          <a:prstGeom prst="roundRect">
            <a:avLst>
              <a:gd name="adj" fmla="val 7143"/>
            </a:avLst>
          </a:prstGeom>
          <a:solidFill>
            <a:srgbClr val="F2A541"/>
          </a:solidFill>
          <a:ln w="11430">
            <a:solidFill>
              <a:srgbClr val="F2A541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381750" y="1296035"/>
            <a:ext cx="1371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362700" y="1753235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errors</a:t>
            </a:r>
            <a:endParaRPr sz="97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95300" y="2800985"/>
            <a:ext cx="1571625" cy="40005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Component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066925" y="2800985"/>
            <a:ext cx="1285875" cy="40005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Technique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3352800" y="2800985"/>
            <a:ext cx="762000" cy="40005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Cases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114800" y="2800985"/>
            <a:ext cx="762000" cy="40005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Passed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876800" y="2800985"/>
            <a:ext cx="762000" cy="40005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Failed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638800" y="2800985"/>
            <a:ext cx="762000" cy="40005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Errors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400800" y="2800985"/>
            <a:ext cx="4619625" cy="400050"/>
          </a:xfrm>
          <a:prstGeom prst="rect">
            <a:avLst/>
          </a:prstGeom>
          <a:solidFill>
            <a:srgbClr val="183A59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evidence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95300" y="3201035"/>
            <a:ext cx="1571625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Signup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066925" y="3201035"/>
            <a:ext cx="1285875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black-box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3352800" y="3201035"/>
            <a:ext cx="7620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24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4114800" y="3201035"/>
            <a:ext cx="7620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17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4876800" y="3201035"/>
            <a:ext cx="7620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638800" y="3201035"/>
            <a:ext cx="7620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400800" y="3201035"/>
            <a:ext cx="4619625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status codes, redirects, users DB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495300" y="3601085"/>
            <a:ext cx="1571625" cy="4000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Login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2066925" y="3601085"/>
            <a:ext cx="1285875" cy="4000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black-box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3352800" y="3601085"/>
            <a:ext cx="762000" cy="4000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14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4114800" y="3601085"/>
            <a:ext cx="762000" cy="4000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14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4876800" y="3601085"/>
            <a:ext cx="762000" cy="4000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638800" y="3601085"/>
            <a:ext cx="762000" cy="4000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6400800" y="3601085"/>
            <a:ext cx="4619625" cy="4000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status codes, Flask session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495300" y="4001135"/>
            <a:ext cx="1571625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CreatePost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2066925" y="4001135"/>
            <a:ext cx="1285875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white-box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3352800" y="4001135"/>
            <a:ext cx="7620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4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4114800" y="4001135"/>
            <a:ext cx="7620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4876800" y="4001135"/>
            <a:ext cx="7620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5638800" y="4001135"/>
            <a:ext cx="7620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6400800" y="4001135"/>
            <a:ext cx="4619625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redirects, posts DB, TypeError defect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495300" y="4401185"/>
            <a:ext cx="1571625" cy="4000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2066925" y="4401185"/>
            <a:ext cx="1285875" cy="4000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white-box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3352800" y="4401185"/>
            <a:ext cx="762000" cy="4000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10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4114800" y="4401185"/>
            <a:ext cx="762000" cy="4000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4876800" y="4401185"/>
            <a:ext cx="762000" cy="4000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5638800" y="4401185"/>
            <a:ext cx="762000" cy="4000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6400800" y="4401185"/>
            <a:ext cx="4619625" cy="400050"/>
          </a:xfrm>
          <a:prstGeom prst="rect">
            <a:avLst/>
          </a:prstGeom>
          <a:solidFill>
            <a:srgbClr val="F8FBFD"/>
          </a:solidFill>
          <a:ln w="11430">
            <a:solidFill>
              <a:srgbClr val="D6DEE6"/>
            </a:solidFill>
            <a:prstDash val="solid"/>
          </a:ln>
        </p:spPr>
        <p:txBody>
          <a:bodyPr/>
          <a:lstStyle/>
          <a:p>
            <a:pPr algn="l"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views/comments/analytics DB, error traces</a:t>
            </a:r>
            <a:endParaRPr sz="850" b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495300" y="2800985"/>
            <a:ext cx="10525125" cy="2000250"/>
          </a:xfrm>
          <a:prstGeom prst="rect">
            <a:avLst/>
          </a:prstGeom>
          <a:noFill/>
          <a:ln w="11430">
            <a:solidFill>
              <a:srgbClr val="D6DEE6"/>
            </a:solidFill>
            <a:prstDash val="solid"/>
          </a:ln>
        </p:spPr>
      </p:sp>
      <p:sp>
        <p:nvSpPr>
          <p:cNvPr id="73" name="圆角矩形 72"/>
          <p:cNvSpPr>
            <a:spLocks noGrp="1"/>
          </p:cNvSpPr>
          <p:nvPr/>
        </p:nvSpPr>
        <p:spPr>
          <a:xfrm>
            <a:off x="495300" y="5277485"/>
            <a:ext cx="108585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1430">
            <a:solidFill>
              <a:srgbClr val="D6DEE6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800100" y="544893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Main finding</a:t>
            </a:r>
            <a:endParaRPr sz="1275" b="1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2381250" y="5429885"/>
            <a:ext cx="847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165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Route-level tests exposed missing validation in signup and missing guard checks before database writes or session access in post/create-post workflows.</a:t>
            </a:r>
            <a:endParaRPr sz="1165" b="0">
              <a:solidFill>
                <a:srgbClr val="5D6D7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5892</Words>
  <Application>WPS 演示</Application>
  <PresentationFormat>Converted Presentation</PresentationFormat>
  <Paragraphs>496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 Light</vt:lpstr>
      <vt:lpstr>微软雅黑</vt:lpstr>
      <vt:lpstr>Times New Roman</vt:lpstr>
      <vt:lpstr>Aptos</vt:lpstr>
      <vt:lpstr>Segoe UI</vt:lpstr>
      <vt:lpstr>等线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WPS_1631405943</cp:lastModifiedBy>
  <cp:revision>20</cp:revision>
  <dcterms:created xsi:type="dcterms:W3CDTF">2026-06-16T03:16:00Z</dcterms:created>
  <dcterms:modified xsi:type="dcterms:W3CDTF">2026-06-16T05:14:30Z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9467C04FCB6D4A87A4382C41A0AE6D05_12</vt:lpwstr>
  </property>
  <property fmtid="{D5CDD505-2E9C-101B-9397-08002B2CF9AE}" pid="3" name="KSOProductBuildVer">
    <vt:lpwstr>2052-12.1.0.26375</vt:lpwstr>
  </property>
</Properties>
</file>